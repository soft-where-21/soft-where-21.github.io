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3" r:id="rId6"/>
    <p:sldId id="270" r:id="rId7"/>
    <p:sldId id="264" r:id="rId8"/>
    <p:sldId id="273" r:id="rId9"/>
    <p:sldId id="274" r:id="rId10"/>
    <p:sldId id="265" r:id="rId11"/>
    <p:sldId id="266" r:id="rId12"/>
    <p:sldId id="267" r:id="rId13"/>
    <p:sldId id="268" r:id="rId14"/>
    <p:sldId id="276" r:id="rId15"/>
    <p:sldId id="271" r:id="rId16"/>
    <p:sldId id="272" r:id="rId17"/>
    <p:sldId id="275" r:id="rId18"/>
  </p:sldIdLst>
  <p:sldSz cx="9144000" cy="6858000" type="screen4x3"/>
  <p:notesSz cx="6858000" cy="9144000"/>
  <p:embeddedFontLst>
    <p:embeddedFont>
      <p:font typeface="字制区喜脉体" panose="02010600030101010101" charset="-122"/>
      <p:regular r:id="rId20"/>
    </p:embeddedFont>
    <p:embeddedFont>
      <p:font typeface="Cambria Math" panose="02040503050406030204" pitchFamily="18" charset="0"/>
      <p:regular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  <p:embeddedFont>
      <p:font typeface="等线" panose="02010600030101010101" pitchFamily="2" charset="-122"/>
      <p:regular r:id="rId26"/>
      <p:bold r:id="rId27"/>
    </p:embeddedFont>
    <p:embeddedFont>
      <p:font typeface="等线 Light" panose="02010600030101010101" pitchFamily="2" charset="-122"/>
      <p:regular r:id="rId28"/>
    </p:embeddedFont>
    <p:embeddedFont>
      <p:font typeface="仿宋_GB2312" panose="02010609030101010101" pitchFamily="49" charset="-122"/>
      <p:regular r:id="rId29"/>
    </p:embeddedFont>
    <p:embeddedFont>
      <p:font typeface="华文仿宋" panose="02010600040101010101" pitchFamily="2" charset="-122"/>
      <p:regular r:id="rId30"/>
    </p:embeddedFont>
    <p:embeddedFont>
      <p:font typeface="华文琥珀" panose="02010800040101010101" pitchFamily="2" charset="-122"/>
      <p:regular r:id="rId31"/>
    </p:embeddedFont>
    <p:embeddedFont>
      <p:font typeface="华文中宋" panose="02010600040101010101" pitchFamily="2" charset="-122"/>
      <p:regular r:id="rId32"/>
    </p:embeddedFont>
    <p:embeddedFont>
      <p:font typeface="微软雅黑" panose="020B0503020204020204" pitchFamily="34" charset="-122"/>
      <p:regular r:id="rId33"/>
      <p:bold r:id="rId34"/>
    </p:embeddedFont>
    <p:embeddedFont>
      <p:font typeface="微软雅黑" panose="020B0503020204020204" pitchFamily="34" charset="-122"/>
      <p:regular r:id="rId33"/>
      <p:bold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915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7670-3942-C716-F8DF-B3CBF1A9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22A3C-3186-39E6-2FF4-7E01CDF7D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41234-4E36-9C76-7C4F-DA3691158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BF08C-930D-FB5E-C0B6-A055D5B967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9513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3A02F-2602-4E4E-C2FE-B14DBF113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C2BCA-86A3-E146-D1FA-1F39E5E3F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AE7FB-7489-71C7-C1C5-4AB6980DF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A4048-22F3-2E52-06AE-E794867ED6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5873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85F5-3587-5B28-E14A-7FAB5117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223B0-D573-3D03-D8C6-851CA7782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5D48B-0CFA-3F6C-85E0-A4A01E1E8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A009B-4C42-2D09-1A18-5708FC1F30D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6368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FFF2-FD7A-4A17-86D3-3323A78F9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A87D-87FE-4C79-9784-27C136C35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3EF1-371E-4E23-A92A-0611CD70F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999ED16-33CB-482E-ABB1-80E5964343FA}" type="datetime1">
              <a:t>2026/9/19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253B5-AE04-4F03-AC4C-6F297E5926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8B9C8-CA48-44BC-8E72-C6DD34CD7E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837D-6D17-4E0A-ADC2-5EB179F0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2AC96-1B9F-4136-8CF2-448DE25A9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B91F9-F2B0-48C1-B4A9-1873843EA2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CC24FC-AD4C-48F4-8A65-42EDEF4EF539}" type="datetime1">
              <a:t>2026/9/19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6E3C8-89A8-4C56-8869-880ECF20CA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31541-5597-42CA-8E8D-60ABF24753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A10A-6718-4C95-83E0-D3250B899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FBEE4-8D70-4CB9-987B-E84FE6388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CB0A4-51DD-4F7F-A2CB-1938ED6773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B159B68-9777-42C5-9EF3-C57BF3287E54}" type="datetime1">
              <a:t>2026/9/19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FD618-D711-4BCF-A8FD-A8F67C4BAA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51E1C-AD25-4744-B5B9-82B901BDFF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D5C2-F40E-4F69-8859-FD67E782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06B33-7618-4082-A73E-F1F1A36E8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DB77E-6914-45E1-99BA-958ACC8D4E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025F4-7218-4F11-B08C-A8A4F9079F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E92F7B-A850-48E7-980D-510F1F0B4CEE}" type="datetime1">
              <a:t>2026/9/19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54405-30CB-43B2-BE3B-98B6F38E3A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5E3A1-213A-40FE-AEE3-AC3359387F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2923-6438-4F71-8267-79BDADA4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3488C-5E43-49D6-AF30-632F14DF0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C6172-5381-40F3-8C9A-F60005E7046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C1786-13FE-412A-BA4C-ED037F1223D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A9918-E75C-422E-BD75-714A32A1A4E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0890B-AB5D-47AA-8C5D-BC7A4E7434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DF8CB1-792D-4B7F-B016-359C01D0A8D9}" type="datetime1">
              <a:t>2026/9/19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4401AA-AF2C-4915-AB0E-2A6D2CEC03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66837-A854-4BC7-B166-5B88AE566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0B31-3186-42C9-804A-811878CA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609FA-1480-453A-9C56-682856F406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9A5B29-8740-4C47-BAEF-6ACBCE080C2B}" type="datetime1">
              <a:t>2026/9/19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B6C92-CE2A-4879-94B9-2C0A8590A3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612F9-30CA-484B-ACB6-4D2FC828B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83C69-D1F3-40F0-9753-BC43A371EB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18E3E6-C23D-450A-924B-978CCC0E1DC1}" type="datetime1">
              <a:t>2026/9/19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D76BD-5E0B-4A89-A379-5310426DDF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965B2-902B-49A4-8F62-D09DF18432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4538-F0B0-41CC-AAC9-B2730FBF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CFF87-E36B-46BF-87FA-EAFF8E1CA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0E7AD-EEC5-4A36-849E-4FE5B4A479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BA18A-8893-4293-9039-CC70E91185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5243270-3264-443E-854F-7E5C41A9754B}" type="datetime1">
              <a:t>2026/9/19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46F63-59DA-429A-883F-D58424E1A5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CE3C-AD0D-44C4-8B24-1D9F1D1986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1402-1A68-4F09-BEC3-10DFE27F2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0937-ADFF-4691-B83E-1C64C1CD0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867AA-2B98-442E-BF99-C2239EF64C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766B9-CEB3-4AC1-BF84-2EFA3FD0B3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630FF2-1411-441B-925F-EE07CBBCC263}" type="datetime1">
              <a:t>2026/9/19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AE868-D0B8-47CF-A317-8180BFD8FC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25B8B-A55D-4127-A24E-8C73747055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AF72-B92B-4197-8A95-AF0E9550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5E702-BA2B-4D40-98C1-AE9C4C472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0DB9B-200B-4F1E-8855-90DDD2E27C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3C03E85-2C55-438B-A4F3-A542343567F3}" type="datetime1">
              <a:t>2026/9/19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7D61C-4F01-46A0-93AD-DC6BDAD19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5520-02AC-463F-8521-840A180451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5650D-C4B2-4BBA-A2E4-F1996D76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54DD7-D075-472D-B5E2-B04919E06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958C2-0165-459E-B204-6A8A1B0C88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022488-9FCC-4542-946F-45B92689BADC}" type="datetime1">
              <a:t>2026/9/19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D2F1D-31A3-435A-8543-8F8B4EB2A3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程序设计基础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9C3AE-4320-4200-9B2B-AA7E7B053E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4990AE-84D1-4CAE-8D18-BDA65346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30796-0827-488F-9219-2122489B8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29EEB-6303-4D4E-A10A-0DD9E611442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BE419-45CE-4CAA-BC95-710846C25A12}" type="datetime1">
              <a:t>2026/9/19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A2014-B944-4E33-8E79-6308A8B82DB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程序设计基础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CDB21-1177-4E8E-A078-5ED4057E728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D9853-3EB9-4A11-B662-E991C0F4686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compressed.jpg"/><Relationship Id="rId10" Type="http://schemas.openxmlformats.org/officeDocument/2006/relationships/image" Target="../media/image8.png"/><Relationship Id="rId4" Type="http://schemas.openxmlformats.org/officeDocument/2006/relationships/image" Target="../media/image2.compressed.jp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compressed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compressed.jpg"/><Relationship Id="rId4" Type="http://schemas.openxmlformats.org/officeDocument/2006/relationships/image" Target="../media/image12.compressed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compressed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compressed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20.png"/><Relationship Id="rId18" Type="http://schemas.openxmlformats.org/officeDocument/2006/relationships/image" Target="../media/image25.jpe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8.xml"/><Relationship Id="rId17" Type="http://schemas.openxmlformats.org/officeDocument/2006/relationships/image" Target="../media/image24.compressed.jpg"/><Relationship Id="rId2" Type="http://schemas.openxmlformats.org/officeDocument/2006/relationships/tags" Target="../tags/tag3.xml"/><Relationship Id="rId16" Type="http://schemas.openxmlformats.org/officeDocument/2006/relationships/image" Target="../media/image23.compressed.jpg"/><Relationship Id="rId20" Type="http://schemas.openxmlformats.org/officeDocument/2006/relationships/image" Target="../media/image27.compressed.jp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5" Type="http://schemas.openxmlformats.org/officeDocument/2006/relationships/image" Target="../media/image22.compressed.jpg"/><Relationship Id="rId10" Type="http://schemas.openxmlformats.org/officeDocument/2006/relationships/tags" Target="../tags/tag11.xml"/><Relationship Id="rId19" Type="http://schemas.openxmlformats.org/officeDocument/2006/relationships/image" Target="../media/image26.compressed.jp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0.jpeg"/><Relationship Id="rId12" Type="http://schemas.openxmlformats.org/officeDocument/2006/relationships/image" Target="../media/image3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40.png"/><Relationship Id="rId10" Type="http://schemas.openxmlformats.org/officeDocument/2006/relationships/image" Target="../media/image290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46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tags" Target="../tags/tag15.xml"/><Relationship Id="rId16" Type="http://schemas.openxmlformats.org/officeDocument/2006/relationships/image" Target="../media/image49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44.png"/><Relationship Id="rId5" Type="http://schemas.openxmlformats.org/officeDocument/2006/relationships/tags" Target="../tags/tag18.xml"/><Relationship Id="rId15" Type="http://schemas.openxmlformats.org/officeDocument/2006/relationships/image" Target="../media/image48.png"/><Relationship Id="rId10" Type="http://schemas.openxmlformats.org/officeDocument/2006/relationships/notesSlide" Target="../notesSlides/notesSlide15.xml"/><Relationship Id="rId4" Type="http://schemas.openxmlformats.org/officeDocument/2006/relationships/tags" Target="../tags/tag17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8E39391D-07BF-4A18-84AC-429E070CE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3999" cy="4080075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1117E17-A3AF-4721-9C64-4C2B34A4D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99" y="1415386"/>
            <a:ext cx="8764606" cy="2523648"/>
          </a:xfrm>
        </p:spPr>
        <p:txBody>
          <a:bodyPr>
            <a:normAutofit/>
          </a:bodyPr>
          <a:lstStyle/>
          <a:p>
            <a:pPr algn="r">
              <a:buNone/>
            </a:pPr>
            <a:r>
              <a:rPr sz="8000" b="1">
                <a:solidFill>
                  <a:schemeClr val="bg1">
                    <a:lumMod val="95000"/>
                  </a:schemeClr>
                </a:solidFill>
                <a:latin typeface="字制区喜脉体"/>
                <a:ea typeface="字制区喜脉体"/>
                <a:cs typeface="字制区喜脉体"/>
              </a:rPr>
              <a:t>北京航空航天大学</a:t>
            </a:r>
            <a:br/>
            <a:r>
              <a:rPr sz="5300" b="1">
                <a:solidFill>
                  <a:schemeClr val="bg1">
                    <a:lumMod val="95000"/>
                  </a:schemeClr>
                </a:solidFill>
                <a:latin typeface="字制区喜脉体"/>
                <a:ea typeface="字制区喜脉体"/>
                <a:cs typeface="字制区喜脉体"/>
              </a:rPr>
              <a:t>软件学院2026年推免</a:t>
            </a:r>
            <a:endParaRPr sz="5400" b="1">
              <a:solidFill>
                <a:schemeClr val="bg1">
                  <a:lumMod val="95000"/>
                </a:schemeClr>
              </a:solidFill>
              <a:latin typeface="字制区喜脉体"/>
              <a:ea typeface="字制区喜脉体"/>
              <a:cs typeface="字制区喜脉体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CB84EA-1E75-4F51-8230-43EF3EC6FBA3}"/>
              </a:ext>
            </a:extLst>
          </p:cNvPr>
          <p:cNvSpPr>
            <a:spLocks noGrp="1"/>
          </p:cNvSpPr>
          <p:nvPr/>
        </p:nvSpPr>
        <p:spPr>
          <a:xfrm>
            <a:off x="3778934" y="4221776"/>
            <a:ext cx="49221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00">
                <a:solidFill>
                  <a:schemeClr val="accent1">
                    <a:lumMod val="60000"/>
                    <a:lumOff val="40000"/>
                  </a:schemeClr>
                </a:solidFill>
                <a:latin typeface="华文中宋"/>
                <a:ea typeface="华文中宋"/>
                <a:cs typeface="华文中宋"/>
              </a:rPr>
              <a:t>北京航空航天大学 软件学院</a:t>
            </a:r>
          </a:p>
          <a:p>
            <a:pPr algn="r">
              <a:buNone/>
            </a:pPr>
            <a:r>
              <a:rPr sz="2400">
                <a:solidFill>
                  <a:schemeClr val="accent1">
                    <a:lumMod val="60000"/>
                    <a:lumOff val="40000"/>
                  </a:schemeClr>
                </a:solidFill>
                <a:latin typeface="华文中宋"/>
                <a:ea typeface="华文中宋"/>
                <a:cs typeface="华文中宋"/>
              </a:rPr>
              <a:t>段岳辰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0A8E8B-1353-4E1E-B73D-54C0123ADF64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1" name="日期占位符 8">
            <a:extLst>
              <a:ext uri="{FF2B5EF4-FFF2-40B4-BE49-F238E27FC236}">
                <a16:creationId xmlns:a16="http://schemas.microsoft.com/office/drawing/2014/main" id="{AAB5C551-C71F-4661-B67C-BA32247936F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页脚占位符 9">
            <a:extLst>
              <a:ext uri="{FF2B5EF4-FFF2-40B4-BE49-F238E27FC236}">
                <a16:creationId xmlns:a16="http://schemas.microsoft.com/office/drawing/2014/main" id="{2674917C-EAB7-4D92-83BC-B60D11204BE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sz="1200">
                <a:solidFill>
                  <a:schemeClr val="bg1"/>
                </a:solidFill>
              </a:rPr>
              <a:t>北京航空航天大学软件学院2026</a:t>
            </a:r>
            <a:r>
              <a:rPr>
                <a:solidFill>
                  <a:schemeClr val="bg1"/>
                </a:solidFill>
              </a:rPr>
              <a:t>年推免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3" name="灯片编号占位符 10">
            <a:extLst>
              <a:ext uri="{FF2B5EF4-FFF2-40B4-BE49-F238E27FC236}">
                <a16:creationId xmlns:a16="http://schemas.microsoft.com/office/drawing/2014/main" id="{DD6C4568-2936-448D-8F20-966B4E5A9F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1</a:t>
            </a:fld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79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accel="12000" decel="1800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F4F34C0D-A168-3FD1-FC72-5790D9FB5DD7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9143999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15F5A8-EB84-0F5F-974A-C79DB232B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4327" y="2057906"/>
            <a:ext cx="5858854" cy="1240222"/>
          </a:xfrm>
        </p:spPr>
        <p:txBody>
          <a:bodyPr>
            <a:normAutofit fontScale="90000"/>
          </a:bodyPr>
          <a:lstStyle/>
          <a:p>
            <a:pPr algn="r">
              <a:buNone/>
            </a:pPr>
            <a:r>
              <a:rPr lang="zh-CN" altLang="en-US" sz="8000" dirty="0">
                <a:solidFill>
                  <a:schemeClr val="bg1">
                    <a:lumMod val="95000"/>
                  </a:schemeClr>
                </a:solidFill>
                <a:latin typeface="华文琥珀"/>
                <a:ea typeface="华文琥珀"/>
                <a:cs typeface="华文琥珀"/>
              </a:rPr>
              <a:t>个人基本情况</a:t>
            </a:r>
            <a:endParaRPr sz="5400" dirty="0">
              <a:solidFill>
                <a:schemeClr val="bg1">
                  <a:lumMod val="95000"/>
                </a:schemeClr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3039AF-E4CA-D0D2-97D3-B27EA4F401A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1" name="日期占位符 8">
            <a:extLst>
              <a:ext uri="{FF2B5EF4-FFF2-40B4-BE49-F238E27FC236}">
                <a16:creationId xmlns:a16="http://schemas.microsoft.com/office/drawing/2014/main" id="{8F19CF03-6C5F-517F-7C4F-5F23DCDF580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页脚占位符 9">
            <a:extLst>
              <a:ext uri="{FF2B5EF4-FFF2-40B4-BE49-F238E27FC236}">
                <a16:creationId xmlns:a16="http://schemas.microsoft.com/office/drawing/2014/main" id="{57EB90F0-09E7-4CE2-31A6-6F6EFB2BDDA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sz="1200">
                <a:solidFill>
                  <a:schemeClr val="bg1"/>
                </a:solidFill>
              </a:rPr>
              <a:t>北京航空航天大学软件学院2026</a:t>
            </a:r>
            <a:r>
              <a:rPr>
                <a:solidFill>
                  <a:schemeClr val="bg1"/>
                </a:solidFill>
              </a:rPr>
              <a:t>年推免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3" name="灯片编号占位符 10">
            <a:extLst>
              <a:ext uri="{FF2B5EF4-FFF2-40B4-BE49-F238E27FC236}">
                <a16:creationId xmlns:a16="http://schemas.microsoft.com/office/drawing/2014/main" id="{D9684225-A7E7-F38E-D822-28E08A7F50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2</a:t>
            </a:fld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30A962-917D-B4DC-71E0-51518CF46EB0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E26F9BF-168C-5828-F051-BCAC7D6DD353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1BFC9F-9B64-EBA1-EA34-AC9C213E7B20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个人教育经历</a:t>
            </a:r>
            <a:endParaRPr sz="2100" dirty="0">
              <a:solidFill>
                <a:schemeClr val="bg1"/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A07D260F-01FA-EFC2-6CBE-00E31A7AF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FE73D0CE-0581-48C4-222F-C3549783FA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>
                <a:solidFill>
                  <a:schemeClr val="bg1"/>
                </a:solidFill>
              </a:rPr>
              <a:t>北京航空航天大学软件学院2026</a:t>
            </a:r>
            <a:r>
              <a:rPr>
                <a:solidFill>
                  <a:schemeClr val="bg1"/>
                </a:solidFill>
              </a:rPr>
              <a:t>年推免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A3FA1F8C-783F-39E7-9409-2C458D6814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3BCDC1-D223-C2BA-70F5-FF7147F88F32}"/>
              </a:ext>
            </a:extLst>
          </p:cNvPr>
          <p:cNvSpPr>
            <a:spLocks noGrp="1"/>
          </p:cNvSpPr>
          <p:nvPr/>
        </p:nvSpPr>
        <p:spPr>
          <a:xfrm>
            <a:off x="2856614" y="1067111"/>
            <a:ext cx="57437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zh-CN" altLang="en-US" sz="2000" b="1" dirty="0">
                <a:latin typeface="华文中宋"/>
                <a:ea typeface="华文中宋"/>
                <a:cs typeface="华文中宋"/>
              </a:rPr>
              <a:t>本科就读于北京航空航天大学软件学院，推免综测</a:t>
            </a:r>
            <a:r>
              <a:rPr lang="en-US" altLang="zh-CN" sz="2000" b="1" dirty="0">
                <a:latin typeface="华文中宋"/>
                <a:ea typeface="华文中宋"/>
                <a:cs typeface="华文中宋"/>
              </a:rPr>
              <a:t>GPA 3.88</a:t>
            </a:r>
            <a:r>
              <a:rPr lang="zh-CN" altLang="en-US" sz="2000" b="1" dirty="0">
                <a:latin typeface="华文中宋"/>
                <a:ea typeface="华文中宋"/>
                <a:cs typeface="华文中宋"/>
              </a:rPr>
              <a:t>，排名</a:t>
            </a:r>
            <a:r>
              <a:rPr lang="en-US" altLang="zh-CN" sz="2000" b="1" dirty="0">
                <a:latin typeface="华文中宋"/>
                <a:ea typeface="华文中宋"/>
                <a:cs typeface="华文中宋"/>
              </a:rPr>
              <a:t>17/159</a:t>
            </a:r>
            <a:r>
              <a:rPr lang="zh-CN" altLang="en-US" sz="2000" b="1" dirty="0">
                <a:latin typeface="华文中宋"/>
                <a:ea typeface="华文中宋"/>
                <a:cs typeface="华文中宋"/>
              </a:rPr>
              <a:t>，已取得推免资格。</a:t>
            </a:r>
            <a:endParaRPr lang="en-US" altLang="zh-CN" sz="2000" b="1" dirty="0">
              <a:latin typeface="华文中宋"/>
              <a:ea typeface="华文中宋"/>
              <a:cs typeface="华文中宋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sz="2000" b="1" dirty="0" err="1">
                <a:latin typeface="华文中宋"/>
                <a:ea typeface="华文中宋"/>
                <a:cs typeface="华文中宋"/>
              </a:rPr>
              <a:t>大二学年加权平均</a:t>
            </a:r>
            <a:r>
              <a:rPr lang="zh-CN" altLang="en-US" sz="2000" b="1" dirty="0">
                <a:latin typeface="华文中宋"/>
                <a:ea typeface="华文中宋"/>
                <a:cs typeface="华文中宋"/>
              </a:rPr>
              <a:t>分</a:t>
            </a:r>
            <a:r>
              <a:rPr sz="2000" b="1" dirty="0" err="1">
                <a:latin typeface="华文中宋"/>
                <a:ea typeface="华文中宋"/>
                <a:cs typeface="华文中宋"/>
              </a:rPr>
              <a:t>排名</a:t>
            </a:r>
            <a:r>
              <a:rPr lang="zh-CN" altLang="en-US" sz="2000" b="1" dirty="0">
                <a:latin typeface="华文中宋"/>
                <a:ea typeface="华文中宋"/>
                <a:cs typeface="华文中宋"/>
              </a:rPr>
              <a:t>专业</a:t>
            </a:r>
            <a:r>
              <a:rPr sz="2000" b="1" dirty="0" err="1">
                <a:latin typeface="华文中宋"/>
                <a:ea typeface="华文中宋"/>
                <a:cs typeface="华文中宋"/>
              </a:rPr>
              <a:t>第七，获得</a:t>
            </a:r>
            <a:r>
              <a:rPr sz="2400" b="1" dirty="0" err="1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国家奖学金</a:t>
            </a:r>
            <a:r>
              <a:rPr sz="2000" b="1" dirty="0" err="1">
                <a:latin typeface="华文中宋"/>
                <a:ea typeface="华文中宋"/>
                <a:cs typeface="华文中宋"/>
              </a:rPr>
              <a:t>，校级优秀生等荣誉</a:t>
            </a:r>
            <a:endParaRPr sz="2000" b="1" dirty="0">
              <a:latin typeface="华文中宋"/>
              <a:ea typeface="华文中宋"/>
              <a:cs typeface="华文中宋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zh-CN" altLang="en-US" sz="2000" b="1" dirty="0">
                <a:latin typeface="华文中宋"/>
                <a:ea typeface="华文中宋"/>
                <a:cs typeface="华文中宋"/>
              </a:rPr>
              <a:t>多门核心专业</a:t>
            </a:r>
            <a:r>
              <a:rPr sz="2000" b="1" dirty="0">
                <a:latin typeface="华文中宋"/>
                <a:ea typeface="华文中宋"/>
                <a:cs typeface="华文中宋"/>
              </a:rPr>
              <a:t>课程取得</a:t>
            </a:r>
            <a:r>
              <a:rPr lang="en-US" sz="2000" b="1" dirty="0">
                <a:latin typeface="华文中宋"/>
                <a:ea typeface="华文中宋"/>
                <a:cs typeface="华文中宋"/>
              </a:rPr>
              <a:t>95</a:t>
            </a:r>
            <a:r>
              <a:rPr lang="zh-CN" altLang="en-US" sz="2000" b="1" dirty="0">
                <a:latin typeface="华文中宋"/>
                <a:ea typeface="华文中宋"/>
                <a:cs typeface="华文中宋"/>
              </a:rPr>
              <a:t>分以上</a:t>
            </a:r>
            <a:endParaRPr sz="2000" b="1" dirty="0">
              <a:latin typeface="华文中宋"/>
              <a:ea typeface="华文中宋"/>
              <a:cs typeface="华文中宋"/>
            </a:endParaRPr>
          </a:p>
          <a:p>
            <a:endParaRPr b="1" dirty="0">
              <a:latin typeface="华文中宋"/>
              <a:ea typeface="华文中宋"/>
              <a:cs typeface="华文中宋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F70A00-7CE1-E85B-5569-F8F7ACD7C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92" y="1184868"/>
            <a:ext cx="1608042" cy="22512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6270E5-D014-7806-FF2B-B0A55DB711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" y="3799284"/>
            <a:ext cx="2932870" cy="203522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FDCC56-5704-9145-3831-F56A2FA200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71266" y="3516139"/>
            <a:ext cx="2074057" cy="264034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EE297F-8DA3-907C-74F6-9B19DCEB39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39" y="5068284"/>
            <a:ext cx="3086100" cy="41267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1A5AF90-D19E-0FCA-1109-CE2706DAF1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39" y="4834274"/>
            <a:ext cx="3086100" cy="23401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A5D7E09-B58F-F3FB-FDC7-E1C735397F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39" y="4621832"/>
            <a:ext cx="3086100" cy="19736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AA6A0AA-AE40-71A9-D03E-308DDF2674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40" y="4412387"/>
            <a:ext cx="3086100" cy="21283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DEDC9CC-179E-FB6D-4A4B-9792C1B05A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40" y="4206863"/>
            <a:ext cx="3086100" cy="21447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3B517EC-E85E-97CF-5AC9-8C886FD6CE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39" y="3985260"/>
            <a:ext cx="3086100" cy="21406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8766BA2-6CBD-5019-03BA-AEABE0EF40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39" y="5492110"/>
            <a:ext cx="3086100" cy="18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5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869C78-42A2-4F87-BB44-ACF5CBEBC53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F210E-9BE5-4D6D-8847-1424369D72B7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65E89-27CB-4CDB-B12B-8C54CD483827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学科竞赛                                                                                                       ACM竞赛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3145D061-30B4-4DC0-842A-5CFF2942C0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BFB00EE-20F4-4B92-9376-398254DC99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>
                <a:solidFill>
                  <a:schemeClr val="bg1"/>
                </a:solidFill>
              </a:rPr>
              <a:t>北京航空航天大学软件学院2026</a:t>
            </a:r>
            <a:r>
              <a:rPr>
                <a:solidFill>
                  <a:schemeClr val="bg1"/>
                </a:solidFill>
              </a:rPr>
              <a:t>年推免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6FB27AC-CDA6-412D-9AEC-211ECA202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4</a:t>
            </a:fld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CF8BB1F-793F-09F9-BCD9-BFDB857F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11951"/>
              </p:ext>
            </p:extLst>
          </p:nvPr>
        </p:nvGraphicFramePr>
        <p:xfrm>
          <a:off x="1027814" y="950873"/>
          <a:ext cx="7270897" cy="2823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6861">
                  <a:extLst>
                    <a:ext uri="{9D8B030D-6E8A-4147-A177-3AD203B41FA5}">
                      <a16:colId xmlns:a16="http://schemas.microsoft.com/office/drawing/2014/main" val="2003752982"/>
                    </a:ext>
                  </a:extLst>
                </a:gridCol>
                <a:gridCol w="1684036">
                  <a:extLst>
                    <a:ext uri="{9D8B030D-6E8A-4147-A177-3AD203B41FA5}">
                      <a16:colId xmlns:a16="http://schemas.microsoft.com/office/drawing/2014/main" val="2473001436"/>
                    </a:ext>
                  </a:extLst>
                </a:gridCol>
              </a:tblGrid>
              <a:tr h="36537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比赛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奖项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056970"/>
                  </a:ext>
                </a:extLst>
              </a:tr>
              <a:tr h="62894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2024</a:t>
                      </a:r>
                      <a:r>
                        <a:rPr lang="zh-CN" altLang="en-US" dirty="0"/>
                        <a:t>年国际大学生程序设计竞赛（</a:t>
                      </a:r>
                      <a:r>
                        <a:rPr lang="en-US" altLang="zh-CN" dirty="0"/>
                        <a:t>ICPC</a:t>
                      </a:r>
                      <a:r>
                        <a:rPr lang="zh-CN" altLang="en-US" dirty="0"/>
                        <a:t>）成都站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银牌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336482"/>
                  </a:ext>
                </a:extLst>
              </a:tr>
              <a:tr h="36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2025</a:t>
                      </a:r>
                      <a:r>
                        <a:rPr lang="zh-CN" altLang="en-US" dirty="0"/>
                        <a:t>年国际大学生程序设计竞赛（</a:t>
                      </a:r>
                      <a:r>
                        <a:rPr lang="en-US" altLang="zh-CN" dirty="0"/>
                        <a:t>ICPC</a:t>
                      </a:r>
                      <a:r>
                        <a:rPr lang="zh-CN" altLang="en-US" dirty="0"/>
                        <a:t>）南京站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银牌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274522"/>
                  </a:ext>
                </a:extLst>
              </a:tr>
              <a:tr h="36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2024</a:t>
                      </a:r>
                      <a:r>
                        <a:rPr lang="zh-CN" altLang="en-US" dirty="0"/>
                        <a:t>中国大学生程序设计竞赛（</a:t>
                      </a:r>
                      <a:r>
                        <a:rPr lang="en-US" altLang="zh-CN" dirty="0"/>
                        <a:t>CCPC</a:t>
                      </a:r>
                      <a:r>
                        <a:rPr lang="zh-CN" altLang="en-US" dirty="0"/>
                        <a:t>）郑州站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银奖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8157"/>
                  </a:ext>
                </a:extLst>
              </a:tr>
              <a:tr h="36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2025</a:t>
                      </a:r>
                      <a:r>
                        <a:rPr lang="zh-CN" altLang="en-US" dirty="0"/>
                        <a:t>年国际大学生程序设计竞赛（</a:t>
                      </a:r>
                      <a:r>
                        <a:rPr lang="en-US" altLang="zh-CN" dirty="0"/>
                        <a:t>ICPC</a:t>
                      </a:r>
                      <a:r>
                        <a:rPr lang="zh-CN" altLang="en-US" dirty="0"/>
                        <a:t>）武汉邀请赛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银牌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095162"/>
                  </a:ext>
                </a:extLst>
              </a:tr>
              <a:tr h="36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2024</a:t>
                      </a:r>
                      <a:r>
                        <a:rPr lang="zh-CN" altLang="en-US" dirty="0"/>
                        <a:t>年国际大学生程序设计竞赛（</a:t>
                      </a:r>
                      <a:r>
                        <a:rPr lang="en-US" altLang="zh-CN" dirty="0"/>
                        <a:t>ICPC</a:t>
                      </a:r>
                      <a:r>
                        <a:rPr lang="zh-CN" altLang="en-US" dirty="0"/>
                        <a:t>）南京站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铜牌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27518"/>
                  </a:ext>
                </a:extLst>
              </a:tr>
              <a:tr h="36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2023</a:t>
                      </a:r>
                      <a:r>
                        <a:rPr lang="zh-CN" altLang="en-US" dirty="0"/>
                        <a:t>年蓝桥杯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省级一等奖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044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750E9441-B362-A19A-E32E-89A81B589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17" y="4085975"/>
            <a:ext cx="2689934" cy="1904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2FB62D2-8806-EBFB-BA0B-04E8BDF4C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573" y="4154571"/>
            <a:ext cx="2689933" cy="18356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3F797C2-20AF-B0BC-F6D4-AA4418337B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727" y="4081652"/>
            <a:ext cx="2804556" cy="190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58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869C78-42A2-4F87-BB44-ACF5CBEBC53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F210E-9BE5-4D6D-8847-1424369D72B7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65E89-27CB-4CDB-B12B-8C54CD483827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学科竞赛                                                                                               数学建模竞赛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3145D061-30B4-4DC0-842A-5CFF2942C0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BFB00EE-20F4-4B92-9376-398254DC99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6FB27AC-CDA6-412D-9AEC-211ECA202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32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407712" y="3202411"/>
            <a:ext cx="2724848" cy="3692065"/>
          </a:xfrm>
          <a:prstGeom prst="rect">
            <a:avLst/>
          </a:prstGeom>
        </p:spPr>
      </p:pic>
      <p:pic>
        <p:nvPicPr>
          <p:cNvPr id="33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02" y="1041636"/>
            <a:ext cx="3539414" cy="2632622"/>
          </a:xfrm>
          <a:prstGeom prst="rect">
            <a:avLst/>
          </a:prstGeom>
        </p:spPr>
      </p:pic>
      <p:sp>
        <p:nvSpPr>
          <p:cNvPr id="3" name="文本框 12">
            <a:extLst>
              <a:ext uri="{FF2B5EF4-FFF2-40B4-BE49-F238E27FC236}">
                <a16:creationId xmlns:a16="http://schemas.microsoft.com/office/drawing/2014/main" id="{57F4E3A0-691D-2BBD-A8C8-403700FD30D4}"/>
              </a:ext>
            </a:extLst>
          </p:cNvPr>
          <p:cNvSpPr>
            <a:spLocks noGrp="1"/>
          </p:cNvSpPr>
          <p:nvPr/>
        </p:nvSpPr>
        <p:spPr>
          <a:xfrm>
            <a:off x="203247" y="2134725"/>
            <a:ext cx="4649972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en-US" altLang="zh-CN" sz="3200" b="1" dirty="0">
                <a:latin typeface="华文中宋"/>
                <a:ea typeface="华文中宋"/>
                <a:cs typeface="华文中宋"/>
              </a:rPr>
              <a:t>2025</a:t>
            </a:r>
            <a:r>
              <a:rPr lang="zh-CN" altLang="en-US" sz="3200" b="1" dirty="0">
                <a:latin typeface="华文中宋"/>
                <a:ea typeface="华文中宋"/>
                <a:cs typeface="华文中宋"/>
              </a:rPr>
              <a:t>美国数学建模大赛</a:t>
            </a:r>
            <a:r>
              <a:rPr lang="en-US" altLang="zh-CN" sz="3200" b="1" dirty="0">
                <a:latin typeface="华文中宋"/>
                <a:ea typeface="华文中宋"/>
                <a:cs typeface="华文中宋"/>
              </a:rPr>
              <a:t>H</a:t>
            </a:r>
            <a:r>
              <a:rPr lang="zh-CN" altLang="en-US" sz="3200" b="1" dirty="0">
                <a:latin typeface="华文中宋"/>
                <a:ea typeface="华文中宋"/>
                <a:cs typeface="华文中宋"/>
              </a:rPr>
              <a:t>奖</a:t>
            </a:r>
            <a:endParaRPr lang="en-US" altLang="zh-CN" sz="3200" b="1" dirty="0">
              <a:latin typeface="华文中宋"/>
              <a:ea typeface="华文中宋"/>
              <a:cs typeface="华文中宋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latin typeface="华文中宋"/>
                <a:ea typeface="华文中宋"/>
                <a:cs typeface="华文中宋"/>
              </a:rPr>
              <a:t>2025</a:t>
            </a:r>
            <a:r>
              <a:rPr lang="zh-CN" altLang="en-US" sz="3200" b="1" dirty="0">
                <a:latin typeface="华文中宋"/>
                <a:ea typeface="华文中宋"/>
                <a:cs typeface="华文中宋"/>
              </a:rPr>
              <a:t>全国大学生数学建模竞赛北京市二等奖</a:t>
            </a:r>
            <a:endParaRPr sz="3200" b="1" dirty="0">
              <a:latin typeface="华文中宋"/>
              <a:ea typeface="华文中宋"/>
              <a:cs typeface="华文中宋"/>
            </a:endParaRPr>
          </a:p>
        </p:txBody>
      </p:sp>
    </p:spTree>
    <p:extLst>
      <p:ext uri="{BB962C8B-B14F-4D97-AF65-F5344CB8AC3E}">
        <p14:creationId xmlns:p14="http://schemas.microsoft.com/office/powerpoint/2010/main" val="419681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869C78-42A2-4F87-BB44-ACF5CBEBC53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F210E-9BE5-4D6D-8847-1424369D72B7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65E89-27CB-4CDB-B12B-8C54CD483827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学生工作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3145D061-30B4-4DC0-842A-5CFF2942C0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BFB00EE-20F4-4B92-9376-398254DC99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6FB27AC-CDA6-412D-9AEC-211ECA202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E998E3-478E-FC64-336A-27CEA4A19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84" y="965249"/>
            <a:ext cx="1558644" cy="27694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186296-4366-5110-7D14-280820602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84" y="3824062"/>
            <a:ext cx="2991446" cy="22435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0F4615-3D0A-69C7-CBB9-925D42AFA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400" y="965250"/>
            <a:ext cx="3467767" cy="1950428"/>
          </a:xfrm>
          <a:prstGeom prst="rect">
            <a:avLst/>
          </a:prstGeom>
        </p:spPr>
      </p:pic>
      <p:sp>
        <p:nvSpPr>
          <p:cNvPr id="8" name="文本框 12">
            <a:extLst>
              <a:ext uri="{FF2B5EF4-FFF2-40B4-BE49-F238E27FC236}">
                <a16:creationId xmlns:a16="http://schemas.microsoft.com/office/drawing/2014/main" id="{6756994A-7FF3-B8BC-8A4C-BF2F60E5B53C}"/>
              </a:ext>
            </a:extLst>
          </p:cNvPr>
          <p:cNvSpPr>
            <a:spLocks noGrp="1"/>
          </p:cNvSpPr>
          <p:nvPr/>
        </p:nvSpPr>
        <p:spPr>
          <a:xfrm>
            <a:off x="3853430" y="3043160"/>
            <a:ext cx="501412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zh-CN" altLang="en-US" sz="2400" b="1" dirty="0">
                <a:latin typeface="华文中宋"/>
                <a:ea typeface="华文中宋"/>
                <a:cs typeface="华文中宋"/>
              </a:rPr>
              <a:t>担任了航类，信类以及软件学院程序设计类课程</a:t>
            </a:r>
            <a:r>
              <a:rPr lang="en-US" altLang="zh-CN" sz="2400" b="1" dirty="0">
                <a:latin typeface="华文中宋"/>
                <a:ea typeface="华文中宋"/>
                <a:cs typeface="华文中宋"/>
              </a:rPr>
              <a:t>7</a:t>
            </a:r>
            <a:r>
              <a:rPr lang="zh-CN" altLang="en-US" sz="2400" b="1" dirty="0">
                <a:latin typeface="华文中宋"/>
                <a:ea typeface="华文中宋"/>
                <a:cs typeface="华文中宋"/>
              </a:rPr>
              <a:t>次</a:t>
            </a:r>
            <a:endParaRPr lang="en-US" altLang="zh-CN" sz="2400" b="1" dirty="0">
              <a:latin typeface="华文中宋"/>
              <a:ea typeface="华文中宋"/>
              <a:cs typeface="华文中宋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zh-CN" altLang="en-US" sz="2400" b="1" dirty="0">
                <a:latin typeface="华文中宋"/>
                <a:ea typeface="华文中宋"/>
                <a:cs typeface="华文中宋"/>
              </a:rPr>
              <a:t>担任程序设计基础助教组长</a:t>
            </a:r>
            <a:endParaRPr lang="en-US" altLang="zh-CN" sz="2400" b="1" dirty="0">
              <a:latin typeface="华文中宋"/>
              <a:ea typeface="华文中宋"/>
              <a:cs typeface="华文中宋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zh-CN" altLang="en-US" sz="2400" b="1" dirty="0">
                <a:latin typeface="华文中宋"/>
                <a:ea typeface="华文中宋"/>
                <a:cs typeface="华文中宋"/>
              </a:rPr>
              <a:t>参与</a:t>
            </a:r>
            <a:r>
              <a:rPr lang="en-US" altLang="zh-CN" sz="2400" b="1" dirty="0">
                <a:latin typeface="华文中宋"/>
                <a:ea typeface="华文中宋"/>
                <a:cs typeface="华文中宋"/>
              </a:rPr>
              <a:t>BCPC</a:t>
            </a:r>
            <a:r>
              <a:rPr lang="zh-CN" altLang="en-US" sz="2400" b="1" dirty="0">
                <a:latin typeface="华文中宋"/>
                <a:ea typeface="华文中宋"/>
                <a:cs typeface="华文中宋"/>
              </a:rPr>
              <a:t>验题以及现场组织等工作</a:t>
            </a:r>
            <a:endParaRPr sz="2400" b="1" dirty="0">
              <a:latin typeface="华文中宋"/>
              <a:ea typeface="华文中宋"/>
              <a:cs typeface="华文中宋"/>
            </a:endParaRPr>
          </a:p>
          <a:p>
            <a:endParaRPr b="1" dirty="0">
              <a:latin typeface="华文中宋"/>
              <a:ea typeface="华文中宋"/>
              <a:cs typeface="华文中宋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70F3C06-8E52-B144-31C3-B7AEE937DE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545" y="965249"/>
            <a:ext cx="2707371" cy="205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6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accel="12000" decel="18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8E39391D-07BF-4A18-84AC-429E070CEDB4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9143999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1117E17-A3AF-4721-9C64-4C2B34A4D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651" y="2057906"/>
            <a:ext cx="5752529" cy="1240222"/>
          </a:xfrm>
        </p:spPr>
        <p:txBody>
          <a:bodyPr>
            <a:normAutofit fontScale="90000"/>
          </a:bodyPr>
          <a:lstStyle/>
          <a:p>
            <a:pPr algn="r">
              <a:buNone/>
            </a:pPr>
            <a:r>
              <a:rPr lang="zh-CN" altLang="en-US" sz="8000" dirty="0">
                <a:solidFill>
                  <a:schemeClr val="bg1">
                    <a:lumMod val="95000"/>
                  </a:schemeClr>
                </a:solidFill>
                <a:latin typeface="华文琥珀"/>
                <a:ea typeface="华文琥珀"/>
                <a:cs typeface="华文琥珀"/>
              </a:rPr>
              <a:t>本科科研经历</a:t>
            </a:r>
            <a:endParaRPr sz="5400" dirty="0">
              <a:solidFill>
                <a:schemeClr val="bg1">
                  <a:lumMod val="95000"/>
                </a:schemeClr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0A8E8B-1353-4E1E-B73D-54C0123ADF64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1" name="日期占位符 8">
            <a:extLst>
              <a:ext uri="{FF2B5EF4-FFF2-40B4-BE49-F238E27FC236}">
                <a16:creationId xmlns:a16="http://schemas.microsoft.com/office/drawing/2014/main" id="{AAB5C551-C71F-4661-B67C-BA32247936F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页脚占位符 9">
            <a:extLst>
              <a:ext uri="{FF2B5EF4-FFF2-40B4-BE49-F238E27FC236}">
                <a16:creationId xmlns:a16="http://schemas.microsoft.com/office/drawing/2014/main" id="{2674917C-EAB7-4D92-83BC-B60D11204BE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sz="1200">
                <a:solidFill>
                  <a:schemeClr val="bg1"/>
                </a:solidFill>
              </a:rPr>
              <a:t>北京航空航天大学软件学院2024</a:t>
            </a:r>
            <a:r>
              <a:rPr>
                <a:solidFill>
                  <a:schemeClr val="bg1"/>
                </a:solidFill>
              </a:rPr>
              <a:t>年推免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3" name="灯片编号占位符 10">
            <a:extLst>
              <a:ext uri="{FF2B5EF4-FFF2-40B4-BE49-F238E27FC236}">
                <a16:creationId xmlns:a16="http://schemas.microsoft.com/office/drawing/2014/main" id="{DD6C4568-2936-448D-8F20-966B4E5A9F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7</a:t>
            </a:fld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29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7E85-B6DD-A4A0-32B7-5E5C2F56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2C5BDB-F599-7684-DCAB-658E95CEF7D5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E57AE97-7671-3F96-24A4-F3A8E5478855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BD7BFD-3405-664F-3AC1-DF49F300130A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研究背景</a:t>
            </a:r>
            <a:endParaRPr sz="2100" dirty="0">
              <a:solidFill>
                <a:schemeClr val="bg1"/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9D2133DD-5A0A-EC75-E5CA-7B75214D29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69D1B076-5535-D8CD-5FD2-7ED73E3529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A01FAD5F-C57E-3D9A-BE76-A7DFA86499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8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6" name="矩形: 圆角 14">
            <a:extLst>
              <a:ext uri="{FF2B5EF4-FFF2-40B4-BE49-F238E27FC236}">
                <a16:creationId xmlns:a16="http://schemas.microsoft.com/office/drawing/2014/main" id="{37D72B09-43A6-B624-C058-2D8D6E1D2CC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77794" y="4525298"/>
            <a:ext cx="4811788" cy="16486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b="1" dirty="0"/>
              <a:t>保障软件质量是我国信息技术发展所面临的重大需求</a:t>
            </a:r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F9316EC8-A47A-BFCF-85B0-3F1D9EE7357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70565" y="2196500"/>
            <a:ext cx="4931264" cy="415984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14">
            <a:extLst>
              <a:ext uri="{FF2B5EF4-FFF2-40B4-BE49-F238E27FC236}">
                <a16:creationId xmlns:a16="http://schemas.microsoft.com/office/drawing/2014/main" id="{32BC1607-CE6F-A238-69CC-8CCE8229E1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21718" y="2430470"/>
            <a:ext cx="4667864" cy="13192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6" name="矩形: 圆角 5">
            <a:extLst>
              <a:ext uri="{FF2B5EF4-FFF2-40B4-BE49-F238E27FC236}">
                <a16:creationId xmlns:a16="http://schemas.microsoft.com/office/drawing/2014/main" id="{9FB8A08E-A16C-694A-D1B1-3F359EBCACB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64112" y="2196501"/>
            <a:ext cx="3691962" cy="416436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: 圆角 387">
            <a:extLst>
              <a:ext uri="{FF2B5EF4-FFF2-40B4-BE49-F238E27FC236}">
                <a16:creationId xmlns:a16="http://schemas.microsoft.com/office/drawing/2014/main" id="{659F4FC5-A927-CDEC-11CD-0D8FFB534CA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80721" y="3828260"/>
            <a:ext cx="3308284" cy="1906635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35000">
                <a:schemeClr val="bg1"/>
              </a:gs>
            </a:gsLst>
            <a:lin ang="16200000" scaled="1"/>
          </a:gradFill>
          <a:ln w="3175">
            <a:solidFill>
              <a:schemeClr val="accent1"/>
            </a:solidFill>
          </a:ln>
          <a:effectLst>
            <a:outerShdw blurRad="40000" dist="20000" dir="5400000" rotWithShape="0">
              <a:schemeClr val="accent1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chemeClr val="accent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A370CD8-CD0E-AEDE-C973-DFA7BCD6D6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171" y="2321021"/>
            <a:ext cx="3464789" cy="12935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</p:pic>
      <p:sp>
        <p:nvSpPr>
          <p:cNvPr id="29" name="圆角矩形标注 8">
            <a:extLst>
              <a:ext uri="{FF2B5EF4-FFF2-40B4-BE49-F238E27FC236}">
                <a16:creationId xmlns:a16="http://schemas.microsoft.com/office/drawing/2014/main" id="{F561B9BD-79F2-9590-5EEF-1DB380DC496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1812" y="3922214"/>
            <a:ext cx="3086101" cy="1718726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我国“十四五”规划强调，需“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加快补齐基础软件瓶颈短板</a:t>
            </a:r>
            <a:r>
              <a:rPr lang="zh-CN" altLang="en-US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”、“加强软件核心技术一体化研发”和“提升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关键软件</a:t>
            </a:r>
            <a:r>
              <a:rPr lang="zh-CN" altLang="en-US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产业水平”</a:t>
            </a:r>
          </a:p>
        </p:txBody>
      </p:sp>
      <p:sp>
        <p:nvSpPr>
          <p:cNvPr id="30" name="矩形: 圆角 3">
            <a:extLst>
              <a:ext uri="{FF2B5EF4-FFF2-40B4-BE49-F238E27FC236}">
                <a16:creationId xmlns:a16="http://schemas.microsoft.com/office/drawing/2014/main" id="{B7F9EEA7-2AA3-B34D-EDC4-90C47D370F1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610074" y="1043246"/>
            <a:ext cx="7291755" cy="1035786"/>
          </a:xfrm>
          <a:prstGeom prst="roundRect">
            <a:avLst>
              <a:gd name="adj" fmla="val 3285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schemeClr val="tx1"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195705" fontAlgn="base">
              <a:spcBef>
                <a:spcPct val="0"/>
              </a:spcBef>
              <a:spcAft>
                <a:spcPct val="0"/>
              </a:spcAft>
            </a:pPr>
            <a:endParaRPr lang="zh-CN" altLang="en-US" sz="2400" kern="0" dirty="0">
              <a:solidFill>
                <a:srgbClr val="4472C4"/>
              </a:solidFill>
              <a:latin typeface="Arial"/>
              <a:ea typeface="微软雅黑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4E2CD4-C5AB-7978-6BEF-45AF9D55BB3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666563" y="1123105"/>
            <a:ext cx="6821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zh-CN" altLang="en-US" sz="2000" b="1" kern="0" dirty="0">
                <a:solidFill>
                  <a:schemeClr val="accent1"/>
                </a:solidFill>
                <a:latin typeface="+mj-lt"/>
                <a:ea typeface="微软雅黑" panose="020B0503020204020204" pitchFamily="34" charset="-122"/>
                <a:cs typeface="Times New Roman" panose="02020503050405090304" pitchFamily="18" charset="0"/>
              </a:rPr>
              <a:t>软件已成为推动我国经济发展、工业生产创新的重要引擎。</a:t>
            </a:r>
            <a:endParaRPr lang="en-US" altLang="zh-CN" sz="2000" b="1" kern="0" dirty="0">
              <a:solidFill>
                <a:schemeClr val="accent1"/>
              </a:solidFill>
              <a:latin typeface="+mj-lt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zh-CN" altLang="en-US" sz="20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  <a:cs typeface="Times New Roman" panose="02020503050405090304" pitchFamily="18" charset="0"/>
              </a:rPr>
              <a:t>保障关键软件质量是</a:t>
            </a:r>
            <a:r>
              <a:rPr lang="zh-CN" altLang="en-US" sz="2000" b="1" kern="0" dirty="0">
                <a:solidFill>
                  <a:srgbClr val="02509B"/>
                </a:solidFill>
                <a:latin typeface="+mj-lt"/>
                <a:ea typeface="微软雅黑" panose="020B0503020204020204" pitchFamily="34" charset="-122"/>
                <a:cs typeface="Times New Roman" panose="02020503050405090304" pitchFamily="18" charset="0"/>
              </a:rPr>
              <a:t>我国信息技术发展所面临的</a:t>
            </a:r>
            <a:r>
              <a:rPr lang="zh-CN" altLang="en-US" sz="20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  <a:cs typeface="Times New Roman" panose="02020503050405090304" pitchFamily="18" charset="0"/>
              </a:rPr>
              <a:t>重大需求</a:t>
            </a:r>
            <a:endParaRPr lang="zh-CN" altLang="en-US" sz="2000" b="1" kern="0" dirty="0">
              <a:solidFill>
                <a:schemeClr val="accent1"/>
              </a:solidFill>
              <a:latin typeface="+mj-lt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2" name="矩形: 圆角 42">
            <a:extLst>
              <a:ext uri="{FF2B5EF4-FFF2-40B4-BE49-F238E27FC236}">
                <a16:creationId xmlns:a16="http://schemas.microsoft.com/office/drawing/2014/main" id="{4B4D9B96-6EB6-2E39-DA55-E31E1BE40C2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3719" y="1039396"/>
            <a:ext cx="1436356" cy="1023993"/>
          </a:xfrm>
          <a:prstGeom prst="roundRect">
            <a:avLst>
              <a:gd name="adj" fmla="val 3285"/>
            </a:avLst>
          </a:prstGeom>
          <a:solidFill>
            <a:srgbClr val="2E75B6"/>
          </a:solidFill>
          <a:ln w="6350" cap="flat" cmpd="sng" algn="ctr">
            <a:noFill/>
            <a:prstDash val="solid"/>
          </a:ln>
          <a:effectLst>
            <a:outerShdw blurRad="50800" dist="38100" dir="2700000" algn="tl" rotWithShape="0">
              <a:srgbClr val="262B8E">
                <a:lumMod val="50000"/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195705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 kern="0" dirty="0">
              <a:solidFill>
                <a:srgbClr val="5B9BD5"/>
              </a:solidFill>
              <a:latin typeface="Arial"/>
              <a:ea typeface="微软雅黑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8F6CC7F-2CAB-147C-8A9B-2A49EB7C079E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2171" y="1037388"/>
            <a:ext cx="1299451" cy="97144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国家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战略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3A02CE8-BA97-8193-5168-106A30C8171F}"/>
              </a:ext>
            </a:extLst>
          </p:cNvPr>
          <p:cNvGrpSpPr/>
          <p:nvPr/>
        </p:nvGrpSpPr>
        <p:grpSpPr>
          <a:xfrm>
            <a:off x="4219912" y="2472326"/>
            <a:ext cx="4371195" cy="1142292"/>
            <a:chOff x="6796417" y="2513389"/>
            <a:chExt cx="4538431" cy="1396307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0E31A54-BE90-D71E-722D-B1FCD82F9423}"/>
                </a:ext>
              </a:extLst>
            </p:cNvPr>
            <p:cNvSpPr txBox="1"/>
            <p:nvPr/>
          </p:nvSpPr>
          <p:spPr>
            <a:xfrm>
              <a:off x="7301562" y="2513389"/>
              <a:ext cx="3701266" cy="413839"/>
            </a:xfrm>
            <a:prstGeom prst="rect">
              <a:avLst/>
            </a:prstGeom>
            <a:solidFill>
              <a:srgbClr val="C00000">
                <a:alpha val="6000"/>
              </a:srgbClr>
            </a:solidFill>
            <a:ln w="3175">
              <a:solidFill>
                <a:srgbClr val="C00000"/>
              </a:solidFill>
            </a:ln>
          </p:spPr>
          <p:txBody>
            <a:bodyPr wrap="square" anchor="ctr">
              <a:spAutoFit/>
            </a:bodyPr>
            <a:lstStyle/>
            <a:p>
              <a:pPr marL="0" lvl="1" algn="ctr" defTabSz="457200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关键软件的故障会带来灾难性后果</a:t>
              </a: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6C0FDC00-9425-6E1B-45EC-773D2197FF9F}"/>
                </a:ext>
              </a:extLst>
            </p:cNvPr>
            <p:cNvGrpSpPr/>
            <p:nvPr/>
          </p:nvGrpSpPr>
          <p:grpSpPr>
            <a:xfrm>
              <a:off x="6796417" y="3019178"/>
              <a:ext cx="4538431" cy="890518"/>
              <a:chOff x="6677984" y="2804044"/>
              <a:chExt cx="4538431" cy="890518"/>
            </a:xfrm>
          </p:grpSpPr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CFF935FD-BA8A-30F2-65B8-AF420EEE07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/>
              <a:srcRect b="28332"/>
              <a:stretch/>
            </p:blipFill>
            <p:spPr>
              <a:xfrm>
                <a:off x="8073013" y="2812280"/>
                <a:ext cx="809635" cy="881121"/>
              </a:xfrm>
              <a:prstGeom prst="rect">
                <a:avLst/>
              </a:prstGeom>
            </p:spPr>
          </p:pic>
          <p:pic>
            <p:nvPicPr>
              <p:cNvPr id="38" name="图片 37">
                <a:extLst>
                  <a:ext uri="{FF2B5EF4-FFF2-40B4-BE49-F238E27FC236}">
                    <a16:creationId xmlns:a16="http://schemas.microsoft.com/office/drawing/2014/main" id="{D4734D26-2068-02CC-322F-7DCA27B9E5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r="6103" b="18988"/>
              <a:stretch/>
            </p:blipFill>
            <p:spPr>
              <a:xfrm>
                <a:off x="8946470" y="2804044"/>
                <a:ext cx="959760" cy="890161"/>
              </a:xfrm>
              <a:prstGeom prst="rect">
                <a:avLst/>
              </a:prstGeom>
            </p:spPr>
          </p:pic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686ECDA3-71B9-647C-DE26-F4E73D54A6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77984" y="2807091"/>
                <a:ext cx="1331207" cy="887471"/>
              </a:xfrm>
              <a:prstGeom prst="rect">
                <a:avLst/>
              </a:prstGeom>
            </p:spPr>
          </p:pic>
          <p:pic>
            <p:nvPicPr>
              <p:cNvPr id="40" name="图片 39">
                <a:extLst>
                  <a:ext uri="{FF2B5EF4-FFF2-40B4-BE49-F238E27FC236}">
                    <a16:creationId xmlns:a16="http://schemas.microsoft.com/office/drawing/2014/main" id="{294FCADD-F6FC-8470-0775-3134D54371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/>
              <a:srcRect l="13251" r="7508"/>
              <a:stretch/>
            </p:blipFill>
            <p:spPr>
              <a:xfrm>
                <a:off x="9970052" y="2804044"/>
                <a:ext cx="1246363" cy="873447"/>
              </a:xfrm>
              <a:prstGeom prst="rect">
                <a:avLst/>
              </a:prstGeom>
            </p:spPr>
          </p:pic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226E8E0-43D3-7667-B7C6-BD845C076446}"/>
              </a:ext>
            </a:extLst>
          </p:cNvPr>
          <p:cNvGrpSpPr/>
          <p:nvPr/>
        </p:nvGrpSpPr>
        <p:grpSpPr>
          <a:xfrm>
            <a:off x="4077031" y="5101862"/>
            <a:ext cx="4613314" cy="943761"/>
            <a:chOff x="6811002" y="4380887"/>
            <a:chExt cx="4538432" cy="984292"/>
          </a:xfrm>
        </p:grpSpPr>
        <p:pic>
          <p:nvPicPr>
            <p:cNvPr id="42" name="Picture 4" descr="Why Use Linux? : Blog | OpenCode.md">
              <a:extLst>
                <a:ext uri="{FF2B5EF4-FFF2-40B4-BE49-F238E27FC236}">
                  <a16:creationId xmlns:a16="http://schemas.microsoft.com/office/drawing/2014/main" id="{EF9868A8-7AC4-F885-1CA3-FB61D4B39A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50"/>
            <a:stretch>
              <a:fillRect/>
            </a:stretch>
          </p:blipFill>
          <p:spPr bwMode="auto">
            <a:xfrm>
              <a:off x="10029284" y="4390558"/>
              <a:ext cx="1320150" cy="970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EAB069D9-7381-24F7-9340-2B095D3A5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811002" y="4380887"/>
              <a:ext cx="1489464" cy="972543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F7ACECB0-9515-43EA-C2A0-097216C50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420143" y="4390558"/>
              <a:ext cx="1489464" cy="970367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B9A0981-05D1-1E3A-642F-0DF9B2B0DB97}"/>
                </a:ext>
              </a:extLst>
            </p:cNvPr>
            <p:cNvSpPr txBox="1"/>
            <p:nvPr/>
          </p:nvSpPr>
          <p:spPr>
            <a:xfrm>
              <a:off x="6811002" y="5022371"/>
              <a:ext cx="1489464" cy="33855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3175">
              <a:noFill/>
            </a:ln>
          </p:spPr>
          <p:txBody>
            <a:bodyPr wrap="square" anchor="ctr">
              <a:spAutoFit/>
            </a:bodyPr>
            <a:lstStyle/>
            <a:p>
              <a:pPr marL="0" lvl="1" algn="ctr" defTabSz="457200">
                <a:defRPr/>
              </a:pPr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503050405090304" pitchFamily="18" charset="0"/>
                </a:rPr>
                <a:t>机上软件</a:t>
              </a:r>
              <a:endParaRPr lang="zh-CN" altLang="en-US" sz="1600" dirty="0">
                <a:solidFill>
                  <a:schemeClr val="accent1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CBF51C2-6EE8-AFC3-D3E0-8A173FCA7CE3}"/>
                </a:ext>
              </a:extLst>
            </p:cNvPr>
            <p:cNvSpPr txBox="1"/>
            <p:nvPr/>
          </p:nvSpPr>
          <p:spPr>
            <a:xfrm>
              <a:off x="8420143" y="5022371"/>
              <a:ext cx="1489464" cy="33855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3175">
              <a:noFill/>
            </a:ln>
          </p:spPr>
          <p:txBody>
            <a:bodyPr wrap="square" anchor="ctr">
              <a:spAutoFit/>
            </a:bodyPr>
            <a:lstStyle/>
            <a:p>
              <a:pPr marL="0" lvl="1" algn="ctr" defTabSz="457200">
                <a:defRPr/>
              </a:pPr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503050405090304" pitchFamily="18" charset="0"/>
                </a:rPr>
                <a:t>航天工业软件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6589F74-2FE4-7B0B-A65B-6C2FC6B11A3B}"/>
                </a:ext>
              </a:extLst>
            </p:cNvPr>
            <p:cNvSpPr txBox="1"/>
            <p:nvPr/>
          </p:nvSpPr>
          <p:spPr>
            <a:xfrm>
              <a:off x="10029284" y="5026625"/>
              <a:ext cx="1311544" cy="33855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3175">
              <a:noFill/>
            </a:ln>
          </p:spPr>
          <p:txBody>
            <a:bodyPr wrap="square" anchor="ctr">
              <a:spAutoFit/>
            </a:bodyPr>
            <a:lstStyle/>
            <a:p>
              <a:pPr algn="ctr" defTabSz="457200"/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503050405090304" pitchFamily="18" charset="0"/>
                </a:rPr>
                <a:t>操作系统</a:t>
              </a:r>
              <a:endParaRPr lang="zh-CN" altLang="en-US" sz="1600" dirty="0">
                <a:solidFill>
                  <a:schemeClr val="accent1"/>
                </a:solidFill>
                <a:latin typeface="Calibri"/>
                <a:ea typeface="等线" panose="02010600030101010101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C72F847-565C-0657-509A-10E773FE0EFA}"/>
              </a:ext>
            </a:extLst>
          </p:cNvPr>
          <p:cNvGrpSpPr/>
          <p:nvPr/>
        </p:nvGrpSpPr>
        <p:grpSpPr>
          <a:xfrm>
            <a:off x="5508522" y="3911219"/>
            <a:ext cx="3243666" cy="407380"/>
            <a:chOff x="8267696" y="3946513"/>
            <a:chExt cx="2909660" cy="4001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C6A616B-CD77-0D30-7ADA-F8FFACF6D892}"/>
                </a:ext>
              </a:extLst>
            </p:cNvPr>
            <p:cNvSpPr txBox="1"/>
            <p:nvPr/>
          </p:nvSpPr>
          <p:spPr>
            <a:xfrm>
              <a:off x="8648609" y="3946513"/>
              <a:ext cx="252874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algn="just" defTabSz="457200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可靠性保障</a:t>
              </a:r>
              <a:endPara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0" name="组合 14">
              <a:extLst>
                <a:ext uri="{FF2B5EF4-FFF2-40B4-BE49-F238E27FC236}">
                  <a16:creationId xmlns:a16="http://schemas.microsoft.com/office/drawing/2014/main" id="{83B04B2B-939B-57A9-F5D5-7D937DF584CC}"/>
                </a:ext>
              </a:extLst>
            </p:cNvPr>
            <p:cNvGrpSpPr/>
            <p:nvPr/>
          </p:nvGrpSpPr>
          <p:grpSpPr bwMode="auto">
            <a:xfrm rot="10800000">
              <a:off x="8267696" y="3990936"/>
              <a:ext cx="406723" cy="289531"/>
              <a:chOff x="3957158" y="5113267"/>
              <a:chExt cx="430885" cy="299796"/>
            </a:xfrm>
            <a:gradFill>
              <a:gsLst>
                <a:gs pos="0">
                  <a:schemeClr val="bg1"/>
                </a:gs>
                <a:gs pos="98601">
                  <a:schemeClr val="accent1"/>
                </a:gs>
              </a:gsLst>
              <a:lin ang="5400000" scaled="1"/>
            </a:gradFill>
          </p:grpSpPr>
          <p:sp>
            <p:nvSpPr>
              <p:cNvPr id="51" name="箭头: V 形 11">
                <a:extLst>
                  <a:ext uri="{FF2B5EF4-FFF2-40B4-BE49-F238E27FC236}">
                    <a16:creationId xmlns:a16="http://schemas.microsoft.com/office/drawing/2014/main" id="{BA1A30D6-9CE6-663B-73DD-FEA157793330}"/>
                  </a:ext>
                </a:extLst>
              </p:cNvPr>
              <p:cNvSpPr/>
              <p:nvPr/>
            </p:nvSpPr>
            <p:spPr>
              <a:xfrm rot="5400000">
                <a:off x="4088728" y="4981697"/>
                <a:ext cx="167743" cy="430885"/>
              </a:xfrm>
              <a:prstGeom prst="chevron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350" kern="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2" name="箭头: V 形 25">
                <a:extLst>
                  <a:ext uri="{FF2B5EF4-FFF2-40B4-BE49-F238E27FC236}">
                    <a16:creationId xmlns:a16="http://schemas.microsoft.com/office/drawing/2014/main" id="{C302011B-B043-C180-7C94-1DD481DABF01}"/>
                  </a:ext>
                </a:extLst>
              </p:cNvPr>
              <p:cNvSpPr/>
              <p:nvPr/>
            </p:nvSpPr>
            <p:spPr>
              <a:xfrm rot="5400000">
                <a:off x="4088728" y="5113750"/>
                <a:ext cx="167743" cy="430885"/>
              </a:xfrm>
              <a:prstGeom prst="chevron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350" kern="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940AAC8C-DDA2-8E8F-CAA2-FBD32F58D358}"/>
              </a:ext>
            </a:extLst>
          </p:cNvPr>
          <p:cNvSpPr txBox="1"/>
          <p:nvPr/>
        </p:nvSpPr>
        <p:spPr>
          <a:xfrm>
            <a:off x="4948034" y="4625209"/>
            <a:ext cx="3043414" cy="353008"/>
          </a:xfrm>
          <a:prstGeom prst="rect">
            <a:avLst/>
          </a:prstGeom>
          <a:solidFill>
            <a:schemeClr val="accent2">
              <a:lumMod val="50000"/>
              <a:alpha val="6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anchor="ctr">
            <a:noAutofit/>
          </a:bodyPr>
          <a:lstStyle/>
          <a:p>
            <a:pPr marL="0" lvl="1" algn="ctr" defTabSz="457200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关键软件测试技术</a:t>
            </a:r>
          </a:p>
        </p:txBody>
      </p:sp>
    </p:spTree>
    <p:extLst>
      <p:ext uri="{BB962C8B-B14F-4D97-AF65-F5344CB8AC3E}">
        <p14:creationId xmlns:p14="http://schemas.microsoft.com/office/powerpoint/2010/main" val="693975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DA1BE-C87B-91E6-D042-723BA36D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986225-61DC-6199-D353-C153009518B9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689577C-2143-CA4D-2901-793330060EC2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3153A2-29A5-5485-8A27-BD8A01ACE7A1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研究背景</a:t>
            </a:r>
            <a:endParaRPr sz="2100" dirty="0">
              <a:solidFill>
                <a:schemeClr val="bg1"/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0AFB3333-8148-61D3-CFB9-1B8A5F2A6E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2F7958F3-94F8-28B7-4FFC-94FAC85EA5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784601D-06BF-B0D0-9A79-C210B5A3F1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圆角矩形 53">
            <a:extLst>
              <a:ext uri="{FF2B5EF4-FFF2-40B4-BE49-F238E27FC236}">
                <a16:creationId xmlns:a16="http://schemas.microsoft.com/office/drawing/2014/main" id="{3F8998CC-D78A-B02F-5618-D27A4E596F77}"/>
              </a:ext>
            </a:extLst>
          </p:cNvPr>
          <p:cNvSpPr/>
          <p:nvPr/>
        </p:nvSpPr>
        <p:spPr>
          <a:xfrm>
            <a:off x="103142" y="1117616"/>
            <a:ext cx="8937713" cy="1873962"/>
          </a:xfrm>
          <a:prstGeom prst="roundRect">
            <a:avLst>
              <a:gd name="adj" fmla="val 245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schemeClr val="tx1"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195705" fontAlgn="base">
              <a:spcBef>
                <a:spcPct val="0"/>
              </a:spcBef>
              <a:spcAft>
                <a:spcPct val="0"/>
              </a:spcAft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C2958F-562D-D4F3-D8B1-A3EA0F3AF753}"/>
              </a:ext>
            </a:extLst>
          </p:cNvPr>
          <p:cNvGrpSpPr/>
          <p:nvPr/>
        </p:nvGrpSpPr>
        <p:grpSpPr>
          <a:xfrm>
            <a:off x="226463" y="2306514"/>
            <a:ext cx="2325837" cy="516154"/>
            <a:chOff x="561648" y="4939061"/>
            <a:chExt cx="2659446" cy="557167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21E1270-1DDB-EE70-0010-FA26D518D8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9705" t="36364" r="11996" b="30971"/>
            <a:stretch/>
          </p:blipFill>
          <p:spPr>
            <a:xfrm>
              <a:off x="1721488" y="5044125"/>
              <a:ext cx="1499606" cy="38958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437CA824-FFB6-4E12-803F-389A65065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61648" y="4939061"/>
              <a:ext cx="1008733" cy="557167"/>
            </a:xfrm>
            <a:prstGeom prst="rect">
              <a:avLst/>
            </a:prstGeom>
          </p:spPr>
        </p:pic>
      </p:grpSp>
      <p:sp>
        <p:nvSpPr>
          <p:cNvPr id="15" name="textbox 46">
            <a:extLst>
              <a:ext uri="{FF2B5EF4-FFF2-40B4-BE49-F238E27FC236}">
                <a16:creationId xmlns:a16="http://schemas.microsoft.com/office/drawing/2014/main" id="{4E45A546-FE4B-585E-E12D-E936CD2A527C}"/>
              </a:ext>
            </a:extLst>
          </p:cNvPr>
          <p:cNvSpPr/>
          <p:nvPr/>
        </p:nvSpPr>
        <p:spPr>
          <a:xfrm>
            <a:off x="156496" y="999501"/>
            <a:ext cx="4931372" cy="448570"/>
          </a:xfrm>
          <a:prstGeom prst="roundRect">
            <a:avLst>
              <a:gd name="adj" fmla="val 4372"/>
            </a:avLst>
          </a:prstGeom>
          <a:solidFill>
            <a:srgbClr val="2E75B6"/>
          </a:solidFill>
          <a:ln w="6350" cap="flat" cmpd="sng" algn="ctr">
            <a:noFill/>
            <a:prstDash val="solid"/>
          </a:ln>
          <a:effectLst>
            <a:outerShdw blurRad="50800" dist="38100" dir="2700000" algn="tl" rotWithShape="0">
              <a:srgbClr val="262B8E">
                <a:lumMod val="50000"/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19570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prstClr val="white"/>
                </a:solidFill>
                <a:latin typeface="Arial"/>
                <a:ea typeface="微软雅黑"/>
              </a:rPr>
              <a:t>关键软件的重要特征：高度可配置性</a:t>
            </a:r>
            <a:endParaRPr sz="2000" b="1" kern="0" dirty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16" name="Picture 2" descr="custom software applications">
            <a:extLst>
              <a:ext uri="{FF2B5EF4-FFF2-40B4-BE49-F238E27FC236}">
                <a16:creationId xmlns:a16="http://schemas.microsoft.com/office/drawing/2014/main" id="{09080F95-46AB-515E-9111-C7BA37CC92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" t="1551" r="2019" b="347"/>
          <a:stretch/>
        </p:blipFill>
        <p:spPr bwMode="auto">
          <a:xfrm>
            <a:off x="4548306" y="1476281"/>
            <a:ext cx="1580737" cy="143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71784A4-0610-AEA9-5173-DDF7FFC838E4}"/>
              </a:ext>
            </a:extLst>
          </p:cNvPr>
          <p:cNvSpPr txBox="1"/>
          <p:nvPr/>
        </p:nvSpPr>
        <p:spPr>
          <a:xfrm>
            <a:off x="209444" y="1803206"/>
            <a:ext cx="4408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2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gcc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  [-c|-S|-E] [-std=standard] [-g] [-</a:t>
            </a:r>
            <a:r>
              <a:rPr lang="en-US" altLang="zh-CN" sz="12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pg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] [-</a:t>
            </a:r>
            <a:r>
              <a:rPr lang="en-US" altLang="zh-CN" sz="12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Olevel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] [-</a:t>
            </a:r>
            <a:r>
              <a:rPr lang="en-US" altLang="zh-CN" sz="12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Wwarn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...] [-pedantic] [-Idir...] [-</a:t>
            </a:r>
            <a:r>
              <a:rPr lang="en-US" altLang="zh-CN" sz="12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Ldir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...] [-</a:t>
            </a:r>
            <a:r>
              <a:rPr lang="en-US" altLang="zh-CN" sz="12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Dmacro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[=</a:t>
            </a:r>
            <a:r>
              <a:rPr lang="en-US" altLang="zh-CN" sz="12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defn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]...] ...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3D5C8259-DE65-A061-B23F-DB480EEB3F03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570" y="2311075"/>
            <a:ext cx="464516" cy="55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1227BA9-A6FE-EED8-E21F-ADAD9202FF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8" t="32414" r="24869" b="34031"/>
          <a:stretch>
            <a:fillRect/>
          </a:stretch>
        </p:blipFill>
        <p:spPr>
          <a:xfrm>
            <a:off x="2571467" y="2347425"/>
            <a:ext cx="1233936" cy="46372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63A5CC8C-4AD6-E4E8-98B2-D94FA898C69A}"/>
              </a:ext>
            </a:extLst>
          </p:cNvPr>
          <p:cNvGrpSpPr/>
          <p:nvPr/>
        </p:nvGrpSpPr>
        <p:grpSpPr>
          <a:xfrm>
            <a:off x="2348937" y="3160712"/>
            <a:ext cx="5329835" cy="400110"/>
            <a:chOff x="2404908" y="2718898"/>
            <a:chExt cx="5329835" cy="40011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5A65C95-E1F6-775E-3949-B593A4B4099E}"/>
                </a:ext>
              </a:extLst>
            </p:cNvPr>
            <p:cNvSpPr txBox="1"/>
            <p:nvPr/>
          </p:nvSpPr>
          <p:spPr>
            <a:xfrm>
              <a:off x="2736664" y="2718898"/>
              <a:ext cx="49980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algn="just" defTabSz="457200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关键软件</a:t>
              </a: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高度可配置软件</a:t>
              </a: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的测试存在挑战</a:t>
              </a:r>
              <a:endPara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" name="组合 14">
              <a:extLst>
                <a:ext uri="{FF2B5EF4-FFF2-40B4-BE49-F238E27FC236}">
                  <a16:creationId xmlns:a16="http://schemas.microsoft.com/office/drawing/2014/main" id="{8BC655AD-4381-D8FF-9498-2DFD3FB70B47}"/>
                </a:ext>
              </a:extLst>
            </p:cNvPr>
            <p:cNvGrpSpPr/>
            <p:nvPr/>
          </p:nvGrpSpPr>
          <p:grpSpPr bwMode="auto">
            <a:xfrm>
              <a:off x="2404908" y="2747915"/>
              <a:ext cx="406724" cy="308048"/>
              <a:chOff x="3266249" y="4871496"/>
              <a:chExt cx="430886" cy="318970"/>
            </a:xfrm>
            <a:gradFill>
              <a:gsLst>
                <a:gs pos="0">
                  <a:schemeClr val="bg1"/>
                </a:gs>
                <a:gs pos="98601">
                  <a:schemeClr val="accent1"/>
                </a:gs>
              </a:gsLst>
              <a:lin ang="5400000" scaled="1"/>
            </a:gradFill>
          </p:grpSpPr>
          <p:sp>
            <p:nvSpPr>
              <p:cNvPr id="24" name="箭头: V 形 11">
                <a:extLst>
                  <a:ext uri="{FF2B5EF4-FFF2-40B4-BE49-F238E27FC236}">
                    <a16:creationId xmlns:a16="http://schemas.microsoft.com/office/drawing/2014/main" id="{98E60E96-9DC8-EE3B-37A6-DC3BC1B2E3E6}"/>
                  </a:ext>
                </a:extLst>
              </p:cNvPr>
              <p:cNvSpPr/>
              <p:nvPr/>
            </p:nvSpPr>
            <p:spPr>
              <a:xfrm rot="5400000">
                <a:off x="3397821" y="4739925"/>
                <a:ext cx="167743" cy="430885"/>
              </a:xfrm>
              <a:prstGeom prst="chevron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350" kern="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25" name="箭头: V 形 25">
                <a:extLst>
                  <a:ext uri="{FF2B5EF4-FFF2-40B4-BE49-F238E27FC236}">
                    <a16:creationId xmlns:a16="http://schemas.microsoft.com/office/drawing/2014/main" id="{AD2C83D8-EEB3-DED1-BDB8-7095D5E07F36}"/>
                  </a:ext>
                </a:extLst>
              </p:cNvPr>
              <p:cNvSpPr/>
              <p:nvPr/>
            </p:nvSpPr>
            <p:spPr>
              <a:xfrm rot="5400000">
                <a:off x="3397821" y="4891152"/>
                <a:ext cx="167742" cy="430885"/>
              </a:xfrm>
              <a:prstGeom prst="chevron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350" kern="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F65A07C3-F841-60E6-C75B-DF97D8147502}"/>
              </a:ext>
            </a:extLst>
          </p:cNvPr>
          <p:cNvSpPr txBox="1"/>
          <p:nvPr/>
        </p:nvSpPr>
        <p:spPr>
          <a:xfrm>
            <a:off x="199043" y="1493302"/>
            <a:ext cx="6641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just" defTabSz="4572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defRPr/>
            </a:pPr>
            <a:r>
              <a:rPr kumimoji="0" lang="fr-FR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Linux </a:t>
            </a:r>
            <a:r>
              <a:rPr kumimoji="0" lang="zh-CN" alt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提供了</a:t>
            </a:r>
            <a:r>
              <a:rPr kumimoji="0" lang="fr-FR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 1,200+ </a:t>
            </a:r>
            <a:r>
              <a:rPr kumimoji="0" lang="zh-CN" alt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个选项</a:t>
            </a:r>
            <a:r>
              <a:rPr kumimoji="0" lang="fr-FR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, GCC </a:t>
            </a:r>
            <a:r>
              <a:rPr kumimoji="0" lang="zh-CN" alt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提供了</a:t>
            </a:r>
            <a:r>
              <a:rPr kumimoji="0" lang="fr-FR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 1,000+ </a:t>
            </a:r>
            <a:r>
              <a:rPr kumimoji="0" lang="zh-CN" alt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2509B"/>
                </a:solidFill>
                <a:effectLst/>
                <a:uLnTx/>
                <a:uFillTx/>
                <a:latin typeface="+mn-ea"/>
              </a:rPr>
              <a:t>个选项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2509B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8BF707A-84CE-810E-64C1-3D208EE509B8}"/>
              </a:ext>
            </a:extLst>
          </p:cNvPr>
          <p:cNvGrpSpPr/>
          <p:nvPr/>
        </p:nvGrpSpPr>
        <p:grpSpPr>
          <a:xfrm>
            <a:off x="396722" y="3654709"/>
            <a:ext cx="8303167" cy="2647124"/>
            <a:chOff x="474823" y="3678914"/>
            <a:chExt cx="8843341" cy="2868468"/>
          </a:xfrm>
        </p:grpSpPr>
        <p:sp>
          <p:nvSpPr>
            <p:cNvPr id="56" name="矩形: 圆角 3">
              <a:extLst>
                <a:ext uri="{FF2B5EF4-FFF2-40B4-BE49-F238E27FC236}">
                  <a16:creationId xmlns:a16="http://schemas.microsoft.com/office/drawing/2014/main" id="{3AD782DA-01DF-90BF-E0EB-2AA4F0CDBDF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74825" y="3804283"/>
              <a:ext cx="8843339" cy="2743099"/>
            </a:xfrm>
            <a:prstGeom prst="roundRect">
              <a:avLst>
                <a:gd name="adj" fmla="val 3285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chemeClr val="tx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119570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 dirty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57" name="textbox 46">
              <a:extLst>
                <a:ext uri="{FF2B5EF4-FFF2-40B4-BE49-F238E27FC236}">
                  <a16:creationId xmlns:a16="http://schemas.microsoft.com/office/drawing/2014/main" id="{CC7D28EF-3ECC-D6C5-7FD4-CFB26F05F9EC}"/>
                </a:ext>
              </a:extLst>
            </p:cNvPr>
            <p:cNvSpPr/>
            <p:nvPr/>
          </p:nvSpPr>
          <p:spPr>
            <a:xfrm>
              <a:off x="474823" y="3678914"/>
              <a:ext cx="1852120" cy="448570"/>
            </a:xfrm>
            <a:prstGeom prst="roundRect">
              <a:avLst>
                <a:gd name="adj" fmla="val 4372"/>
              </a:avLst>
            </a:prstGeom>
            <a:solidFill>
              <a:srgbClr val="2E75B6"/>
            </a:solidFill>
            <a:ln w="6350" cap="flat" cmpd="sng" algn="ctr">
              <a:noFill/>
              <a:prstDash val="solid"/>
            </a:ln>
            <a:effectLst>
              <a:outerShdw blurRad="50800" dist="38100" dir="2700000" algn="tl" rotWithShape="0">
                <a:srgbClr val="262B8E">
                  <a:lumMod val="50000"/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119570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Arial"/>
                  <a:ea typeface="微软雅黑"/>
                </a:rPr>
                <a:t>组合测试</a:t>
              </a:r>
              <a:endParaRPr sz="2000" b="1" kern="0" dirty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A22AC582-F453-0A2D-B01D-BA0F1E042291}"/>
                </a:ext>
              </a:extLst>
            </p:cNvPr>
            <p:cNvGrpSpPr/>
            <p:nvPr/>
          </p:nvGrpSpPr>
          <p:grpSpPr>
            <a:xfrm>
              <a:off x="2441718" y="3887216"/>
              <a:ext cx="6838447" cy="2517011"/>
              <a:chOff x="1026321" y="3315409"/>
              <a:chExt cx="6838447" cy="2517011"/>
            </a:xfrm>
          </p:grpSpPr>
          <p:sp>
            <p:nvSpPr>
              <p:cNvPr id="64" name="Content Placeholder 2">
                <a:extLst>
                  <a:ext uri="{FF2B5EF4-FFF2-40B4-BE49-F238E27FC236}">
                    <a16:creationId xmlns:a16="http://schemas.microsoft.com/office/drawing/2014/main" id="{0373067B-84E1-EA90-6F3C-0C08ABDA5F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321" y="5210711"/>
                <a:ext cx="6694373" cy="621709"/>
              </a:xfrm>
              <a:prstGeom prst="rect">
                <a:avLst/>
              </a:prstGeom>
            </p:spPr>
            <p:txBody>
              <a:bodyPr vert="horz" wrap="square" lIns="91440" tIns="91440" rIns="91440" bIns="91440" rtlCol="0">
                <a:spAutoFit/>
              </a:bodyPr>
              <a:lstStyle>
                <a:lvl1pPr marL="228600" marR="0" indent="-228600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28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Segoe UI Semilight" panose="020B0402040204020203" pitchFamily="34" charset="0"/>
                    <a:ea typeface="+mn-ea"/>
                    <a:cs typeface="Segoe UI Semilight" panose="020B0402040204020203" pitchFamily="34" charset="0"/>
                  </a:defRPr>
                </a:lvl1pPr>
                <a:lvl2pPr marL="457200" marR="0" indent="-228600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20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2pPr>
                <a:lvl3pPr marL="657225" marR="0" indent="-200025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16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3pPr>
                <a:lvl4pPr marL="842963" marR="0" indent="-180975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14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4pPr>
                <a:lvl5pPr marL="1023938" marR="0" indent="-168275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14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5pPr>
                <a:lvl6pPr marL="2565040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31412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97783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64155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Segoe UI"/>
                    <a:ea typeface="宋体"/>
                    <a:cs typeface="Calibri"/>
                  </a:rPr>
                  <a:t>t</a:t>
                </a: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Segoe UI"/>
                    <a:ea typeface="宋体"/>
                    <a:cs typeface="Calibri"/>
                  </a:rPr>
                  <a:t>-wise tuple: </a:t>
                </a:r>
                <a:r>
                  <a:rPr kumimoji="0" lang="en-US" altLang="zh-CN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+mn-ea"/>
                    <a:cs typeface="Calibri"/>
                  </a:rPr>
                  <a:t>t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+mn-ea"/>
                    <a:cs typeface="Calibri"/>
                  </a:rPr>
                  <a:t>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+mn-ea"/>
                    <a:cs typeface="Calibri"/>
                  </a:rPr>
                  <a:t>个变量及其取值的组合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4177"/>
                  </a:solidFill>
                  <a:effectLst/>
                  <a:uLnTx/>
                  <a:uFillTx/>
                  <a:latin typeface="+mn-ea"/>
                  <a:cs typeface="Calibri"/>
                </a:endParaRPr>
              </a:p>
              <a:p>
                <a:pPr marL="228600" marR="0" lvl="0" indent="-228600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+mn-ea"/>
                    <a:cs typeface="Calibri"/>
                  </a:rPr>
                  <a:t>e.g., (P1=0, P2=1) :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+mn-ea"/>
                    <a:cs typeface="Calibri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4177"/>
                    </a:solidFill>
                    <a:effectLst/>
                    <a:uLnTx/>
                    <a:uFillTx/>
                    <a:latin typeface="+mn-ea"/>
                    <a:cs typeface="Calibri"/>
                  </a:rPr>
                  <a:t>2-wise tuple	e.g., (P1=0, P2=1, P3=1) : 3-wise tuple</a:t>
                </a:r>
              </a:p>
            </p:txBody>
          </p: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D5C2B2B7-535A-B3C6-8C44-DD27D92C6492}"/>
                  </a:ext>
                </a:extLst>
              </p:cNvPr>
              <p:cNvGrpSpPr/>
              <p:nvPr/>
            </p:nvGrpSpPr>
            <p:grpSpPr>
              <a:xfrm>
                <a:off x="1070356" y="3375105"/>
                <a:ext cx="6794412" cy="1928163"/>
                <a:chOff x="213941" y="1013000"/>
                <a:chExt cx="6794412" cy="192816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8" name="Table 11">
                      <a:extLst>
                        <a:ext uri="{FF2B5EF4-FFF2-40B4-BE49-F238E27FC236}">
                          <a16:creationId xmlns:a16="http://schemas.microsoft.com/office/drawing/2014/main" id="{7435F8E9-2DF0-F16E-38E3-E2F311ECAA6D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501872"/>
                        </p:ext>
                      </p:extLst>
                    </p:nvPr>
                  </p:nvGraphicFramePr>
                  <p:xfrm>
                    <a:off x="213941" y="1913751"/>
                    <a:ext cx="2696015" cy="742806"/>
                  </p:xfrm>
                  <a:graphic>
                    <a:graphicData uri="http://schemas.openxmlformats.org/drawingml/2006/table">
                      <a:tbl>
                        <a:tblPr firstRow="1" bandRow="1"/>
                        <a:tblGrid>
                          <a:gridCol w="499551">
                            <a:extLst>
                              <a:ext uri="{9D8B030D-6E8A-4147-A177-3AD203B41FA5}">
                                <a16:colId xmlns:a16="http://schemas.microsoft.com/office/drawing/2014/main" val="1299568051"/>
                              </a:ext>
                            </a:extLst>
                          </a:gridCol>
                          <a:gridCol w="499551">
                            <a:extLst>
                              <a:ext uri="{9D8B030D-6E8A-4147-A177-3AD203B41FA5}">
                                <a16:colId xmlns:a16="http://schemas.microsoft.com/office/drawing/2014/main" val="497192919"/>
                              </a:ext>
                            </a:extLst>
                          </a:gridCol>
                          <a:gridCol w="517942">
                            <a:extLst>
                              <a:ext uri="{9D8B030D-6E8A-4147-A177-3AD203B41FA5}">
                                <a16:colId xmlns:a16="http://schemas.microsoft.com/office/drawing/2014/main" val="2367148397"/>
                              </a:ext>
                            </a:extLst>
                          </a:gridCol>
                          <a:gridCol w="503756">
                            <a:extLst>
                              <a:ext uri="{9D8B030D-6E8A-4147-A177-3AD203B41FA5}">
                                <a16:colId xmlns:a16="http://schemas.microsoft.com/office/drawing/2014/main" val="2878023119"/>
                              </a:ext>
                            </a:extLst>
                          </a:gridCol>
                          <a:gridCol w="510536">
                            <a:extLst>
                              <a:ext uri="{9D8B030D-6E8A-4147-A177-3AD203B41FA5}">
                                <a16:colId xmlns:a16="http://schemas.microsoft.com/office/drawing/2014/main" val="2410529162"/>
                              </a:ext>
                            </a:extLst>
                          </a:gridCol>
                        </a:tblGrid>
                        <a:tr h="301790"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100" b="1" dirty="0">
                                    <a:solidFill>
                                      <a:srgbClr val="214177"/>
                                    </a:solidFill>
                                    <a:latin typeface="+mj-lt"/>
                                  </a:rPr>
                                  <a:t>P1</a:t>
                                </a:r>
                              </a:p>
                              <a:p>
                                <a:pPr algn="ctr"/>
                                <a:r>
                                  <a:rPr lang="en-US" sz="1100" b="1" dirty="0">
                                    <a:solidFill>
                                      <a:srgbClr val="214177"/>
                                    </a:solidFill>
                                    <a:latin typeface="+mj-lt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+mn-ea"/>
                                    <a:cs typeface="+mn-cs"/>
                                  </a:rPr>
                                  <a:t>P2</a:t>
                                </a:r>
                              </a:p>
                              <a:p>
                                <a:pPr algn="ctr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+mn-ea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P3</a:t>
                                </a:r>
                              </a:p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P4</a:t>
                                </a:r>
                              </a:p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14400" rtl="0" eaLnBrk="1" latinLnBrk="0" hangingPunct="1"/>
                                <a:r>
                                  <a:rPr lang="en-US" altLang="zh-CN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P5</a:t>
                                </a:r>
                              </a:p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400448293"/>
                            </a:ext>
                          </a:extLst>
                        </a:tr>
                        <a:tr h="263163"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32742" rtl="0" eaLnBrk="1" latinLnBrk="0" hangingPunct="1"/>
                                <a:r>
                                  <a:rPr lang="en-US" sz="1300" kern="1200">
                                    <a:solidFill>
                                      <a:srgbClr val="214177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a:t>0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1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1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1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0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905761705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8" name="Table 11">
                      <a:extLst>
                        <a:ext uri="{FF2B5EF4-FFF2-40B4-BE49-F238E27FC236}">
                          <a16:creationId xmlns:a16="http://schemas.microsoft.com/office/drawing/2014/main" id="{7435F8E9-2DF0-F16E-38E3-E2F311ECAA6D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501872"/>
                        </p:ext>
                      </p:extLst>
                    </p:nvPr>
                  </p:nvGraphicFramePr>
                  <p:xfrm>
                    <a:off x="213941" y="1913751"/>
                    <a:ext cx="2696015" cy="742806"/>
                  </p:xfrm>
                  <a:graphic>
                    <a:graphicData uri="http://schemas.openxmlformats.org/drawingml/2006/table">
                      <a:tbl>
                        <a:tblPr firstRow="1" bandRow="1"/>
                        <a:tblGrid>
                          <a:gridCol w="499551">
                            <a:extLst>
                              <a:ext uri="{9D8B030D-6E8A-4147-A177-3AD203B41FA5}">
                                <a16:colId xmlns:a16="http://schemas.microsoft.com/office/drawing/2014/main" val="1299568051"/>
                              </a:ext>
                            </a:extLst>
                          </a:gridCol>
                          <a:gridCol w="499551">
                            <a:extLst>
                              <a:ext uri="{9D8B030D-6E8A-4147-A177-3AD203B41FA5}">
                                <a16:colId xmlns:a16="http://schemas.microsoft.com/office/drawing/2014/main" val="497192919"/>
                              </a:ext>
                            </a:extLst>
                          </a:gridCol>
                          <a:gridCol w="517942">
                            <a:extLst>
                              <a:ext uri="{9D8B030D-6E8A-4147-A177-3AD203B41FA5}">
                                <a16:colId xmlns:a16="http://schemas.microsoft.com/office/drawing/2014/main" val="2367148397"/>
                              </a:ext>
                            </a:extLst>
                          </a:gridCol>
                          <a:gridCol w="503756">
                            <a:extLst>
                              <a:ext uri="{9D8B030D-6E8A-4147-A177-3AD203B41FA5}">
                                <a16:colId xmlns:a16="http://schemas.microsoft.com/office/drawing/2014/main" val="2878023119"/>
                              </a:ext>
                            </a:extLst>
                          </a:gridCol>
                          <a:gridCol w="510536">
                            <a:extLst>
                              <a:ext uri="{9D8B030D-6E8A-4147-A177-3AD203B41FA5}">
                                <a16:colId xmlns:a16="http://schemas.microsoft.com/office/drawing/2014/main" val="2410529162"/>
                              </a:ext>
                            </a:extLst>
                          </a:gridCol>
                        </a:tblGrid>
                        <a:tr h="301790"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100" b="1" dirty="0">
                                    <a:solidFill>
                                      <a:srgbClr val="214177"/>
                                    </a:solidFill>
                                    <a:latin typeface="+mj-lt"/>
                                  </a:rPr>
                                  <a:t>P1</a:t>
                                </a:r>
                              </a:p>
                              <a:p>
                                <a:pPr algn="ctr"/>
                                <a:r>
                                  <a:rPr lang="en-US" sz="1100" b="1" dirty="0">
                                    <a:solidFill>
                                      <a:srgbClr val="214177"/>
                                    </a:solidFill>
                                    <a:latin typeface="+mj-lt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+mn-ea"/>
                                    <a:cs typeface="+mn-cs"/>
                                  </a:rPr>
                                  <a:t>P2</a:t>
                                </a:r>
                              </a:p>
                              <a:p>
                                <a:pPr algn="ctr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+mn-ea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P3</a:t>
                                </a:r>
                              </a:p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P4</a:t>
                                </a:r>
                              </a:p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b="1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14400" rtl="0" eaLnBrk="1" latinLnBrk="0" hangingPunct="1"/>
                                <a:r>
                                  <a:rPr lang="en-US" altLang="zh-CN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P5</a:t>
                                </a:r>
                              </a:p>
                              <a:p>
                                <a:pPr marL="0" algn="ctr" defTabSz="914400" rtl="0" eaLnBrk="1" latinLnBrk="0" hangingPunct="1"/>
                                <a:r>
                                  <a:rPr lang="en-US" sz="1100" b="1" kern="1200" dirty="0">
                                    <a:solidFill>
                                      <a:srgbClr val="214177"/>
                                    </a:solidFill>
                                    <a:latin typeface="+mj-lt"/>
                                    <a:ea typeface="微软雅黑"/>
                                    <a:cs typeface="+mn-cs"/>
                                  </a:rPr>
                                  <a:t>{0, 1}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noFill/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400448293"/>
                            </a:ext>
                          </a:extLst>
                        </a:tr>
                        <a:tr h="263163"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marL="0" algn="ctr" defTabSz="932742" rtl="0" eaLnBrk="1" latinLnBrk="0" hangingPunct="1"/>
                                <a:r>
                                  <a:rPr lang="en-US" sz="1300" kern="1200">
                                    <a:solidFill>
                                      <a:srgbClr val="214177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a:t>0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1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1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1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tc>
                            <a:txBody>
                              <a:bodyPr/>
                              <a:lstStyle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tx1"/>
                                    </a:solidFill>
                                    <a:latin typeface="Segoe UI"/>
                                    <a:ea typeface="微软雅黑"/>
                                  </a:defRPr>
                                </a:lvl9pPr>
                              </a:lstStyle>
                              <a:p>
                                <a:pPr algn="ctr"/>
                                <a:r>
                                  <a:rPr lang="en-US" sz="1300" dirty="0">
                                    <a:solidFill>
                                      <a:srgbClr val="214177"/>
                                    </a:solidFill>
                                  </a:rPr>
                                  <a:t>0</a:t>
                                </a:r>
                              </a:p>
                            </a:txBody>
                            <a:tcPr marL="76043" marR="76043" marT="38022" marB="38022" anchor="ctr">
                              <a:lnL>
                                <a:noFill/>
                              </a:lnL>
                              <a:lnR>
                                <a:noFill/>
                              </a:lnR>
                              <a:lnT w="12700" cmpd="sng">
                                <a:solidFill>
                                  <a:srgbClr val="737373"/>
                                </a:solidFill>
                              </a:lnT>
                              <a:lnB w="12700" cmpd="sng">
                                <a:solidFill>
                                  <a:srgbClr val="737373"/>
                                </a:solidFill>
                              </a:lnB>
                              <a:lnTlToBr w="12700" cmpd="sng">
                                <a:noFill/>
                                <a:prstDash val="solid"/>
                              </a:lnTlToBr>
                              <a:lnBlToTr w="12700" cmpd="sng">
                                <a:noFill/>
                                <a:prstDash val="solid"/>
                              </a:lnBlToTr>
                              <a:solidFill>
                                <a:srgbClr val="769FCD">
                                  <a:alpha val="20000"/>
                                </a:srgb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905761705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p:sp>
              <p:nvSpPr>
                <p:cNvPr id="69" name="Arrow: Right 4">
                  <a:extLst>
                    <a:ext uri="{FF2B5EF4-FFF2-40B4-BE49-F238E27FC236}">
                      <a16:creationId xmlns:a16="http://schemas.microsoft.com/office/drawing/2014/main" id="{8B77FD9D-CF3C-CC3E-FD68-D0B3006665CE}"/>
                    </a:ext>
                  </a:extLst>
                </p:cNvPr>
                <p:cNvSpPr/>
                <p:nvPr/>
              </p:nvSpPr>
              <p:spPr bwMode="auto">
                <a:xfrm>
                  <a:off x="3602045" y="1467236"/>
                  <a:ext cx="348355" cy="242277"/>
                </a:xfrm>
                <a:prstGeom prst="rightArrow">
                  <a:avLst/>
                </a:prstGeom>
                <a:solidFill>
                  <a:srgbClr val="769FCD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0" name="Arrow: Right 14">
                  <a:extLst>
                    <a:ext uri="{FF2B5EF4-FFF2-40B4-BE49-F238E27FC236}">
                      <a16:creationId xmlns:a16="http://schemas.microsoft.com/office/drawing/2014/main" id="{794AC396-EE12-60B1-ACF4-E5AEDEA73432}"/>
                    </a:ext>
                  </a:extLst>
                </p:cNvPr>
                <p:cNvSpPr/>
                <p:nvPr/>
              </p:nvSpPr>
              <p:spPr bwMode="auto">
                <a:xfrm>
                  <a:off x="3602045" y="2219431"/>
                  <a:ext cx="348355" cy="242277"/>
                </a:xfrm>
                <a:prstGeom prst="rightArrow">
                  <a:avLst/>
                </a:prstGeom>
                <a:solidFill>
                  <a:srgbClr val="769FCD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1" name="TextBox 16">
                  <a:extLst>
                    <a:ext uri="{FF2B5EF4-FFF2-40B4-BE49-F238E27FC236}">
                      <a16:creationId xmlns:a16="http://schemas.microsoft.com/office/drawing/2014/main" id="{204ED457-6DDB-4D41-9E8F-77E779B07D0A}"/>
                    </a:ext>
                  </a:extLst>
                </p:cNvPr>
                <p:cNvSpPr txBox="1"/>
                <p:nvPr/>
              </p:nvSpPr>
              <p:spPr>
                <a:xfrm>
                  <a:off x="3247431" y="1029139"/>
                  <a:ext cx="1140981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Segoe UI"/>
                    </a:rPr>
                    <a:t>Covered 2-wise tuples</a:t>
                  </a:r>
                </a:p>
              </p:txBody>
            </p:sp>
            <p:sp>
              <p:nvSpPr>
                <p:cNvPr id="72" name="TextBox 18">
                  <a:extLst>
                    <a:ext uri="{FF2B5EF4-FFF2-40B4-BE49-F238E27FC236}">
                      <a16:creationId xmlns:a16="http://schemas.microsoft.com/office/drawing/2014/main" id="{C6C30542-925C-7CC4-33C4-757AFBCDA949}"/>
                    </a:ext>
                  </a:extLst>
                </p:cNvPr>
                <p:cNvSpPr txBox="1"/>
                <p:nvPr/>
              </p:nvSpPr>
              <p:spPr>
                <a:xfrm>
                  <a:off x="3247431" y="2510051"/>
                  <a:ext cx="1257300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Segoe UI"/>
                    </a:rPr>
                    <a:t>Covered 3-wise tuples</a:t>
                  </a:r>
                </a:p>
              </p:txBody>
            </p:sp>
            <p:sp>
              <p:nvSpPr>
                <p:cNvPr id="73" name="Left Brace 6">
                  <a:extLst>
                    <a:ext uri="{FF2B5EF4-FFF2-40B4-BE49-F238E27FC236}">
                      <a16:creationId xmlns:a16="http://schemas.microsoft.com/office/drawing/2014/main" id="{F301B176-1473-877A-CFEC-FC019950E5BE}"/>
                    </a:ext>
                  </a:extLst>
                </p:cNvPr>
                <p:cNvSpPr/>
                <p:nvPr/>
              </p:nvSpPr>
              <p:spPr>
                <a:xfrm>
                  <a:off x="2976524" y="1133710"/>
                  <a:ext cx="218846" cy="1522848"/>
                </a:xfrm>
                <a:prstGeom prst="leftBrace">
                  <a:avLst>
                    <a:gd name="adj1" fmla="val 46171"/>
                    <a:gd name="adj2" fmla="val 50000"/>
                  </a:avLst>
                </a:prstGeom>
                <a:noFill/>
                <a:ln w="9525" cap="flat" cmpd="sng" algn="ctr">
                  <a:solidFill>
                    <a:srgbClr val="3667A6"/>
                  </a:solidFill>
                  <a:prstDash val="solid"/>
                  <a:headEnd type="none" w="lg" len="med"/>
                  <a:tailEnd type="none" w="lg" len="me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6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765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A1A1A"/>
                    </a:solidFill>
                    <a:effectLst/>
                    <a:uLnTx/>
                    <a:uFillTx/>
                    <a:latin typeface="Segoe UI"/>
                  </a:endParaRPr>
                </a:p>
              </p:txBody>
            </p:sp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83A84130-494D-3227-08A9-758CF0B70BDF}"/>
                    </a:ext>
                  </a:extLst>
                </p:cNvPr>
                <p:cNvSpPr/>
                <p:nvPr/>
              </p:nvSpPr>
              <p:spPr>
                <a:xfrm>
                  <a:off x="4548934" y="1013000"/>
                  <a:ext cx="2386957" cy="854180"/>
                </a:xfrm>
                <a:prstGeom prst="rect">
                  <a:avLst/>
                </a:prstGeom>
                <a:solidFill>
                  <a:srgbClr val="F7FBFC"/>
                </a:solidFill>
                <a:ln w="12700" cap="flat" cmpd="sng" algn="ctr">
                  <a:solidFill>
                    <a:srgbClr val="3667A6"/>
                  </a:solidFill>
                  <a:prstDash val="dash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9B27FFC-D4E2-5DEA-647A-EBA5C6D6E958}"/>
                    </a:ext>
                  </a:extLst>
                </p:cNvPr>
                <p:cNvSpPr txBox="1"/>
                <p:nvPr/>
              </p:nvSpPr>
              <p:spPr>
                <a:xfrm>
                  <a:off x="4610453" y="1064675"/>
                  <a:ext cx="2253825" cy="7463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宋体"/>
                      <a:cs typeface="Calibri"/>
                    </a:rPr>
                    <a:t>List of </a:t>
                  </a:r>
                  <a:r>
                    <a:rPr lang="en-US" altLang="zh-CN" sz="1100" kern="0" dirty="0">
                      <a:solidFill>
                        <a:srgbClr val="214177"/>
                      </a:solidFill>
                      <a:latin typeface="Cambria Math" panose="02040503050406030204" pitchFamily="18" charset="0"/>
                      <a:ea typeface="宋体"/>
                      <a:cs typeface="Calibri"/>
                    </a:rPr>
                    <a:t>5</a:t>
                  </a:r>
                  <a:r>
                    <a:rPr kumimoji="0" lang="en-US" altLang="zh-CN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宋体"/>
                      <a:cs typeface="Calibri"/>
                    </a:rPr>
                    <a:t> covered 2-wise tuples</a:t>
                  </a:r>
                </a:p>
                <a:p>
                  <a:pPr marL="0" marR="0" lvl="0" indent="0" algn="ctr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宋体"/>
                      <a:cs typeface="Calibri"/>
                    </a:rPr>
                    <a:t>(P1=0, P2=1), (P1=0, P3=1), (P1=0, P4=1), (P1=0, P5=0), (P2=1, P3=1)</a:t>
                  </a:r>
                </a:p>
              </p:txBody>
            </p:sp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4A593E59-E391-2095-529A-7C2BCB7FBF16}"/>
                    </a:ext>
                  </a:extLst>
                </p:cNvPr>
                <p:cNvSpPr/>
                <p:nvPr/>
              </p:nvSpPr>
              <p:spPr>
                <a:xfrm>
                  <a:off x="4548934" y="2086983"/>
                  <a:ext cx="2386957" cy="854180"/>
                </a:xfrm>
                <a:prstGeom prst="rect">
                  <a:avLst/>
                </a:prstGeom>
                <a:solidFill>
                  <a:srgbClr val="F7FBFC"/>
                </a:solidFill>
                <a:ln w="12700" cap="flat" cmpd="sng" algn="ctr">
                  <a:solidFill>
                    <a:srgbClr val="3667A6"/>
                  </a:solidFill>
                  <a:prstDash val="dash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C466CDA8-E875-A75C-1427-B4657F7F2EA2}"/>
                    </a:ext>
                  </a:extLst>
                </p:cNvPr>
                <p:cNvSpPr txBox="1"/>
                <p:nvPr/>
              </p:nvSpPr>
              <p:spPr>
                <a:xfrm>
                  <a:off x="4482367" y="2145097"/>
                  <a:ext cx="2525986" cy="7463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宋体"/>
                      <a:cs typeface="Calibri"/>
                    </a:rPr>
                    <a:t>List of </a:t>
                  </a:r>
                  <a:r>
                    <a:rPr lang="en-US" altLang="zh-CN" sz="1100" kern="0" dirty="0">
                      <a:solidFill>
                        <a:srgbClr val="214177"/>
                      </a:solidFill>
                      <a:latin typeface="Cambria Math" panose="02040503050406030204" pitchFamily="18" charset="0"/>
                      <a:ea typeface="宋体"/>
                      <a:cs typeface="Calibri"/>
                    </a:rPr>
                    <a:t>5</a:t>
                  </a:r>
                  <a:r>
                    <a:rPr kumimoji="0" lang="en-US" altLang="zh-CN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宋体"/>
                      <a:cs typeface="Calibri"/>
                    </a:rPr>
                    <a:t> covered 3-wise tuples:</a:t>
                  </a:r>
                </a:p>
                <a:p>
                  <a:pPr marL="0" marR="0" lvl="0" indent="0" algn="ctr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宋体"/>
                      <a:cs typeface="Calibri"/>
                    </a:rPr>
                    <a:t>(P1=0, P2=1, P3=1), (P1=0, P2=1, P4=1), (P1=0, P2=1, P5=0), (P1=0, P3=1, P4=1), (P1=0, P3=1, P5=0), 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Content Placeholder 2">
                    <a:extLst>
                      <a:ext uri="{FF2B5EF4-FFF2-40B4-BE49-F238E27FC236}">
                        <a16:creationId xmlns:a16="http://schemas.microsoft.com/office/drawing/2014/main" id="{71BB9BD5-88CD-7D8C-25A2-7FBADED8C4C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070356" y="3315409"/>
                    <a:ext cx="3009237" cy="430887"/>
                  </a:xfrm>
                  <a:prstGeom prst="rect">
                    <a:avLst/>
                  </a:prstGeom>
                </p:spPr>
                <p:txBody>
                  <a:bodyPr vert="horz" wrap="square" lIns="91440" tIns="91440" rIns="91440" bIns="91440" rtlCol="0">
                    <a:spAutoFit/>
                  </a:bodyPr>
                  <a:lstStyle>
                    <a:lvl1pPr marL="228600" marR="0" indent="-228600" algn="l" defTabSz="932742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Tx/>
                      <a:buSzPct val="90000"/>
                      <a:buFont typeface="Wingdings" panose="05000000000000000000" pitchFamily="2" charset="2"/>
                      <a:buChar char=""/>
                      <a:tabLst/>
                      <a:defRPr sz="2800" kern="1200" spc="0" baseline="0">
                        <a:gradFill>
                          <a:gsLst>
                            <a:gs pos="125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Segoe UI Semilight" panose="020B0402040204020203" pitchFamily="34" charset="0"/>
                        <a:ea typeface="+mn-ea"/>
                        <a:cs typeface="Segoe UI Semilight" panose="020B0402040204020203" pitchFamily="34" charset="0"/>
                      </a:defRPr>
                    </a:lvl1pPr>
                    <a:lvl2pPr marL="457200" marR="0" indent="-228600" algn="l" defTabSz="932742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Tx/>
                      <a:buSzPct val="90000"/>
                      <a:buFont typeface="Wingdings" panose="05000000000000000000" pitchFamily="2" charset="2"/>
                      <a:buChar char=""/>
                      <a:tabLst/>
                      <a:defRPr sz="2000" kern="1200" spc="0" baseline="0">
                        <a:gradFill>
                          <a:gsLst>
                            <a:gs pos="125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+mn-lt"/>
                        <a:ea typeface="+mn-ea"/>
                        <a:cs typeface="+mn-cs"/>
                      </a:defRPr>
                    </a:lvl2pPr>
                    <a:lvl3pPr marL="657225" marR="0" indent="-200025" algn="l" defTabSz="932742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Tx/>
                      <a:buSzPct val="90000"/>
                      <a:buFont typeface="Wingdings" panose="05000000000000000000" pitchFamily="2" charset="2"/>
                      <a:buChar char=""/>
                      <a:tabLst/>
                      <a:defRPr sz="1600" kern="1200" spc="0" baseline="0">
                        <a:gradFill>
                          <a:gsLst>
                            <a:gs pos="125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+mn-lt"/>
                        <a:ea typeface="+mn-ea"/>
                        <a:cs typeface="+mn-cs"/>
                      </a:defRPr>
                    </a:lvl3pPr>
                    <a:lvl4pPr marL="842963" marR="0" indent="-180975" algn="l" defTabSz="932742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Tx/>
                      <a:buSzPct val="90000"/>
                      <a:buFont typeface="Wingdings" panose="05000000000000000000" pitchFamily="2" charset="2"/>
                      <a:buChar char=""/>
                      <a:tabLst/>
                      <a:defRPr sz="1400" kern="1200" spc="0" baseline="0">
                        <a:gradFill>
                          <a:gsLst>
                            <a:gs pos="125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+mn-lt"/>
                        <a:ea typeface="+mn-ea"/>
                        <a:cs typeface="+mn-cs"/>
                      </a:defRPr>
                    </a:lvl4pPr>
                    <a:lvl5pPr marL="1023938" marR="0" indent="-168275" algn="l" defTabSz="932742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Tx/>
                      <a:buSzPct val="90000"/>
                      <a:buFont typeface="Wingdings" panose="05000000000000000000" pitchFamily="2" charset="2"/>
                      <a:buChar char=""/>
                      <a:tabLst/>
                      <a:defRPr sz="1400" kern="1200" spc="0" baseline="0">
                        <a:gradFill>
                          <a:gsLst>
                            <a:gs pos="125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+mn-lt"/>
                        <a:ea typeface="+mn-ea"/>
                        <a:cs typeface="+mn-cs"/>
                      </a:defRPr>
                    </a:lvl5pPr>
                    <a:lvl6pPr marL="2565040" indent="-233186" algn="l" defTabSz="932742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3031412" indent="-233186" algn="l" defTabSz="932742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97783" indent="-233186" algn="l" defTabSz="932742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964155" indent="-233186" algn="l" defTabSz="932742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32742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Tx/>
                      <a:buSzPct val="90000"/>
                      <a:buFont typeface="Wingdings" panose="05000000000000000000" pitchFamily="2" charset="2"/>
                      <a:buNone/>
                      <a:tabLst/>
                      <a:defRPr/>
                    </a:pPr>
                    <a:r>
                      <a:rPr kumimoji="0" lang="en-US" altLang="zh-CN" sz="1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4177"/>
                        </a:solidFill>
                        <a:effectLst/>
                        <a:uLnTx/>
                        <a:uFillTx/>
                        <a:latin typeface="Segoe UI"/>
                        <a:ea typeface="宋体"/>
                        <a:cs typeface="Calibri"/>
                      </a:rPr>
                      <a:t>t : Strength </a:t>
                    </a:r>
                    <a14:m>
                      <m:oMath xmlns:m="http://schemas.openxmlformats.org/officeDocument/2006/math">
                        <m:r>
                          <a:rPr kumimoji="0" lang="en-US" altLang="zh-CN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1417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/>
                            <a:cs typeface="Calibri"/>
                          </a:rPr>
                          <m:t>𝟐</m:t>
                        </m:r>
                        <m:r>
                          <a:rPr kumimoji="0" lang="en-US" altLang="zh-CN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1417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r>
                          <a:rPr kumimoji="0" lang="en-US" altLang="zh-CN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1417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𝒕</m:t>
                        </m:r>
                        <m:r>
                          <a:rPr kumimoji="0" lang="en-US" altLang="zh-CN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1417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r>
                          <a:rPr kumimoji="0" lang="en-US" altLang="zh-CN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1417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𝟔</m:t>
                        </m:r>
                      </m:oMath>
                    </a14:m>
                    <a:endPara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14177"/>
                      </a:solidFill>
                      <a:effectLst/>
                      <a:uLnTx/>
                      <a:uFillTx/>
                      <a:latin typeface="Segoe UI"/>
                      <a:ea typeface="宋体"/>
                      <a:cs typeface="Calibri"/>
                    </a:endParaRPr>
                  </a:p>
                </p:txBody>
              </p:sp>
            </mc:Choice>
            <mc:Fallback xmlns="">
              <p:sp>
                <p:nvSpPr>
                  <p:cNvPr id="66" name="Content Placeholder 2">
                    <a:extLst>
                      <a:ext uri="{FF2B5EF4-FFF2-40B4-BE49-F238E27FC236}">
                        <a16:creationId xmlns:a16="http://schemas.microsoft.com/office/drawing/2014/main" id="{71BB9BD5-88CD-7D8C-25A2-7FBADED8C4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356" y="3315409"/>
                    <a:ext cx="3009237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296" b="-1538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Content Placeholder 2">
                <a:extLst>
                  <a:ext uri="{FF2B5EF4-FFF2-40B4-BE49-F238E27FC236}">
                    <a16:creationId xmlns:a16="http://schemas.microsoft.com/office/drawing/2014/main" id="{BBDF1A80-38C6-AD59-4245-64BA9FE20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2769" y="3811843"/>
                <a:ext cx="1369517" cy="415498"/>
              </a:xfrm>
              <a:prstGeom prst="rect">
                <a:avLst/>
              </a:prstGeom>
            </p:spPr>
            <p:txBody>
              <a:bodyPr vert="horz" wrap="square" lIns="91440" tIns="91440" rIns="91440" bIns="91440" rtlCol="0">
                <a:spAutoFit/>
              </a:bodyPr>
              <a:lstStyle>
                <a:lvl1pPr marL="228600" marR="0" indent="-228600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28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Segoe UI Semilight" panose="020B0402040204020203" pitchFamily="34" charset="0"/>
                    <a:ea typeface="+mn-ea"/>
                    <a:cs typeface="Segoe UI Semilight" panose="020B0402040204020203" pitchFamily="34" charset="0"/>
                  </a:defRPr>
                </a:lvl1pPr>
                <a:lvl2pPr marL="457200" marR="0" indent="-228600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20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2pPr>
                <a:lvl3pPr marL="657225" marR="0" indent="-200025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16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3pPr>
                <a:lvl4pPr marL="842963" marR="0" indent="-180975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14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4pPr>
                <a:lvl5pPr marL="1023938" marR="0" indent="-168275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Char char=""/>
                  <a:tabLst/>
                  <a:defRPr sz="1400" kern="1200" spc="0" baseline="0">
                    <a:gradFill>
                      <a:gsLst>
                        <a:gs pos="125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+mn-ea"/>
                    <a:cs typeface="+mn-cs"/>
                  </a:defRPr>
                </a:lvl5pPr>
                <a:lvl6pPr marL="2565040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31412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97783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64155" indent="-233186" algn="l" defTabSz="93274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67A6"/>
                    </a:solidFill>
                    <a:effectLst/>
                    <a:uLnTx/>
                    <a:uFillTx/>
                    <a:latin typeface="+mj-ea"/>
                    <a:ea typeface="+mj-ea"/>
                    <a:cs typeface="Calibri"/>
                  </a:rPr>
                  <a:t>一组测试用例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667A6"/>
                  </a:solidFill>
                  <a:effectLst/>
                  <a:uLnTx/>
                  <a:uFillTx/>
                  <a:latin typeface="+mj-ea"/>
                  <a:ea typeface="+mj-ea"/>
                  <a:cs typeface="Calibri"/>
                </a:endParaRPr>
              </a:p>
            </p:txBody>
          </p:sp>
        </p:grp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700F6E88-39E8-0A03-2CD5-95CA4426C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9408" y="4394872"/>
              <a:ext cx="1369517" cy="834550"/>
            </a:xfrm>
            <a:prstGeom prst="rect">
              <a:avLst/>
            </a:prstGeom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3AB7D658-4198-BBF8-5757-7C593F427804}"/>
                </a:ext>
              </a:extLst>
            </p:cNvPr>
            <p:cNvSpPr txBox="1"/>
            <p:nvPr/>
          </p:nvSpPr>
          <p:spPr>
            <a:xfrm>
              <a:off x="630565" y="5354790"/>
              <a:ext cx="1621735" cy="621710"/>
            </a:xfrm>
            <a:prstGeom prst="rect">
              <a:avLst/>
            </a:prstGeom>
            <a:solidFill>
              <a:srgbClr val="FF0000">
                <a:alpha val="6000"/>
              </a:srgbClr>
            </a:solidFill>
            <a:ln w="3175">
              <a:solidFill>
                <a:srgbClr val="C00000"/>
              </a:solidFill>
            </a:ln>
          </p:spPr>
          <p:txBody>
            <a:bodyPr wrap="square" anchor="ctr">
              <a:noAutofit/>
            </a:bodyPr>
            <a:lstStyle/>
            <a:p>
              <a:pPr marL="0" lvl="1" algn="ctr" defTabSz="457200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绝大部分故障是由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2-6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个选项交互导致</a:t>
              </a:r>
            </a:p>
          </p:txBody>
        </p:sp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A46FB123-5605-BD43-E9C0-481C67C55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0659" y="5938986"/>
              <a:ext cx="543589" cy="543589"/>
            </a:xfrm>
            <a:prstGeom prst="rect">
              <a:avLst/>
            </a:prstGeom>
          </p:spPr>
        </p:pic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F1F98308-A47D-6973-1AD7-B8ACD1F6F6B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32344"/>
          <a:stretch>
            <a:fillRect/>
          </a:stretch>
        </p:blipFill>
        <p:spPr>
          <a:xfrm>
            <a:off x="6376853" y="1174806"/>
            <a:ext cx="2015900" cy="565558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D1F5C947-13DC-AA64-2613-53406689598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991" r="7697"/>
          <a:stretch>
            <a:fillRect/>
          </a:stretch>
        </p:blipFill>
        <p:spPr>
          <a:xfrm>
            <a:off x="6283495" y="1752899"/>
            <a:ext cx="1517809" cy="7975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0CEE7711-63E6-9297-BF3C-26E9D286383A}"/>
                  </a:ext>
                </a:extLst>
              </p:cNvPr>
              <p:cNvSpPr/>
              <p:nvPr/>
            </p:nvSpPr>
            <p:spPr>
              <a:xfrm>
                <a:off x="6643536" y="2465604"/>
                <a:ext cx="2582825" cy="5907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𝟒𝟎</m:t>
                          </m:r>
                        </m:sup>
                      </m:sSup>
                      <m:r>
                        <a:rPr lang="en-US" altLang="zh-CN" sz="1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1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𝟏</m:t>
                      </m:r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,</m:t>
                      </m:r>
                      <m:r>
                        <a:rPr lang="en-US" altLang="zh-CN" sz="1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𝟎𝟗𝟗</m:t>
                      </m:r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,</m:t>
                      </m:r>
                      <m:r>
                        <a:rPr lang="en-US" altLang="zh-CN" sz="1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𝟓𝟏𝟏</m:t>
                      </m:r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,</m:t>
                      </m:r>
                      <m:r>
                        <a:rPr lang="en-US" altLang="zh-CN" sz="1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𝟔𝟐𝟕</m:t>
                      </m:r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,</m:t>
                      </m:r>
                      <m:r>
                        <a:rPr lang="en-US" altLang="zh-CN" sz="1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𝟕𝟕𝟔</m:t>
                      </m:r>
                    </m:oMath>
                  </m:oMathPara>
                </a14:m>
                <a:endParaRPr lang="en-US" altLang="zh-CN" sz="1200" b="1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0CEE7711-63E6-9297-BF3C-26E9D2863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536" y="2465604"/>
                <a:ext cx="2582825" cy="59071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文本框 80">
            <a:extLst>
              <a:ext uri="{FF2B5EF4-FFF2-40B4-BE49-F238E27FC236}">
                <a16:creationId xmlns:a16="http://schemas.microsoft.com/office/drawing/2014/main" id="{86D5DE7B-4788-F5AC-5DAC-F4462764C890}"/>
              </a:ext>
            </a:extLst>
          </p:cNvPr>
          <p:cNvSpPr txBox="1"/>
          <p:nvPr/>
        </p:nvSpPr>
        <p:spPr>
          <a:xfrm>
            <a:off x="7828804" y="1922625"/>
            <a:ext cx="1138232" cy="455561"/>
          </a:xfrm>
          <a:prstGeom prst="rect">
            <a:avLst/>
          </a:prstGeom>
          <a:solidFill>
            <a:srgbClr val="FF0000">
              <a:alpha val="6000"/>
            </a:srgbClr>
          </a:solidFill>
          <a:ln w="3175">
            <a:solidFill>
              <a:srgbClr val="C00000"/>
            </a:solidFill>
          </a:ln>
        </p:spPr>
        <p:txBody>
          <a:bodyPr wrap="square" anchor="ctr">
            <a:noAutofit/>
          </a:bodyPr>
          <a:lstStyle/>
          <a:p>
            <a:pPr marL="0" lvl="1" algn="ctr" defTabSz="457200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组合爆炸</a:t>
            </a:r>
          </a:p>
        </p:txBody>
      </p:sp>
    </p:spTree>
    <p:extLst>
      <p:ext uri="{BB962C8B-B14F-4D97-AF65-F5344CB8AC3E}">
        <p14:creationId xmlns:p14="http://schemas.microsoft.com/office/powerpoint/2010/main" val="46236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869C78-42A2-4F87-BB44-ACF5CBEBC53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F210E-9BE5-4D6D-8847-1424369D72B7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rgbClr val="8FAAD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65E89-27CB-4CDB-B12B-8C54CD483827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科研项目</a:t>
            </a:r>
            <a:endParaRPr sz="2100" dirty="0">
              <a:solidFill>
                <a:schemeClr val="bg1"/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3145D061-30B4-4DC0-842A-5CFF2942C0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BFB00EE-20F4-4B92-9376-398254DC99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6FB27AC-CDA6-412D-9AEC-211ECA202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10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547AC7-FE92-59CC-BECD-4E1BEDA5C849}"/>
              </a:ext>
            </a:extLst>
          </p:cNvPr>
          <p:cNvSpPr txBox="1"/>
          <p:nvPr/>
        </p:nvSpPr>
        <p:spPr>
          <a:xfrm>
            <a:off x="431800" y="1023420"/>
            <a:ext cx="8478284" cy="38036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>
              <a:lnSpc>
                <a:spcPct val="105000"/>
              </a:lnSpc>
              <a:defRPr sz="19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000" b="1" dirty="0" err="1">
                <a:solidFill>
                  <a:srgbClr val="22222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/>
              </a:rPr>
              <a:t>SplitCA</a:t>
            </a:r>
            <a:r>
              <a:rPr lang="en-US" altLang="zh-CN" sz="2000" b="1" dirty="0">
                <a:solidFill>
                  <a:srgbClr val="22222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/>
              </a:rPr>
              <a:t>: An Effective Tool for Generating 4-wise Covering Arrays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FDFC78-BCCF-E598-89AC-5CEB8381D09C}"/>
              </a:ext>
            </a:extLst>
          </p:cNvPr>
          <p:cNvSpPr/>
          <p:nvPr/>
        </p:nvSpPr>
        <p:spPr>
          <a:xfrm>
            <a:off x="469900" y="1431361"/>
            <a:ext cx="8178800" cy="25400"/>
          </a:xfrm>
          <a:prstGeom prst="rect">
            <a:avLst/>
          </a:prstGeom>
          <a:solidFill>
            <a:srgbClr val="698BC9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9850C7C-1A35-B0AF-2A69-4A639F33F386}"/>
              </a:ext>
            </a:extLst>
          </p:cNvPr>
          <p:cNvSpPr/>
          <p:nvPr/>
        </p:nvSpPr>
        <p:spPr>
          <a:xfrm>
            <a:off x="1227465" y="1634169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E80107D-6FFD-8330-730D-BDED6F7C63F4}"/>
              </a:ext>
            </a:extLst>
          </p:cNvPr>
          <p:cNvSpPr/>
          <p:nvPr/>
        </p:nvSpPr>
        <p:spPr>
          <a:xfrm>
            <a:off x="694065" y="2015169"/>
            <a:ext cx="1333500" cy="8382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公开配置系统</a:t>
            </a:r>
          </a:p>
          <a:p>
            <a:pPr algn="ctr"/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118 </a:t>
            </a:r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个大规模实例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F7BD8F6F-CC4F-CAE0-EEE6-88101000D63D}"/>
              </a:ext>
            </a:extLst>
          </p:cNvPr>
          <p:cNvSpPr/>
          <p:nvPr/>
        </p:nvSpPr>
        <p:spPr>
          <a:xfrm>
            <a:off x="2065665" y="2307269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89413A0-DBD4-4DAE-1374-6684F4963C47}"/>
              </a:ext>
            </a:extLst>
          </p:cNvPr>
          <p:cNvSpPr/>
          <p:nvPr/>
        </p:nvSpPr>
        <p:spPr>
          <a:xfrm>
            <a:off x="2789565" y="1634169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4F839FA-A8F9-80F1-F55B-1BEAE07C3CF1}"/>
              </a:ext>
            </a:extLst>
          </p:cNvPr>
          <p:cNvSpPr/>
          <p:nvPr/>
        </p:nvSpPr>
        <p:spPr>
          <a:xfrm>
            <a:off x="2256165" y="2015169"/>
            <a:ext cx="1333500" cy="8382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生成初始</a:t>
            </a:r>
          </a:p>
          <a:p>
            <a:pPr algn="ctr"/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3-wise CA</a:t>
            </a:r>
            <a:endParaRPr lang="zh-CN" altLang="en-US" sz="125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1543DCCC-9335-9A14-B975-5E6FF7192FFC}"/>
              </a:ext>
            </a:extLst>
          </p:cNvPr>
          <p:cNvSpPr/>
          <p:nvPr/>
        </p:nvSpPr>
        <p:spPr>
          <a:xfrm>
            <a:off x="3627765" y="2307269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3737E7D-9EA9-AA2A-5575-2B899C50C566}"/>
              </a:ext>
            </a:extLst>
          </p:cNvPr>
          <p:cNvSpPr/>
          <p:nvPr/>
        </p:nvSpPr>
        <p:spPr>
          <a:xfrm>
            <a:off x="4351665" y="1634169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EF7D68E-DB09-F709-942E-7D939355B07A}"/>
              </a:ext>
            </a:extLst>
          </p:cNvPr>
          <p:cNvSpPr/>
          <p:nvPr/>
        </p:nvSpPr>
        <p:spPr>
          <a:xfrm>
            <a:off x="3818265" y="2015169"/>
            <a:ext cx="1333500" cy="8382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拆分选项集</a:t>
            </a:r>
          </a:p>
          <a:p>
            <a:pPr algn="ctr"/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Oᴸ / Oᴿ</a:t>
            </a:r>
            <a:endParaRPr lang="zh-CN" altLang="en-US" sz="125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9D22880F-5CD6-51BC-6643-FB47384E114D}"/>
              </a:ext>
            </a:extLst>
          </p:cNvPr>
          <p:cNvSpPr/>
          <p:nvPr/>
        </p:nvSpPr>
        <p:spPr>
          <a:xfrm>
            <a:off x="5189865" y="2307269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311714C-09E4-D731-E882-FEB0E5065538}"/>
              </a:ext>
            </a:extLst>
          </p:cNvPr>
          <p:cNvSpPr/>
          <p:nvPr/>
        </p:nvSpPr>
        <p:spPr>
          <a:xfrm>
            <a:off x="5913765" y="1634169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8934B7C-039E-F8F3-2C30-99ECDA3CAB37}"/>
              </a:ext>
            </a:extLst>
          </p:cNvPr>
          <p:cNvSpPr/>
          <p:nvPr/>
        </p:nvSpPr>
        <p:spPr>
          <a:xfrm>
            <a:off x="5380365" y="2015169"/>
            <a:ext cx="1333500" cy="8382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 </a:t>
            </a:r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 = 0…4 </a:t>
            </a:r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构造</a:t>
            </a:r>
          </a:p>
          <a:p>
            <a:pPr algn="ctr"/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T₄⁽ˡ⁾</a:t>
            </a:r>
            <a:endParaRPr lang="zh-CN" altLang="en-US" sz="125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37E3677D-7FC6-2320-E520-030DC40C8A47}"/>
              </a:ext>
            </a:extLst>
          </p:cNvPr>
          <p:cNvSpPr/>
          <p:nvPr/>
        </p:nvSpPr>
        <p:spPr>
          <a:xfrm>
            <a:off x="6751965" y="2307269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9137BC48-1899-936A-0B20-E147CBF052F0}"/>
              </a:ext>
            </a:extLst>
          </p:cNvPr>
          <p:cNvSpPr/>
          <p:nvPr/>
        </p:nvSpPr>
        <p:spPr>
          <a:xfrm>
            <a:off x="7475865" y="1634169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EA5B077-A138-8E62-316B-9667377A26D6}"/>
              </a:ext>
            </a:extLst>
          </p:cNvPr>
          <p:cNvSpPr/>
          <p:nvPr/>
        </p:nvSpPr>
        <p:spPr>
          <a:xfrm>
            <a:off x="6959600" y="2015169"/>
            <a:ext cx="1333500" cy="8382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逐组 </a:t>
            </a:r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Extend</a:t>
            </a:r>
          </a:p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输出 </a:t>
            </a:r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4-wise CA</a:t>
            </a:r>
            <a:endParaRPr lang="zh-CN" altLang="en-US" sz="125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D16096A-D05E-EB41-1C5A-3D7515A59079}"/>
              </a:ext>
            </a:extLst>
          </p:cNvPr>
          <p:cNvSpPr/>
          <p:nvPr/>
        </p:nvSpPr>
        <p:spPr>
          <a:xfrm>
            <a:off x="541665" y="3399077"/>
            <a:ext cx="8178800" cy="609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r>
              <a:rPr lang="zh-CN" altLang="en-US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分区规则：</a:t>
            </a:r>
            <a:r>
              <a:rPr lang="en-US" altLang="zh-CN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T₄⁽ˡ⁾ </a:t>
            </a:r>
            <a:r>
              <a:rPr lang="zh-CN" altLang="en-US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中恰有 </a:t>
            </a:r>
            <a:r>
              <a:rPr lang="en-US" altLang="zh-CN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l </a:t>
            </a:r>
            <a:r>
              <a:rPr lang="zh-CN" altLang="en-US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个选项来自 </a:t>
            </a:r>
            <a:r>
              <a:rPr lang="en-US" altLang="zh-CN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Oᴸ</a:t>
            </a:r>
            <a:r>
              <a:rPr lang="zh-CN" altLang="en-US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，其余 </a:t>
            </a:r>
            <a:r>
              <a:rPr lang="en-US" altLang="zh-CN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4-l </a:t>
            </a:r>
            <a:r>
              <a:rPr lang="zh-CN" altLang="en-US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个来自 </a:t>
            </a:r>
            <a:r>
              <a:rPr lang="en-US" altLang="zh-CN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Oᴿ</a:t>
            </a:r>
            <a:r>
              <a:rPr lang="zh-CN" altLang="en-US" sz="1400" b="1" dirty="0">
                <a:solidFill>
                  <a:srgbClr val="232A3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；每次只维护当前子集的覆盖状态</a:t>
            </a:r>
            <a:r>
              <a:rPr lang="zh-CN" altLang="en-US" sz="1300" b="1" dirty="0">
                <a:solidFill>
                  <a:srgbClr val="232A30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E438380-A15C-31DB-424A-C3087F2F30C2}"/>
              </a:ext>
            </a:extLst>
          </p:cNvPr>
          <p:cNvSpPr txBox="1"/>
          <p:nvPr/>
        </p:nvSpPr>
        <p:spPr>
          <a:xfrm>
            <a:off x="496924" y="4296281"/>
            <a:ext cx="16510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zh-CN" altLang="en-US" sz="13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实验设置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A9F5AB9-99B0-3AE4-E1E4-09FC753E0210}"/>
              </a:ext>
            </a:extLst>
          </p:cNvPr>
          <p:cNvSpPr/>
          <p:nvPr/>
        </p:nvSpPr>
        <p:spPr>
          <a:xfrm>
            <a:off x="495300" y="4749800"/>
            <a:ext cx="1841500" cy="685800"/>
          </a:xfrm>
          <a:prstGeom prst="roundRect">
            <a:avLst/>
          </a:prstGeom>
          <a:solidFill>
            <a:srgbClr val="F1F4F6"/>
          </a:solidFill>
          <a:ln w="1778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32 </a:t>
            </a:r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线程</a:t>
            </a:r>
          </a:p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单实例上限 </a:t>
            </a:r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 </a:t>
            </a:r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天</a:t>
            </a: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7A492310-2080-45F2-6356-205F3A6AC7C9}"/>
              </a:ext>
            </a:extLst>
          </p:cNvPr>
          <p:cNvSpPr/>
          <p:nvPr/>
        </p:nvSpPr>
        <p:spPr>
          <a:xfrm>
            <a:off x="2413000" y="4978400"/>
            <a:ext cx="3937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E064746D-A610-37D4-9A93-7EE09F77046F}"/>
              </a:ext>
            </a:extLst>
          </p:cNvPr>
          <p:cNvSpPr/>
          <p:nvPr/>
        </p:nvSpPr>
        <p:spPr>
          <a:xfrm>
            <a:off x="2895600" y="4749800"/>
            <a:ext cx="1841500" cy="685800"/>
          </a:xfrm>
          <a:prstGeom prst="roundRect">
            <a:avLst/>
          </a:prstGeom>
          <a:solidFill>
            <a:srgbClr val="F1F4F6"/>
          </a:solidFill>
          <a:ln w="1778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内存上限 </a:t>
            </a:r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 TB</a:t>
            </a:r>
          </a:p>
          <a:p>
            <a:pPr algn="ctr"/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118 </a:t>
            </a:r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个实例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F1046820-8F72-3D68-3CAE-A8160A0A9AFC}"/>
              </a:ext>
            </a:extLst>
          </p:cNvPr>
          <p:cNvSpPr/>
          <p:nvPr/>
        </p:nvSpPr>
        <p:spPr>
          <a:xfrm>
            <a:off x="4813300" y="4978400"/>
            <a:ext cx="3937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2A2234F-CE3D-33B6-18A8-85A6F58A9FF3}"/>
              </a:ext>
            </a:extLst>
          </p:cNvPr>
          <p:cNvSpPr/>
          <p:nvPr/>
        </p:nvSpPr>
        <p:spPr>
          <a:xfrm>
            <a:off x="5295900" y="4749800"/>
            <a:ext cx="1587500" cy="685800"/>
          </a:xfrm>
          <a:prstGeom prst="roundRect">
            <a:avLst/>
          </a:prstGeom>
          <a:solidFill>
            <a:srgbClr val="F1F4F6"/>
          </a:solidFill>
          <a:ln w="1778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对比 </a:t>
            </a:r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HSCA</a:t>
            </a:r>
          </a:p>
          <a:p>
            <a:pPr algn="ctr"/>
            <a:r>
              <a:rPr lang="en-US" altLang="zh-CN" sz="1200" b="1" dirty="0" err="1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AutoCCAG</a:t>
            </a:r>
            <a:endParaRPr lang="zh-CN" altLang="en-US" sz="120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9BDD91FD-DF1D-B2BF-1FCC-54397EF48AD8}"/>
              </a:ext>
            </a:extLst>
          </p:cNvPr>
          <p:cNvSpPr/>
          <p:nvPr/>
        </p:nvSpPr>
        <p:spPr>
          <a:xfrm>
            <a:off x="6959600" y="4978400"/>
            <a:ext cx="3937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F3B744C-D784-CD2B-2D76-23E9D345C7A8}"/>
              </a:ext>
            </a:extLst>
          </p:cNvPr>
          <p:cNvSpPr/>
          <p:nvPr/>
        </p:nvSpPr>
        <p:spPr>
          <a:xfrm>
            <a:off x="7442200" y="4749800"/>
            <a:ext cx="1219200" cy="685800"/>
          </a:xfrm>
          <a:prstGeom prst="roundRect">
            <a:avLst/>
          </a:prstGeom>
          <a:solidFill>
            <a:srgbClr val="435E99"/>
          </a:solidFill>
          <a:ln w="17780">
            <a:solidFill>
              <a:srgbClr val="435E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15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记录 </a:t>
            </a:r>
            <a:r>
              <a:rPr lang="en-US" altLang="zh-CN" sz="115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CA </a:t>
            </a:r>
            <a:r>
              <a:rPr lang="zh-CN" altLang="en-US" sz="115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规模</a:t>
            </a:r>
          </a:p>
          <a:p>
            <a:pPr algn="ctr"/>
            <a:r>
              <a:rPr lang="zh-CN" altLang="en-US" sz="115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与运行时间</a:t>
            </a:r>
          </a:p>
        </p:txBody>
      </p:sp>
    </p:spTree>
    <p:extLst>
      <p:ext uri="{BB962C8B-B14F-4D97-AF65-F5344CB8AC3E}">
        <p14:creationId xmlns:p14="http://schemas.microsoft.com/office/powerpoint/2010/main" val="229834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2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8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8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3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6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86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12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3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64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9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16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42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8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869C78-42A2-4F87-BB44-ACF5CBEBC53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F210E-9BE5-4D6D-8847-1424369D72B7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rgbClr val="8FAAD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65E89-27CB-4CDB-B12B-8C54CD483827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科研项目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3145D061-30B4-4DC0-842A-5CFF2942C0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BFB00EE-20F4-4B92-9376-398254DC99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6FB27AC-CDA6-412D-9AEC-211ECA202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4879EE-B890-0688-E752-192030124D0A}"/>
              </a:ext>
            </a:extLst>
          </p:cNvPr>
          <p:cNvSpPr txBox="1"/>
          <p:nvPr/>
        </p:nvSpPr>
        <p:spPr>
          <a:xfrm>
            <a:off x="469900" y="991758"/>
            <a:ext cx="82042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zh-CN" altLang="en-US" sz="20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12189E-2B2E-550E-2CE4-DC278A89BF0F}"/>
              </a:ext>
            </a:extLst>
          </p:cNvPr>
          <p:cNvSpPr/>
          <p:nvPr/>
        </p:nvSpPr>
        <p:spPr>
          <a:xfrm>
            <a:off x="469900" y="1492064"/>
            <a:ext cx="8178800" cy="25400"/>
          </a:xfrm>
          <a:prstGeom prst="rect">
            <a:avLst/>
          </a:prstGeom>
          <a:solidFill>
            <a:srgbClr val="698BC9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828E3BE-65B4-120B-9862-BF928D180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1633049"/>
            <a:ext cx="3079627" cy="23488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02F6AC1-F9F9-16B2-6AC5-C9255D99E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484" y="1517465"/>
            <a:ext cx="3192911" cy="128286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88B5656-4E0A-EAED-AD82-90F83490F2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484" y="2861804"/>
            <a:ext cx="3192911" cy="109471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BDEB250-43B2-1827-E3D4-AE5A42DDAF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825" y="4152408"/>
            <a:ext cx="3400875" cy="2033452"/>
          </a:xfrm>
          <a:prstGeom prst="rect">
            <a:avLst/>
          </a:prstGeom>
        </p:spPr>
      </p:pic>
      <p:sp>
        <p:nvSpPr>
          <p:cNvPr id="22" name="文本框 12">
            <a:extLst>
              <a:ext uri="{FF2B5EF4-FFF2-40B4-BE49-F238E27FC236}">
                <a16:creationId xmlns:a16="http://schemas.microsoft.com/office/drawing/2014/main" id="{9CD070FA-2A45-5388-B98A-D5E008228079}"/>
              </a:ext>
            </a:extLst>
          </p:cNvPr>
          <p:cNvSpPr>
            <a:spLocks noGrp="1"/>
          </p:cNvSpPr>
          <p:nvPr/>
        </p:nvSpPr>
        <p:spPr>
          <a:xfrm>
            <a:off x="6888501" y="1713355"/>
            <a:ext cx="19325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latin typeface="华文中宋"/>
                <a:ea typeface="华文中宋"/>
                <a:cs typeface="华文中宋"/>
              </a:rPr>
              <a:t>实验结果表明该方法在</a:t>
            </a:r>
            <a:r>
              <a:rPr lang="en-US" altLang="zh-CN" sz="1400" b="1" dirty="0">
                <a:latin typeface="华文中宋"/>
                <a:ea typeface="华文中宋"/>
                <a:cs typeface="华文中宋"/>
              </a:rPr>
              <a:t>118</a:t>
            </a:r>
            <a:r>
              <a:rPr lang="zh-CN" altLang="en-US" sz="1400" b="1" dirty="0">
                <a:latin typeface="华文中宋"/>
                <a:ea typeface="华文中宋"/>
                <a:cs typeface="华文中宋"/>
              </a:rPr>
              <a:t>个大规模真实系统实例中成功处理</a:t>
            </a:r>
            <a:r>
              <a:rPr lang="en-US" altLang="zh-CN" sz="1400" b="1" dirty="0">
                <a:latin typeface="华文中宋"/>
                <a:ea typeface="华文中宋"/>
                <a:cs typeface="华文中宋"/>
              </a:rPr>
              <a:t>117</a:t>
            </a:r>
            <a:r>
              <a:rPr lang="zh-CN" altLang="en-US" sz="1400" b="1" dirty="0">
                <a:latin typeface="华文中宋"/>
                <a:ea typeface="华文中宋"/>
                <a:cs typeface="华文中宋"/>
              </a:rPr>
              <a:t>个，而</a:t>
            </a:r>
            <a:r>
              <a:rPr lang="en-US" altLang="zh-CN" sz="1400" b="1" dirty="0">
                <a:latin typeface="华文中宋"/>
                <a:ea typeface="华文中宋"/>
                <a:cs typeface="华文中宋"/>
              </a:rPr>
              <a:t>HSCA</a:t>
            </a:r>
            <a:r>
              <a:rPr lang="zh-CN" altLang="en-US" sz="1400" b="1" dirty="0">
                <a:latin typeface="华文中宋"/>
                <a:ea typeface="华文中宋"/>
                <a:cs typeface="华文中宋"/>
              </a:rPr>
              <a:t>与</a:t>
            </a:r>
            <a:r>
              <a:rPr lang="en-US" altLang="zh-CN" sz="1400" b="1" dirty="0" err="1">
                <a:latin typeface="华文中宋"/>
                <a:ea typeface="华文中宋"/>
                <a:cs typeface="华文中宋"/>
              </a:rPr>
              <a:t>AutoCCAG</a:t>
            </a:r>
            <a:r>
              <a:rPr lang="zh-CN" altLang="en-US" sz="1400" b="1" dirty="0">
                <a:latin typeface="华文中宋"/>
                <a:ea typeface="华文中宋"/>
                <a:cs typeface="华文中宋"/>
              </a:rPr>
              <a:t>均未能完成这些实例，表明元组集合分区是突破大规模约束覆盖阵列生成瓶颈的有效途径。</a:t>
            </a:r>
            <a:endParaRPr sz="1400" b="1" dirty="0">
              <a:latin typeface="华文中宋"/>
              <a:ea typeface="华文中宋"/>
              <a:cs typeface="华文中宋"/>
            </a:endParaRPr>
          </a:p>
        </p:txBody>
      </p:sp>
      <p:sp>
        <p:nvSpPr>
          <p:cNvPr id="23" name="文本框 12">
            <a:extLst>
              <a:ext uri="{FF2B5EF4-FFF2-40B4-BE49-F238E27FC236}">
                <a16:creationId xmlns:a16="http://schemas.microsoft.com/office/drawing/2014/main" id="{284127D3-85C3-9658-6947-B617A9275940}"/>
              </a:ext>
            </a:extLst>
          </p:cNvPr>
          <p:cNvSpPr>
            <a:spLocks noGrp="1"/>
          </p:cNvSpPr>
          <p:nvPr/>
        </p:nvSpPr>
        <p:spPr>
          <a:xfrm>
            <a:off x="739337" y="4704737"/>
            <a:ext cx="4371379" cy="920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华文中宋"/>
                <a:ea typeface="华文中宋"/>
                <a:cs typeface="华文中宋"/>
              </a:rPr>
              <a:t>该论文已被</a:t>
            </a:r>
            <a:r>
              <a:rPr lang="en-US" altLang="zh-CN" sz="2000" b="1" dirty="0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CCF A</a:t>
            </a:r>
            <a:r>
              <a:rPr lang="zh-CN" altLang="en-US" sz="2000" b="1" dirty="0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类会议</a:t>
            </a:r>
            <a:r>
              <a:rPr lang="en-US" altLang="zh-CN" sz="2000" b="1" dirty="0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ASE 2026</a:t>
            </a:r>
            <a:r>
              <a:rPr lang="zh-CN" altLang="en-US" b="1" dirty="0">
                <a:latin typeface="华文中宋"/>
                <a:ea typeface="华文中宋"/>
                <a:cs typeface="华文中宋"/>
              </a:rPr>
              <a:t>录取，并作为其中唯一的本科生作者。</a:t>
            </a:r>
            <a:endParaRPr b="1" dirty="0">
              <a:latin typeface="华文中宋"/>
              <a:ea typeface="华文中宋"/>
              <a:cs typeface="华文中宋"/>
            </a:endParaRPr>
          </a:p>
        </p:txBody>
      </p:sp>
    </p:spTree>
    <p:extLst>
      <p:ext uri="{BB962C8B-B14F-4D97-AF65-F5344CB8AC3E}">
        <p14:creationId xmlns:p14="http://schemas.microsoft.com/office/powerpoint/2010/main" val="344106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869C78-42A2-4F87-BB44-ACF5CBEBC53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F210E-9BE5-4D6D-8847-1424369D72B7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65E89-27CB-4CDB-B12B-8C54CD483827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科研项目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3145D061-30B4-4DC0-842A-5CFF2942C0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BFB00EE-20F4-4B92-9376-398254DC99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6FB27AC-CDA6-412D-9AEC-211ECA202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12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2F5EDB-4DAA-945D-D6B5-75C2BE677897}"/>
              </a:ext>
            </a:extLst>
          </p:cNvPr>
          <p:cNvSpPr txBox="1"/>
          <p:nvPr/>
        </p:nvSpPr>
        <p:spPr>
          <a:xfrm>
            <a:off x="448930" y="1007147"/>
            <a:ext cx="8204200" cy="353943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SATDiv: An Effective Solver for Diverse SAT Problem </a:t>
            </a:r>
            <a:endParaRPr lang="zh-CN" altLang="en-US" sz="200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132CBB-716B-3C36-FCBE-4FD444E2E8AB}"/>
              </a:ext>
            </a:extLst>
          </p:cNvPr>
          <p:cNvSpPr/>
          <p:nvPr/>
        </p:nvSpPr>
        <p:spPr>
          <a:xfrm>
            <a:off x="482599" y="1407822"/>
            <a:ext cx="8178800" cy="25400"/>
          </a:xfrm>
          <a:prstGeom prst="rect">
            <a:avLst/>
          </a:prstGeom>
          <a:solidFill>
            <a:srgbClr val="698BC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E794D80-0AEF-9632-2046-3B278DA77EF9}"/>
              </a:ext>
            </a:extLst>
          </p:cNvPr>
          <p:cNvSpPr/>
          <p:nvPr/>
        </p:nvSpPr>
        <p:spPr>
          <a:xfrm>
            <a:off x="977900" y="3484232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1C91C54-1164-4EA5-3FEE-7E0EDC43A988}"/>
              </a:ext>
            </a:extLst>
          </p:cNvPr>
          <p:cNvSpPr/>
          <p:nvPr/>
        </p:nvSpPr>
        <p:spPr>
          <a:xfrm>
            <a:off x="431800" y="3865232"/>
            <a:ext cx="1346200" cy="8128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输入 </a:t>
            </a:r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CNF F</a:t>
            </a:r>
          </a:p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与解集规模 </a:t>
            </a:r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k</a:t>
            </a:r>
            <a:endParaRPr lang="zh-CN" altLang="en-US" sz="120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BA5DE521-2280-D306-A467-9EDB28B66908}"/>
              </a:ext>
            </a:extLst>
          </p:cNvPr>
          <p:cNvSpPr/>
          <p:nvPr/>
        </p:nvSpPr>
        <p:spPr>
          <a:xfrm>
            <a:off x="1816100" y="4157332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0BB3A1BA-076C-10B5-162E-7E392D9CA8A8}"/>
              </a:ext>
            </a:extLst>
          </p:cNvPr>
          <p:cNvSpPr/>
          <p:nvPr/>
        </p:nvSpPr>
        <p:spPr>
          <a:xfrm>
            <a:off x="2616200" y="3484232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CA89F85-6516-844A-64EE-3656DFFAF7B2}"/>
              </a:ext>
            </a:extLst>
          </p:cNvPr>
          <p:cNvSpPr/>
          <p:nvPr/>
        </p:nvSpPr>
        <p:spPr>
          <a:xfrm>
            <a:off x="2070100" y="3865232"/>
            <a:ext cx="1346200" cy="8128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初始化</a:t>
            </a:r>
          </a:p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随机选变量 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A1072F89-1344-0B9C-9B96-6B08693A1049}"/>
              </a:ext>
            </a:extLst>
          </p:cNvPr>
          <p:cNvSpPr/>
          <p:nvPr/>
        </p:nvSpPr>
        <p:spPr>
          <a:xfrm>
            <a:off x="3454400" y="4157332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B566C0B-876A-2FB7-FAC7-B797CC594B9E}"/>
              </a:ext>
            </a:extLst>
          </p:cNvPr>
          <p:cNvSpPr/>
          <p:nvPr/>
        </p:nvSpPr>
        <p:spPr>
          <a:xfrm>
            <a:off x="4254500" y="3484232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8D67ED1-C839-3157-F7F7-CAEE6A66FA23}"/>
              </a:ext>
            </a:extLst>
          </p:cNvPr>
          <p:cNvSpPr/>
          <p:nvPr/>
        </p:nvSpPr>
        <p:spPr>
          <a:xfrm>
            <a:off x="3708400" y="3865232"/>
            <a:ext cx="1346200" cy="8128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PGUIDE</a:t>
            </a:r>
          </a:p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反多数相位</a:t>
            </a: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3565463A-C474-03F7-653B-24E25F59E701}"/>
              </a:ext>
            </a:extLst>
          </p:cNvPr>
          <p:cNvSpPr/>
          <p:nvPr/>
        </p:nvSpPr>
        <p:spPr>
          <a:xfrm>
            <a:off x="5092700" y="4157332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3D4F16E6-F2AE-64CA-F5E0-FD853BABD8E5}"/>
              </a:ext>
            </a:extLst>
          </p:cNvPr>
          <p:cNvSpPr/>
          <p:nvPr/>
        </p:nvSpPr>
        <p:spPr>
          <a:xfrm>
            <a:off x="5892800" y="3484232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1816F43-E63A-7D5B-2F4E-F7ABBD4CFAB9}"/>
              </a:ext>
            </a:extLst>
          </p:cNvPr>
          <p:cNvSpPr/>
          <p:nvPr/>
        </p:nvSpPr>
        <p:spPr>
          <a:xfrm>
            <a:off x="5346700" y="3865232"/>
            <a:ext cx="1346200" cy="8128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解级替换</a:t>
            </a:r>
          </a:p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选择最大 </a:t>
            </a:r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gain</a:t>
            </a:r>
            <a:endParaRPr lang="zh-CN" altLang="en-US" sz="120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30916EEF-0DEF-02D4-D953-62C2216E9083}"/>
              </a:ext>
            </a:extLst>
          </p:cNvPr>
          <p:cNvSpPr/>
          <p:nvPr/>
        </p:nvSpPr>
        <p:spPr>
          <a:xfrm>
            <a:off x="6731000" y="4157332"/>
            <a:ext cx="317500" cy="2286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DCC2FFA8-9980-544B-9A39-E0B1A386E8F0}"/>
              </a:ext>
            </a:extLst>
          </p:cNvPr>
          <p:cNvSpPr/>
          <p:nvPr/>
        </p:nvSpPr>
        <p:spPr>
          <a:xfrm>
            <a:off x="7531100" y="3484232"/>
            <a:ext cx="279400" cy="2794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F41BC21-2B39-66EC-348E-CCC1C690D0B6}"/>
              </a:ext>
            </a:extLst>
          </p:cNvPr>
          <p:cNvSpPr/>
          <p:nvPr/>
        </p:nvSpPr>
        <p:spPr>
          <a:xfrm>
            <a:off x="6985000" y="3865232"/>
            <a:ext cx="1346200" cy="812800"/>
          </a:xfrm>
          <a:prstGeom prst="roundRect">
            <a:avLst/>
          </a:prstGeom>
          <a:solidFill>
            <a:srgbClr val="E5EDFA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输出 </a:t>
            </a:r>
            <a:r>
              <a:rPr lang="en-US" altLang="zh-CN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k </a:t>
            </a:r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</a:p>
          <a:p>
            <a:pPr algn="ctr"/>
            <a:r>
              <a:rPr lang="zh-CN" altLang="en-US" sz="1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多样化满足解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3C4A37B-7D87-EFB0-314C-72D99D94DF4B}"/>
              </a:ext>
            </a:extLst>
          </p:cNvPr>
          <p:cNvSpPr/>
          <p:nvPr/>
        </p:nvSpPr>
        <p:spPr>
          <a:xfrm>
            <a:off x="4699000" y="5032486"/>
            <a:ext cx="2984500" cy="5969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r>
              <a:rPr lang="zh-CN" altLang="en-US" sz="115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 </a:t>
            </a:r>
            <a:r>
              <a:rPr lang="en-US" altLang="zh-CN" sz="115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gain ≤ 0</a:t>
            </a:r>
            <a:r>
              <a:rPr lang="zh-CN" altLang="en-US" sz="115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：进入变量级翻转，在保持满足性的前提下继续提升目标</a:t>
            </a:r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4C9A482F-DB4D-87E6-0DDA-2EABBA3DD253}"/>
              </a:ext>
            </a:extLst>
          </p:cNvPr>
          <p:cNvSpPr/>
          <p:nvPr/>
        </p:nvSpPr>
        <p:spPr>
          <a:xfrm>
            <a:off x="5873750" y="4704579"/>
            <a:ext cx="317500" cy="254000"/>
          </a:xfrm>
          <a:prstGeom prst="down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2">
            <a:extLst>
              <a:ext uri="{FF2B5EF4-FFF2-40B4-BE49-F238E27FC236}">
                <a16:creationId xmlns:a16="http://schemas.microsoft.com/office/drawing/2014/main" id="{7A353078-B1C5-458C-CFB6-FA090E077F41}"/>
              </a:ext>
            </a:extLst>
          </p:cNvPr>
          <p:cNvSpPr>
            <a:spLocks noGrp="1"/>
          </p:cNvSpPr>
          <p:nvPr/>
        </p:nvSpPr>
        <p:spPr>
          <a:xfrm>
            <a:off x="431800" y="1524132"/>
            <a:ext cx="8138514" cy="2120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err="1">
                <a:latin typeface="华文中宋"/>
                <a:ea typeface="华文中宋"/>
                <a:cs typeface="华文中宋"/>
              </a:rPr>
              <a:t>SATDiv</a:t>
            </a:r>
            <a:r>
              <a:rPr lang="zh-CN" altLang="en-US" b="1" dirty="0">
                <a:latin typeface="华文中宋"/>
                <a:ea typeface="华文中宋"/>
                <a:cs typeface="华文中宋"/>
              </a:rPr>
              <a:t>在组合测试中是一种重要的约束配置采样（</a:t>
            </a:r>
            <a:r>
              <a:rPr lang="en-US" altLang="zh-CN" b="1" dirty="0">
                <a:latin typeface="华文中宋"/>
                <a:ea typeface="华文中宋"/>
                <a:cs typeface="华文中宋"/>
              </a:rPr>
              <a:t>Sampling</a:t>
            </a:r>
            <a:r>
              <a:rPr lang="zh-CN" altLang="en-US" b="1" dirty="0">
                <a:latin typeface="华文中宋"/>
                <a:ea typeface="华文中宋"/>
                <a:cs typeface="华文中宋"/>
              </a:rPr>
              <a:t>）技术：它从满足约束的配置空间中生成多个合法且差异尽可能大的样本，使有限测试用例能够覆盖更广泛的配置区域。因此，</a:t>
            </a:r>
            <a:r>
              <a:rPr lang="en-US" altLang="zh-CN" b="1" dirty="0" err="1">
                <a:latin typeface="华文中宋"/>
                <a:ea typeface="华文中宋"/>
                <a:cs typeface="华文中宋"/>
              </a:rPr>
              <a:t>SATDiv</a:t>
            </a:r>
            <a:r>
              <a:rPr lang="zh-CN" altLang="en-US" b="1" dirty="0">
                <a:latin typeface="华文中宋"/>
                <a:ea typeface="华文中宋"/>
                <a:cs typeface="华文中宋"/>
              </a:rPr>
              <a:t>可用于组合测试的初始测试集生成、候选配置采样和增量测试选择，为覆盖阵列构造提供高质量起点。</a:t>
            </a:r>
          </a:p>
          <a:p>
            <a:pPr>
              <a:lnSpc>
                <a:spcPct val="150000"/>
              </a:lnSpc>
            </a:pPr>
            <a:endParaRPr b="1" dirty="0">
              <a:latin typeface="华文中宋"/>
              <a:ea typeface="华文中宋"/>
              <a:cs typeface="华文中宋"/>
            </a:endParaRPr>
          </a:p>
        </p:txBody>
      </p:sp>
    </p:spTree>
    <p:extLst>
      <p:ext uri="{BB962C8B-B14F-4D97-AF65-F5344CB8AC3E}">
        <p14:creationId xmlns:p14="http://schemas.microsoft.com/office/powerpoint/2010/main" val="25450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2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8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8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3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6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86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120"/>
                            </p:stCondLst>
                            <p:childTnLst>
                              <p:par>
                                <p:cTn id="69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869C78-42A2-4F87-BB44-ACF5CBEBC53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F210E-9BE5-4D6D-8847-1424369D72B7}"/>
              </a:ext>
            </a:extLst>
          </p:cNvPr>
          <p:cNvSpPr>
            <a:spLocks noGrp="1"/>
          </p:cNvSpPr>
          <p:nvPr/>
        </p:nvSpPr>
        <p:spPr>
          <a:xfrm>
            <a:off x="1" y="306187"/>
            <a:ext cx="9143999" cy="51218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65E89-27CB-4CDB-B12B-8C54CD483827}"/>
              </a:ext>
            </a:extLst>
          </p:cNvPr>
          <p:cNvSpPr>
            <a:spLocks noGrp="1"/>
          </p:cNvSpPr>
          <p:nvPr/>
        </p:nvSpPr>
        <p:spPr>
          <a:xfrm>
            <a:off x="1" y="354528"/>
            <a:ext cx="9143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dirty="0" err="1">
                <a:solidFill>
                  <a:schemeClr val="bg1"/>
                </a:solidFill>
                <a:latin typeface="华文琥珀"/>
                <a:ea typeface="华文琥珀"/>
                <a:cs typeface="华文琥珀"/>
              </a:rPr>
              <a:t>科研项目</a:t>
            </a:r>
            <a:endParaRPr sz="2100" dirty="0">
              <a:solidFill>
                <a:schemeClr val="bg1"/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3145D061-30B4-4DC0-842A-5CFF2942C0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BFB00EE-20F4-4B92-9376-398254DC99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sz="1200" dirty="0">
                <a:solidFill>
                  <a:schemeClr val="bg1"/>
                </a:solidFill>
              </a:rPr>
              <a:t>北京航空航天大学软件学院202</a:t>
            </a:r>
            <a:r>
              <a:rPr lang="en-US" sz="1200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年推免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6FB27AC-CDA6-412D-9AEC-211ECA202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21A858-6C6F-FAD3-54C1-C72DE915B74A}"/>
              </a:ext>
            </a:extLst>
          </p:cNvPr>
          <p:cNvSpPr txBox="1"/>
          <p:nvPr/>
        </p:nvSpPr>
        <p:spPr>
          <a:xfrm>
            <a:off x="469900" y="991758"/>
            <a:ext cx="82042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r>
              <a:rPr lang="zh-CN" altLang="en-US" sz="20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实验结果与消融验证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022C9D-28FB-8A71-8938-AAEF6620593D}"/>
              </a:ext>
            </a:extLst>
          </p:cNvPr>
          <p:cNvSpPr/>
          <p:nvPr/>
        </p:nvSpPr>
        <p:spPr>
          <a:xfrm>
            <a:off x="469900" y="1430996"/>
            <a:ext cx="8178800" cy="25400"/>
          </a:xfrm>
          <a:prstGeom prst="rect">
            <a:avLst/>
          </a:prstGeom>
          <a:solidFill>
            <a:srgbClr val="698BC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40F04F3-5E4F-7664-40F2-836CC252E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2" y="1524776"/>
            <a:ext cx="4025653" cy="255249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C19767E-D633-9E80-2D8F-183F1AE11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282" y="1643343"/>
            <a:ext cx="4469628" cy="1796338"/>
          </a:xfrm>
          <a:prstGeom prst="rect">
            <a:avLst/>
          </a:prstGeom>
        </p:spPr>
      </p:pic>
      <p:sp>
        <p:nvSpPr>
          <p:cNvPr id="16" name="文本框 12">
            <a:extLst>
              <a:ext uri="{FF2B5EF4-FFF2-40B4-BE49-F238E27FC236}">
                <a16:creationId xmlns:a16="http://schemas.microsoft.com/office/drawing/2014/main" id="{4CC4188D-05CE-120B-6F56-6D86E3329CAC}"/>
              </a:ext>
            </a:extLst>
          </p:cNvPr>
          <p:cNvSpPr>
            <a:spLocks noGrp="1"/>
          </p:cNvSpPr>
          <p:nvPr/>
        </p:nvSpPr>
        <p:spPr>
          <a:xfrm>
            <a:off x="4511438" y="3420222"/>
            <a:ext cx="43434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latin typeface="华文中宋"/>
                <a:ea typeface="华文中宋"/>
                <a:cs typeface="华文中宋"/>
              </a:rPr>
              <a:t>通过与基线对比，可以发现两种求解后端都稳定优于基线。进行消融实验说明所进行的优化都是有效的。</a:t>
            </a:r>
            <a:endParaRPr sz="1400" b="1" dirty="0">
              <a:latin typeface="华文中宋"/>
              <a:ea typeface="华文中宋"/>
              <a:cs typeface="华文中宋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82272E1-44E3-8DFF-657B-7C7FE18A42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862" y="4468340"/>
            <a:ext cx="4240176" cy="136311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E0486B4-C5B0-3C33-D3FB-52DA0760ACE3}"/>
              </a:ext>
            </a:extLst>
          </p:cNvPr>
          <p:cNvSpPr txBox="1"/>
          <p:nvPr/>
        </p:nvSpPr>
        <p:spPr>
          <a:xfrm>
            <a:off x="232417" y="4492147"/>
            <a:ext cx="3965581" cy="1382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latin typeface="华文中宋"/>
                <a:ea typeface="华文中宋"/>
                <a:cs typeface="华文中宋"/>
              </a:rPr>
              <a:t>该论文已被</a:t>
            </a:r>
            <a:r>
              <a:rPr lang="en-US" altLang="zh-CN" sz="2000" b="1" dirty="0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CCF B</a:t>
            </a:r>
            <a:r>
              <a:rPr lang="zh-CN" altLang="en-US" sz="2000" b="1" dirty="0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类会议</a:t>
            </a:r>
            <a:r>
              <a:rPr lang="en-US" altLang="zh-CN" sz="2000" b="1" dirty="0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FMCAD 2026</a:t>
            </a:r>
            <a:r>
              <a:rPr lang="zh-CN" altLang="en-US" sz="2000" b="1" dirty="0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录取</a:t>
            </a:r>
            <a:r>
              <a:rPr lang="zh-CN" altLang="en-US" sz="1800" b="1" dirty="0">
                <a:latin typeface="华文中宋"/>
                <a:ea typeface="华文中宋"/>
                <a:cs typeface="华文中宋"/>
              </a:rPr>
              <a:t>，</a:t>
            </a:r>
            <a:r>
              <a:rPr lang="zh-CN" altLang="en-US" b="1" dirty="0">
                <a:latin typeface="华文中宋"/>
                <a:ea typeface="华文中宋"/>
                <a:cs typeface="华文中宋"/>
              </a:rPr>
              <a:t>并作为其中唯一的本科生作者。</a:t>
            </a:r>
            <a:endParaRPr lang="zh-CN" altLang="en-US" sz="1800" b="1" dirty="0">
              <a:latin typeface="华文中宋"/>
              <a:ea typeface="华文中宋"/>
              <a:cs typeface="华文中宋"/>
            </a:endParaRPr>
          </a:p>
        </p:txBody>
      </p:sp>
    </p:spTree>
    <p:extLst>
      <p:ext uri="{BB962C8B-B14F-4D97-AF65-F5344CB8AC3E}">
        <p14:creationId xmlns:p14="http://schemas.microsoft.com/office/powerpoint/2010/main" val="316250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81E8-18CB-00DC-A358-94A1D4AE0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479B66-A983-2EB1-65E4-AA5C7C89A46A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9143999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3CC0F5-BC22-5A64-8AF4-8716E73CB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651" y="2057906"/>
            <a:ext cx="5752529" cy="1240222"/>
          </a:xfrm>
        </p:spPr>
        <p:txBody>
          <a:bodyPr>
            <a:normAutofit fontScale="90000"/>
          </a:bodyPr>
          <a:lstStyle/>
          <a:p>
            <a:pPr algn="r">
              <a:buNone/>
            </a:pPr>
            <a:r>
              <a:rPr lang="zh-CN" altLang="en-US" sz="8000" dirty="0">
                <a:solidFill>
                  <a:schemeClr val="bg1">
                    <a:lumMod val="95000"/>
                  </a:schemeClr>
                </a:solidFill>
                <a:latin typeface="华文琥珀"/>
                <a:ea typeface="华文琥珀"/>
                <a:cs typeface="华文琥珀"/>
              </a:rPr>
              <a:t>未来研究计划</a:t>
            </a:r>
            <a:endParaRPr sz="5400" dirty="0">
              <a:solidFill>
                <a:schemeClr val="bg1">
                  <a:lumMod val="95000"/>
                </a:schemeClr>
              </a:solidFill>
              <a:latin typeface="华文琥珀"/>
              <a:ea typeface="华文琥珀"/>
              <a:cs typeface="华文琥珀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F7ACAE-8033-E964-6671-2E411EE857AC}"/>
              </a:ext>
            </a:extLst>
          </p:cNvPr>
          <p:cNvSpPr>
            <a:spLocks noGrp="1"/>
          </p:cNvSpPr>
          <p:nvPr/>
        </p:nvSpPr>
        <p:spPr>
          <a:xfrm>
            <a:off x="0" y="6410868"/>
            <a:ext cx="9143999" cy="256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21" name="日期占位符 8">
            <a:extLst>
              <a:ext uri="{FF2B5EF4-FFF2-40B4-BE49-F238E27FC236}">
                <a16:creationId xmlns:a16="http://schemas.microsoft.com/office/drawing/2014/main" id="{178615A1-5FA8-31B3-87AF-C77EB0B0FBA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3B297530-B776-46F2-84D0-E6B8A37EB566}" type="datetime1">
              <a:rPr sz="1200">
                <a:solidFill>
                  <a:schemeClr val="bg1"/>
                </a:solidFill>
              </a:rPr>
              <a:t>2026/9/19</a:t>
            </a:fld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22" name="页脚占位符 9">
            <a:extLst>
              <a:ext uri="{FF2B5EF4-FFF2-40B4-BE49-F238E27FC236}">
                <a16:creationId xmlns:a16="http://schemas.microsoft.com/office/drawing/2014/main" id="{7A58FE0D-A6CF-876C-5989-9D1AF5CEA6F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sz="1200">
                <a:solidFill>
                  <a:schemeClr val="bg1"/>
                </a:solidFill>
              </a:rPr>
              <a:t>北京航空航天大学软件学院2024</a:t>
            </a:r>
            <a:r>
              <a:rPr>
                <a:solidFill>
                  <a:schemeClr val="bg1"/>
                </a:solidFill>
              </a:rPr>
              <a:t>年推免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3" name="灯片编号占位符 10">
            <a:extLst>
              <a:ext uri="{FF2B5EF4-FFF2-40B4-BE49-F238E27FC236}">
                <a16:creationId xmlns:a16="http://schemas.microsoft.com/office/drawing/2014/main" id="{98ECE91C-9D01-5647-B40F-E7BBAFC2BA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6FD9853-3EB9-4A11-B662-E991C0F46866}" type="slidenum">
              <a:rPr sz="1200">
                <a:solidFill>
                  <a:schemeClr val="bg1"/>
                </a:solidFill>
              </a:rPr>
              <a:t>14</a:t>
            </a:fld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18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B9C047-A4FE-32F5-4730-6A5829E5C734}"/>
              </a:ext>
            </a:extLst>
          </p:cNvPr>
          <p:cNvSpPr/>
          <p:nvPr/>
        </p:nvSpPr>
        <p:spPr>
          <a:xfrm>
            <a:off x="0" y="6410960"/>
            <a:ext cx="9144000" cy="256540"/>
          </a:xfrm>
          <a:prstGeom prst="rect">
            <a:avLst/>
          </a:prstGeom>
          <a:solidFill>
            <a:srgbClr val="8FAADC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8B66C0-7AA0-A335-9515-A4DA0F4B74A9}"/>
              </a:ext>
            </a:extLst>
          </p:cNvPr>
          <p:cNvSpPr/>
          <p:nvPr/>
        </p:nvSpPr>
        <p:spPr>
          <a:xfrm>
            <a:off x="0" y="306070"/>
            <a:ext cx="9144000" cy="511810"/>
          </a:xfrm>
          <a:prstGeom prst="roundRect">
            <a:avLst/>
          </a:prstGeom>
          <a:solidFill>
            <a:srgbClr val="8FAADC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9C2EC5-7A0A-D0A5-EAED-BC88CA2C122D}"/>
              </a:ext>
            </a:extLst>
          </p:cNvPr>
          <p:cNvSpPr txBox="1"/>
          <p:nvPr/>
        </p:nvSpPr>
        <p:spPr>
          <a:xfrm>
            <a:off x="0" y="323553"/>
            <a:ext cx="9144000" cy="44114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latin typeface="华文琥珀"/>
                <a:ea typeface="华文琥珀"/>
              </a:rPr>
              <a:t>未来研究计划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A7D79F-8A37-E743-28DB-6AA16469B306}"/>
              </a:ext>
            </a:extLst>
          </p:cNvPr>
          <p:cNvSpPr txBox="1"/>
          <p:nvPr/>
        </p:nvSpPr>
        <p:spPr>
          <a:xfrm>
            <a:off x="628650" y="6486744"/>
            <a:ext cx="2057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950" dirty="0">
                <a:solidFill>
                  <a:srgbClr val="FFFFFF"/>
                </a:solidFill>
                <a:latin typeface="Microsoft YaHei" panose="020B0503020204020204" pitchFamily="34" charset="-122"/>
              </a:rPr>
              <a:t>2026/9/19</a:t>
            </a:r>
            <a:endParaRPr lang="zh-CN" altLang="en-US" sz="95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66CD36-E2FB-184D-6916-8C4436E57C57}"/>
              </a:ext>
            </a:extLst>
          </p:cNvPr>
          <p:cNvSpPr txBox="1"/>
          <p:nvPr/>
        </p:nvSpPr>
        <p:spPr>
          <a:xfrm>
            <a:off x="2286000" y="6523885"/>
            <a:ext cx="457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北京航空航天大学软件学院</a:t>
            </a:r>
            <a:r>
              <a:rPr lang="en-US" altLang="zh-CN" sz="900">
                <a:solidFill>
                  <a:srgbClr val="FFFFFF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年推免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03280C-0ED9-A34F-B33F-DB0F0D9D4099}"/>
              </a:ext>
            </a:extLst>
          </p:cNvPr>
          <p:cNvSpPr txBox="1"/>
          <p:nvPr/>
        </p:nvSpPr>
        <p:spPr>
          <a:xfrm>
            <a:off x="6457950" y="6520038"/>
            <a:ext cx="2057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en-US" altLang="zh-CN" sz="950">
                <a:solidFill>
                  <a:srgbClr val="FFFFFF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95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4DA1C-995A-D38F-93D1-69F1F16C5C1E}"/>
              </a:ext>
            </a:extLst>
          </p:cNvPr>
          <p:cNvSpPr txBox="1"/>
          <p:nvPr/>
        </p:nvSpPr>
        <p:spPr>
          <a:xfrm>
            <a:off x="431800" y="1104900"/>
            <a:ext cx="8178800" cy="44114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2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 </a:t>
            </a:r>
            <a:r>
              <a:rPr lang="en-US" altLang="zh-CN" sz="2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SAT </a:t>
            </a:r>
            <a:r>
              <a:rPr lang="zh-CN" altLang="en-US" sz="2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到 </a:t>
            </a:r>
            <a:r>
              <a:rPr lang="en-US" altLang="zh-CN" sz="2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</a:t>
            </a:r>
            <a:r>
              <a:rPr lang="zh-CN" altLang="en-US" sz="2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：拓展约束表达与采样空间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140567-DC85-BF0C-156C-6ABF3D8A4294}"/>
              </a:ext>
            </a:extLst>
          </p:cNvPr>
          <p:cNvSpPr/>
          <p:nvPr/>
        </p:nvSpPr>
        <p:spPr>
          <a:xfrm>
            <a:off x="482600" y="1651000"/>
            <a:ext cx="8178800" cy="25400"/>
          </a:xfrm>
          <a:prstGeom prst="rect">
            <a:avLst/>
          </a:prstGeom>
          <a:solidFill>
            <a:srgbClr val="698BC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56C4D3F-D366-4CF3-9412-6B2743D0C988}"/>
              </a:ext>
            </a:extLst>
          </p:cNvPr>
          <p:cNvSpPr/>
          <p:nvPr/>
        </p:nvSpPr>
        <p:spPr>
          <a:xfrm>
            <a:off x="1333500" y="1905000"/>
            <a:ext cx="304800" cy="3048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26B8E74-F05F-312F-D928-73B8191FC5D0}"/>
              </a:ext>
            </a:extLst>
          </p:cNvPr>
          <p:cNvSpPr/>
          <p:nvPr/>
        </p:nvSpPr>
        <p:spPr>
          <a:xfrm>
            <a:off x="4419600" y="1905000"/>
            <a:ext cx="304800" cy="3048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7BA65A6-7CD7-5DBD-9013-1C56F6709CBD}"/>
              </a:ext>
            </a:extLst>
          </p:cNvPr>
          <p:cNvSpPr/>
          <p:nvPr/>
        </p:nvSpPr>
        <p:spPr>
          <a:xfrm>
            <a:off x="7505700" y="1905000"/>
            <a:ext cx="304800" cy="3048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A0FC98A-16F6-3574-22FC-A36408194F88}"/>
              </a:ext>
            </a:extLst>
          </p:cNvPr>
          <p:cNvSpPr/>
          <p:nvPr/>
        </p:nvSpPr>
        <p:spPr>
          <a:xfrm>
            <a:off x="533400" y="2298700"/>
            <a:ext cx="1905000" cy="1308100"/>
          </a:xfrm>
          <a:prstGeom prst="roundRect">
            <a:avLst/>
          </a:prstGeom>
          <a:solidFill>
            <a:srgbClr val="E5EDFA"/>
          </a:solidFill>
          <a:ln w="1651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3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SAT </a:t>
            </a:r>
            <a:r>
              <a:rPr lang="zh-CN" altLang="en-US" sz="13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采样</a:t>
            </a:r>
          </a:p>
          <a:p>
            <a:pPr algn="ctr"/>
            <a:endParaRPr lang="zh-CN" altLang="en-US" sz="130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3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布尔赋值空间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25D29BA-B4BC-DFEC-C370-2FD6A88F26AF}"/>
              </a:ext>
            </a:extLst>
          </p:cNvPr>
          <p:cNvSpPr/>
          <p:nvPr/>
        </p:nvSpPr>
        <p:spPr>
          <a:xfrm>
            <a:off x="2565400" y="2755900"/>
            <a:ext cx="431800" cy="2921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43677D9-5A01-D069-24D9-7566210A03B5}"/>
              </a:ext>
            </a:extLst>
          </p:cNvPr>
          <p:cNvSpPr/>
          <p:nvPr/>
        </p:nvSpPr>
        <p:spPr>
          <a:xfrm>
            <a:off x="3175000" y="2298700"/>
            <a:ext cx="2794000" cy="13081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理论扩展</a:t>
            </a:r>
          </a:p>
          <a:p>
            <a:pPr algn="ctr"/>
            <a:endParaRPr lang="zh-CN" altLang="en-US" sz="1250" b="1" dirty="0">
              <a:solidFill>
                <a:srgbClr val="232A3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布尔骨架 </a:t>
            </a:r>
            <a:r>
              <a:rPr lang="en-US" altLang="zh-CN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 </a:t>
            </a:r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理论一致性</a:t>
            </a:r>
          </a:p>
          <a:p>
            <a:pPr algn="ctr"/>
            <a:r>
              <a:rPr lang="zh-CN" altLang="en-US" sz="125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整数、实数、位向量、浮点数、字符串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86ACB8D-5579-1BC2-1DC3-6CE41A2D8336}"/>
              </a:ext>
            </a:extLst>
          </p:cNvPr>
          <p:cNvSpPr/>
          <p:nvPr/>
        </p:nvSpPr>
        <p:spPr>
          <a:xfrm>
            <a:off x="6096000" y="2755900"/>
            <a:ext cx="431800" cy="292100"/>
          </a:xfrm>
          <a:prstGeom prst="rightArrow">
            <a:avLst/>
          </a:prstGeom>
          <a:solidFill>
            <a:srgbClr val="698BC9"/>
          </a:solidFill>
          <a:ln>
            <a:solidFill>
              <a:srgbClr val="698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B5FCC4A-5B32-E7ED-F3E0-7C92C3FE063F}"/>
              </a:ext>
            </a:extLst>
          </p:cNvPr>
          <p:cNvSpPr/>
          <p:nvPr/>
        </p:nvSpPr>
        <p:spPr>
          <a:xfrm>
            <a:off x="6705600" y="2298700"/>
            <a:ext cx="1905000" cy="1308100"/>
          </a:xfrm>
          <a:prstGeom prst="roundRect">
            <a:avLst/>
          </a:prstGeom>
          <a:solidFill>
            <a:srgbClr val="435E99"/>
          </a:solidFill>
          <a:ln w="16510">
            <a:solidFill>
              <a:srgbClr val="435E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 </a:t>
            </a:r>
            <a:r>
              <a:rPr lang="zh-CN" altLang="en-US" sz="1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采样</a:t>
            </a:r>
          </a:p>
          <a:p>
            <a:pPr algn="ctr"/>
            <a:endParaRPr lang="zh-CN" altLang="en-US" sz="1300" b="1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生成合法模型</a:t>
            </a:r>
          </a:p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优化理论感知的多样性</a:t>
            </a:r>
          </a:p>
        </p:txBody>
      </p:sp>
      <p:sp>
        <p:nvSpPr>
          <p:cNvPr id="2" name="矩形: 圆角 387">
            <a:extLst>
              <a:ext uri="{FF2B5EF4-FFF2-40B4-BE49-F238E27FC236}">
                <a16:creationId xmlns:a16="http://schemas.microsoft.com/office/drawing/2014/main" id="{F77B4254-C409-EE56-A96C-1C190C3C909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6967" y="4076459"/>
            <a:ext cx="3680392" cy="1730856"/>
          </a:xfrm>
          <a:prstGeom prst="roundRect">
            <a:avLst>
              <a:gd name="adj" fmla="val 3285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35000">
                <a:schemeClr val="bg1"/>
              </a:gs>
            </a:gsLst>
            <a:lin ang="16200000" scaled="1"/>
          </a:gradFill>
          <a:ln w="3175">
            <a:solidFill>
              <a:schemeClr val="accent1"/>
            </a:solidFill>
          </a:ln>
          <a:effectLst>
            <a:outerShdw blurRad="40000" dist="20000" dir="5400000" rotWithShape="0">
              <a:schemeClr val="accent1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B22E15-D1B8-0B9E-2EB9-DBB8B9CE40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8497" y="4127500"/>
            <a:ext cx="3669857" cy="30757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2400" b="1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SAT </a:t>
            </a:r>
            <a:r>
              <a:rPr lang="zh-CN" altLang="en-US" dirty="0">
                <a:solidFill>
                  <a:schemeClr val="accent1"/>
                </a:solidFill>
                <a:latin typeface="+mj-lt"/>
              </a:rPr>
              <a:t>问题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9089422-B919-F182-A2DA-CAB85D2034BE}"/>
              </a:ext>
            </a:extLst>
          </p:cNvPr>
          <p:cNvGrpSpPr/>
          <p:nvPr/>
        </p:nvGrpSpPr>
        <p:grpSpPr>
          <a:xfrm>
            <a:off x="278797" y="4519000"/>
            <a:ext cx="3843448" cy="512194"/>
            <a:chOff x="1161416" y="2056852"/>
            <a:chExt cx="4323754" cy="5918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E0195E6-B093-3B32-7E33-F79641719E2F}"/>
                    </a:ext>
                  </a:extLst>
                </p:cNvPr>
                <p:cNvSpPr txBox="1"/>
                <p:nvPr/>
              </p:nvSpPr>
              <p:spPr>
                <a:xfrm>
                  <a:off x="1161416" y="2328627"/>
                  <a:ext cx="4323754" cy="32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457200"/>
                  <a14:m>
                    <m:oMathPara xmlns:m="http://schemas.openxmlformats.org/officeDocument/2006/math">
                      <m:oMath>
                        <m:r>
                          <a:rPr lang="en-US" altLang="zh-CN" sz="1200" b="1" i="1" smtClean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altLang="zh-CN" sz="1200" b="1" i="1" smtClean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b="1" i="1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1" i="1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sSub>
                          <m:sSubPr>
                            <m:ctrlPr>
                              <a:rPr lang="en-US" altLang="zh-CN" sz="1200" b="1" i="1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⋀ (</m:t>
                        </m:r>
                        <m:r>
                          <a:rPr lang="en-US" altLang="zh-CN" sz="1200" b="1" i="1" dirty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200" b="1" i="1" dirty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∨¬</m:t>
                        </m:r>
                        <m:sSub>
                          <m:sSubPr>
                            <m:ctrlP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)⋀(</m:t>
                        </m:r>
                        <m:r>
                          <a:rPr lang="en-US" altLang="zh-CN" sz="1200" b="1" i="1" dirty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200" b="1" i="1" dirty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∨¬</m:t>
                        </m:r>
                        <m:sSub>
                          <m:sSubPr>
                            <m:ctrlP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1200" b="1" i="1" dirty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 dirty="0">
                                <a:solidFill>
                                  <a:srgbClr val="2E75B6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rgbClr val="2E75B6"/>
                    </a:solidFill>
                    <a:latin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E0195E6-B093-3B32-7E33-F79641719E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416" y="2328627"/>
                  <a:ext cx="4323754" cy="320082"/>
                </a:xfrm>
                <a:prstGeom prst="rect">
                  <a:avLst/>
                </a:prstGeom>
                <a:blipFill>
                  <a:blip r:embed="rId1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7">
              <a:extLst>
                <a:ext uri="{FF2B5EF4-FFF2-40B4-BE49-F238E27FC236}">
                  <a16:creationId xmlns:a16="http://schemas.microsoft.com/office/drawing/2014/main" id="{69D87888-FA96-04E4-4B90-FCE48581B531}"/>
                </a:ext>
              </a:extLst>
            </p:cNvPr>
            <p:cNvCxnSpPr>
              <a:cxnSpLocks/>
            </p:cNvCxnSpPr>
            <p:nvPr/>
          </p:nvCxnSpPr>
          <p:spPr>
            <a:xfrm>
              <a:off x="3096403" y="2638247"/>
              <a:ext cx="115214" cy="0"/>
            </a:xfrm>
            <a:prstGeom prst="line">
              <a:avLst/>
            </a:prstGeom>
            <a:noFill/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2F7B7C4-7B6D-2097-380D-2AEB796A7B09}"/>
                </a:ext>
              </a:extLst>
            </p:cNvPr>
            <p:cNvSpPr txBox="1"/>
            <p:nvPr/>
          </p:nvSpPr>
          <p:spPr>
            <a:xfrm>
              <a:off x="2459096" y="2056852"/>
              <a:ext cx="1419940" cy="3556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altLang="zh-CN" sz="1400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/>
                </a:rPr>
                <a:t>1/0  true/false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endParaRPr>
            </a:p>
          </p:txBody>
        </p:sp>
        <p:sp>
          <p:nvSpPr>
            <p:cNvPr id="23" name="箭头: 上弧形 9">
              <a:extLst>
                <a:ext uri="{FF2B5EF4-FFF2-40B4-BE49-F238E27FC236}">
                  <a16:creationId xmlns:a16="http://schemas.microsoft.com/office/drawing/2014/main" id="{5B4D1438-1879-10CB-0327-D020889ED748}"/>
                </a:ext>
              </a:extLst>
            </p:cNvPr>
            <p:cNvSpPr/>
            <p:nvPr/>
          </p:nvSpPr>
          <p:spPr>
            <a:xfrm rot="19683397">
              <a:off x="2904249" y="2186499"/>
              <a:ext cx="265005" cy="77176"/>
            </a:xfrm>
            <a:prstGeom prst="curvedDownArrow">
              <a:avLst/>
            </a:prstGeom>
            <a:solidFill>
              <a:srgbClr val="70AD47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0" name="矩形: 圆角 387">
            <a:extLst>
              <a:ext uri="{FF2B5EF4-FFF2-40B4-BE49-F238E27FC236}">
                <a16:creationId xmlns:a16="http://schemas.microsoft.com/office/drawing/2014/main" id="{65510489-ACED-F790-787A-09F777DDCEE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435545" y="4086260"/>
            <a:ext cx="4509977" cy="1730856"/>
          </a:xfrm>
          <a:prstGeom prst="roundRect">
            <a:avLst>
              <a:gd name="adj" fmla="val 3285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35000">
                <a:schemeClr val="bg1"/>
              </a:gs>
            </a:gsLst>
            <a:lin ang="16200000" scaled="1"/>
          </a:gradFill>
          <a:ln w="3175">
            <a:solidFill>
              <a:schemeClr val="accent1"/>
            </a:solidFill>
          </a:ln>
          <a:effectLst>
            <a:outerShdw blurRad="40000" dist="20000" dir="5400000" rotWithShape="0">
              <a:schemeClr val="accent1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0893AB4-523E-926E-D15E-FBF144DBEDD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429413" y="4130111"/>
            <a:ext cx="4067270" cy="33939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2400" b="1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j-lt"/>
              </a:rPr>
              <a:t>可满足性模理论 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SMT</a:t>
            </a:r>
            <a:r>
              <a:rPr lang="zh-CN" altLang="en-US" dirty="0">
                <a:solidFill>
                  <a:schemeClr val="accent1"/>
                </a:solidFill>
                <a:latin typeface="+mj-lt"/>
              </a:rPr>
              <a:t>问题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B1C6A5-970A-BE54-CDA2-9316C0DDE06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86966" y="5874309"/>
            <a:ext cx="3680392" cy="337191"/>
          </a:xfrm>
          <a:prstGeom prst="rect">
            <a:avLst/>
          </a:prstGeom>
          <a:solidFill>
            <a:schemeClr val="bg1">
              <a:alpha val="4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布尔逻辑理论的可满足性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56FD94E-6782-1397-5F99-533037FC5F4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455076" y="5877236"/>
            <a:ext cx="4433738" cy="337191"/>
          </a:xfrm>
          <a:prstGeom prst="rect">
            <a:avLst/>
          </a:prstGeom>
          <a:solidFill>
            <a:schemeClr val="bg1">
              <a:alpha val="4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400" b="1" dirty="0">
                <a:solidFill>
                  <a:schemeClr val="tx1"/>
                </a:solidFill>
              </a:rPr>
              <a:t>多种理论（如算术理论、位向量理论等）的可满足性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34" name="箭头: 下 14">
            <a:extLst>
              <a:ext uri="{FF2B5EF4-FFF2-40B4-BE49-F238E27FC236}">
                <a16:creationId xmlns:a16="http://schemas.microsoft.com/office/drawing/2014/main" id="{4B881DBD-8CE1-D40E-DD7F-3F1AB397A09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5400000" flipV="1">
            <a:off x="4015181" y="4636708"/>
            <a:ext cx="393225" cy="448992"/>
          </a:xfrm>
          <a:prstGeom prst="downArrow">
            <a:avLst/>
          </a:prstGeom>
          <a:gradFill>
            <a:gsLst>
              <a:gs pos="0">
                <a:schemeClr val="bg1"/>
              </a:gs>
              <a:gs pos="98601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5" name="箭头: 下 15">
            <a:extLst>
              <a:ext uri="{FF2B5EF4-FFF2-40B4-BE49-F238E27FC236}">
                <a16:creationId xmlns:a16="http://schemas.microsoft.com/office/drawing/2014/main" id="{C172B1CA-1C84-70F3-DB29-25B994FEC29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5400000" flipV="1">
            <a:off x="4030559" y="5853389"/>
            <a:ext cx="294084" cy="379030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表格 35">
                <a:extLst>
                  <a:ext uri="{FF2B5EF4-FFF2-40B4-BE49-F238E27FC236}">
                    <a16:creationId xmlns:a16="http://schemas.microsoft.com/office/drawing/2014/main" id="{86475A0B-C42D-7988-3360-6416B85487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1221639"/>
                  </p:ext>
                </p:extLst>
              </p:nvPr>
            </p:nvGraphicFramePr>
            <p:xfrm>
              <a:off x="504785" y="5128601"/>
              <a:ext cx="3251772" cy="55291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2943">
                      <a:extLst>
                        <a:ext uri="{9D8B030D-6E8A-4147-A177-3AD203B41FA5}">
                          <a16:colId xmlns:a16="http://schemas.microsoft.com/office/drawing/2014/main" val="1071100918"/>
                        </a:ext>
                      </a:extLst>
                    </a:gridCol>
                    <a:gridCol w="812943">
                      <a:extLst>
                        <a:ext uri="{9D8B030D-6E8A-4147-A177-3AD203B41FA5}">
                          <a16:colId xmlns:a16="http://schemas.microsoft.com/office/drawing/2014/main" val="2595354793"/>
                        </a:ext>
                      </a:extLst>
                    </a:gridCol>
                    <a:gridCol w="812943">
                      <a:extLst>
                        <a:ext uri="{9D8B030D-6E8A-4147-A177-3AD203B41FA5}">
                          <a16:colId xmlns:a16="http://schemas.microsoft.com/office/drawing/2014/main" val="795136346"/>
                        </a:ext>
                      </a:extLst>
                    </a:gridCol>
                    <a:gridCol w="812943">
                      <a:extLst>
                        <a:ext uri="{9D8B030D-6E8A-4147-A177-3AD203B41FA5}">
                          <a16:colId xmlns:a16="http://schemas.microsoft.com/office/drawing/2014/main" val="808368160"/>
                        </a:ext>
                      </a:extLst>
                    </a:gridCol>
                  </a:tblGrid>
                  <a:tr h="28847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baseline="-25000" dirty="0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baseline="-25000" dirty="0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E75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6606252"/>
                      </a:ext>
                    </a:extLst>
                  </a:tr>
                  <a:tr h="26443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True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False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False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False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93804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表格 35">
                <a:extLst>
                  <a:ext uri="{FF2B5EF4-FFF2-40B4-BE49-F238E27FC236}">
                    <a16:creationId xmlns:a16="http://schemas.microsoft.com/office/drawing/2014/main" id="{86475A0B-C42D-7988-3360-6416B85487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1221639"/>
                  </p:ext>
                </p:extLst>
              </p:nvPr>
            </p:nvGraphicFramePr>
            <p:xfrm>
              <a:off x="504785" y="5128601"/>
              <a:ext cx="3251772" cy="55291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2943">
                      <a:extLst>
                        <a:ext uri="{9D8B030D-6E8A-4147-A177-3AD203B41FA5}">
                          <a16:colId xmlns:a16="http://schemas.microsoft.com/office/drawing/2014/main" val="1071100918"/>
                        </a:ext>
                      </a:extLst>
                    </a:gridCol>
                    <a:gridCol w="812943">
                      <a:extLst>
                        <a:ext uri="{9D8B030D-6E8A-4147-A177-3AD203B41FA5}">
                          <a16:colId xmlns:a16="http://schemas.microsoft.com/office/drawing/2014/main" val="2595354793"/>
                        </a:ext>
                      </a:extLst>
                    </a:gridCol>
                    <a:gridCol w="812943">
                      <a:extLst>
                        <a:ext uri="{9D8B030D-6E8A-4147-A177-3AD203B41FA5}">
                          <a16:colId xmlns:a16="http://schemas.microsoft.com/office/drawing/2014/main" val="795136346"/>
                        </a:ext>
                      </a:extLst>
                    </a:gridCol>
                    <a:gridCol w="812943">
                      <a:extLst>
                        <a:ext uri="{9D8B030D-6E8A-4147-A177-3AD203B41FA5}">
                          <a16:colId xmlns:a16="http://schemas.microsoft.com/office/drawing/2014/main" val="808368160"/>
                        </a:ext>
                      </a:extLst>
                    </a:gridCol>
                  </a:tblGrid>
                  <a:tr h="28847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t="-2083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000" t="-2083" r="-2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01504" t="-2083" r="-10150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99254" t="-2083" r="-74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6606252"/>
                      </a:ext>
                    </a:extLst>
                  </a:tr>
                  <a:tr h="26443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True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False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False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000" b="1" dirty="0">
                              <a:solidFill>
                                <a:srgbClr val="214177"/>
                              </a:solidFill>
                            </a:rPr>
                            <a:t>False</a:t>
                          </a:r>
                          <a:endParaRPr lang="zh-CN" altLang="en-US" sz="1000" b="1" dirty="0">
                            <a:solidFill>
                              <a:srgbClr val="214177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938045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67B2551B-4B3C-DCE6-5906-4D9A5A48C0FA}"/>
              </a:ext>
            </a:extLst>
          </p:cNvPr>
          <p:cNvGrpSpPr/>
          <p:nvPr/>
        </p:nvGrpSpPr>
        <p:grpSpPr>
          <a:xfrm>
            <a:off x="4269076" y="4522205"/>
            <a:ext cx="5168981" cy="713642"/>
            <a:chOff x="1381130" y="3098004"/>
            <a:chExt cx="5909409" cy="9214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1FCE653-0666-8885-E64F-28A780E012AE}"/>
                    </a:ext>
                  </a:extLst>
                </p:cNvPr>
                <p:cNvSpPr txBox="1"/>
                <p:nvPr/>
              </p:nvSpPr>
              <p:spPr>
                <a:xfrm>
                  <a:off x="1381130" y="3341807"/>
                  <a:ext cx="5909409" cy="3230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)∧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solidFill>
                                  <a:srgbClr val="3667A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solidFill>
                                  <a:srgbClr val="3667A6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solidFill>
                                  <a:srgbClr val="3667A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US" altLang="zh-CN" sz="1200" b="1" i="1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)∧(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𝑺𝒖𝒄𝒄𝒆𝒔𝒔</m:t>
                        </m:r>
                        <m:r>
                          <a:rPr lang="en-US" altLang="zh-CN" sz="12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!")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rgbClr val="3667A6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1FCE653-0666-8885-E64F-28A780E01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1130" y="3341807"/>
                  <a:ext cx="5909409" cy="323059"/>
                </a:xfrm>
                <a:prstGeom prst="rect">
                  <a:avLst/>
                </a:prstGeom>
                <a:blipFill>
                  <a:blip r:embed="rId13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接连接符 19">
              <a:extLst>
                <a:ext uri="{FF2B5EF4-FFF2-40B4-BE49-F238E27FC236}">
                  <a16:creationId xmlns:a16="http://schemas.microsoft.com/office/drawing/2014/main" id="{AF988108-5B72-398F-9011-F06D70F1119A}"/>
                </a:ext>
              </a:extLst>
            </p:cNvPr>
            <p:cNvCxnSpPr>
              <a:cxnSpLocks/>
            </p:cNvCxnSpPr>
            <p:nvPr/>
          </p:nvCxnSpPr>
          <p:spPr>
            <a:xfrm>
              <a:off x="2447295" y="3635298"/>
              <a:ext cx="115214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20">
              <a:extLst>
                <a:ext uri="{FF2B5EF4-FFF2-40B4-BE49-F238E27FC236}">
                  <a16:creationId xmlns:a16="http://schemas.microsoft.com/office/drawing/2014/main" id="{136983FD-07DE-3B99-E5B0-5B525D1D227D}"/>
                </a:ext>
              </a:extLst>
            </p:cNvPr>
            <p:cNvCxnSpPr>
              <a:cxnSpLocks/>
            </p:cNvCxnSpPr>
            <p:nvPr/>
          </p:nvCxnSpPr>
          <p:spPr>
            <a:xfrm>
              <a:off x="2856684" y="3642341"/>
              <a:ext cx="115214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930FD84-D55C-C7AC-12F8-D0D7251D7D2F}"/>
                </a:ext>
              </a:extLst>
            </p:cNvPr>
            <p:cNvSpPr txBox="1"/>
            <p:nvPr/>
          </p:nvSpPr>
          <p:spPr>
            <a:xfrm>
              <a:off x="2314214" y="3655470"/>
              <a:ext cx="562983" cy="35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整数</a:t>
              </a:r>
            </a:p>
          </p:txBody>
        </p:sp>
        <p:cxnSp>
          <p:nvCxnSpPr>
            <p:cNvPr id="42" name="直接连接符 22">
              <a:extLst>
                <a:ext uri="{FF2B5EF4-FFF2-40B4-BE49-F238E27FC236}">
                  <a16:creationId xmlns:a16="http://schemas.microsoft.com/office/drawing/2014/main" id="{E27F2E64-681D-42BB-B55C-61A997AEC8FA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63" y="3636564"/>
              <a:ext cx="115214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9EE35FA-AE96-1022-7344-CE4C4F74BF4A}"/>
                </a:ext>
              </a:extLst>
            </p:cNvPr>
            <p:cNvSpPr txBox="1"/>
            <p:nvPr/>
          </p:nvSpPr>
          <p:spPr>
            <a:xfrm>
              <a:off x="3135515" y="3105943"/>
              <a:ext cx="562983" cy="35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实数</a:t>
              </a:r>
            </a:p>
          </p:txBody>
        </p:sp>
        <p:cxnSp>
          <p:nvCxnSpPr>
            <p:cNvPr id="44" name="直接连接符 24">
              <a:extLst>
                <a:ext uri="{FF2B5EF4-FFF2-40B4-BE49-F238E27FC236}">
                  <a16:creationId xmlns:a16="http://schemas.microsoft.com/office/drawing/2014/main" id="{A56254E8-2577-FD4B-4FE3-60C240A42695}"/>
                </a:ext>
              </a:extLst>
            </p:cNvPr>
            <p:cNvCxnSpPr>
              <a:cxnSpLocks/>
            </p:cNvCxnSpPr>
            <p:nvPr/>
          </p:nvCxnSpPr>
          <p:spPr>
            <a:xfrm>
              <a:off x="3930040" y="3649584"/>
              <a:ext cx="115214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25">
              <a:extLst>
                <a:ext uri="{FF2B5EF4-FFF2-40B4-BE49-F238E27FC236}">
                  <a16:creationId xmlns:a16="http://schemas.microsoft.com/office/drawing/2014/main" id="{DDF65F3A-E34A-067F-4922-B6EE8DDA51B4}"/>
                </a:ext>
              </a:extLst>
            </p:cNvPr>
            <p:cNvCxnSpPr>
              <a:cxnSpLocks/>
            </p:cNvCxnSpPr>
            <p:nvPr/>
          </p:nvCxnSpPr>
          <p:spPr>
            <a:xfrm>
              <a:off x="4314334" y="3649584"/>
              <a:ext cx="115214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26">
              <a:extLst>
                <a:ext uri="{FF2B5EF4-FFF2-40B4-BE49-F238E27FC236}">
                  <a16:creationId xmlns:a16="http://schemas.microsoft.com/office/drawing/2014/main" id="{FED49C66-890F-DBCE-7F21-A18CE020F395}"/>
                </a:ext>
              </a:extLst>
            </p:cNvPr>
            <p:cNvCxnSpPr>
              <a:cxnSpLocks/>
            </p:cNvCxnSpPr>
            <p:nvPr/>
          </p:nvCxnSpPr>
          <p:spPr>
            <a:xfrm>
              <a:off x="5482602" y="3629203"/>
              <a:ext cx="115214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0CFF1FE-8D08-F007-B01A-A52465748890}"/>
                </a:ext>
              </a:extLst>
            </p:cNvPr>
            <p:cNvSpPr txBox="1"/>
            <p:nvPr/>
          </p:nvSpPr>
          <p:spPr>
            <a:xfrm>
              <a:off x="5623230" y="3104402"/>
              <a:ext cx="738914" cy="35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2363ED4-5AA3-1A4A-7FF9-383750ED362D}"/>
                </a:ext>
              </a:extLst>
            </p:cNvPr>
            <p:cNvSpPr txBox="1"/>
            <p:nvPr/>
          </p:nvSpPr>
          <p:spPr>
            <a:xfrm>
              <a:off x="3659453" y="3661786"/>
              <a:ext cx="562983" cy="35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布尔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63E57C6-3DE1-FF2D-5E33-32D0172C4FBD}"/>
                </a:ext>
              </a:extLst>
            </p:cNvPr>
            <p:cNvSpPr txBox="1"/>
            <p:nvPr/>
          </p:nvSpPr>
          <p:spPr>
            <a:xfrm>
              <a:off x="4337057" y="3098004"/>
              <a:ext cx="738914" cy="35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位向量</a:t>
              </a:r>
            </a:p>
          </p:txBody>
        </p:sp>
        <p:cxnSp>
          <p:nvCxnSpPr>
            <p:cNvPr id="50" name="直接连接符 30">
              <a:extLst>
                <a:ext uri="{FF2B5EF4-FFF2-40B4-BE49-F238E27FC236}">
                  <a16:creationId xmlns:a16="http://schemas.microsoft.com/office/drawing/2014/main" id="{C1A998A7-FE4E-54CD-6AAD-D3AD1ECF7D7C}"/>
                </a:ext>
              </a:extLst>
            </p:cNvPr>
            <p:cNvCxnSpPr>
              <a:cxnSpLocks/>
            </p:cNvCxnSpPr>
            <p:nvPr/>
          </p:nvCxnSpPr>
          <p:spPr>
            <a:xfrm>
              <a:off x="4635170" y="3650164"/>
              <a:ext cx="115214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05DEF7B-F7AF-F473-36B9-F654DA893B0A}"/>
              </a:ext>
            </a:extLst>
          </p:cNvPr>
          <p:cNvGrpSpPr/>
          <p:nvPr/>
        </p:nvGrpSpPr>
        <p:grpSpPr>
          <a:xfrm>
            <a:off x="4548039" y="5324208"/>
            <a:ext cx="4340775" cy="478356"/>
            <a:chOff x="5756641" y="2381752"/>
            <a:chExt cx="4219103" cy="4783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FD4675DA-FB93-2EB4-49DB-E3D209321EF7}"/>
                    </a:ext>
                  </a:extLst>
                </p:cNvPr>
                <p:cNvSpPr/>
                <p:nvPr/>
              </p:nvSpPr>
              <p:spPr>
                <a:xfrm>
                  <a:off x="5756641" y="2390267"/>
                  <a:ext cx="1023838" cy="469841"/>
                </a:xfrm>
                <a:prstGeom prst="rect">
                  <a:avLst/>
                </a:prstGeom>
                <a:solidFill>
                  <a:srgbClr val="F7FBFC"/>
                </a:solidFill>
                <a:ln w="12700">
                  <a:solidFill>
                    <a:srgbClr val="3667A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3667A6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FD4675DA-FB93-2EB4-49DB-E3D209321E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6641" y="2390267"/>
                  <a:ext cx="1023838" cy="46984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2700">
                  <a:solidFill>
                    <a:srgbClr val="3667A6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4465C73F-0D45-67AB-102C-1D85792D0F0B}"/>
                    </a:ext>
                  </a:extLst>
                </p:cNvPr>
                <p:cNvSpPr/>
                <p:nvPr/>
              </p:nvSpPr>
              <p:spPr>
                <a:xfrm>
                  <a:off x="7744148" y="2386597"/>
                  <a:ext cx="1023838" cy="469841"/>
                </a:xfrm>
                <a:prstGeom prst="rect">
                  <a:avLst/>
                </a:prstGeom>
                <a:solidFill>
                  <a:srgbClr val="F7FBFC"/>
                </a:solidFill>
                <a:ln w="12700">
                  <a:solidFill>
                    <a:srgbClr val="3667A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zh-CN" altLang="en-US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000" b="1" i="1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  <m:r>
                          <a:rPr lang="en-US" altLang="zh-CN" sz="1000" b="1" i="1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zh-CN" altLang="en-US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000" b="1" i="1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𝟎𝟏</m:t>
                        </m:r>
                        <m:r>
                          <a:rPr lang="en-US" altLang="zh-CN" sz="1000" b="1" i="1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3667A6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4465C73F-0D45-67AB-102C-1D85792D0F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4148" y="2386597"/>
                  <a:ext cx="1023838" cy="46984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2700">
                  <a:solidFill>
                    <a:srgbClr val="3667A6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AF0A7DF5-A1E7-638B-9987-0F0D1F05E513}"/>
                    </a:ext>
                  </a:extLst>
                </p:cNvPr>
                <p:cNvSpPr/>
                <p:nvPr/>
              </p:nvSpPr>
              <p:spPr>
                <a:xfrm>
                  <a:off x="8877327" y="2381752"/>
                  <a:ext cx="1098417" cy="469840"/>
                </a:xfrm>
                <a:prstGeom prst="rect">
                  <a:avLst/>
                </a:prstGeom>
                <a:solidFill>
                  <a:srgbClr val="F7FBFC"/>
                </a:solidFill>
                <a:ln w="12700">
                  <a:solidFill>
                    <a:srgbClr val="3667A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𝑺𝒖𝒄𝒄𝒆𝒔𝒔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!"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3667A6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AF0A7DF5-A1E7-638B-9987-0F0D1F05E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7327" y="2381752"/>
                  <a:ext cx="1098417" cy="46984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2700">
                  <a:solidFill>
                    <a:srgbClr val="3667A6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EFAE3BC8-4211-FD49-72C5-7EC0CDC5317B}"/>
                    </a:ext>
                  </a:extLst>
                </p:cNvPr>
                <p:cNvSpPr/>
                <p:nvPr/>
              </p:nvSpPr>
              <p:spPr>
                <a:xfrm>
                  <a:off x="6889740" y="2397332"/>
                  <a:ext cx="715953" cy="462775"/>
                </a:xfrm>
                <a:prstGeom prst="rect">
                  <a:avLst/>
                </a:prstGeom>
                <a:solidFill>
                  <a:srgbClr val="F7FBFC"/>
                </a:solidFill>
                <a:ln w="12700">
                  <a:solidFill>
                    <a:srgbClr val="3667A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000" b="1" i="1" smtClean="0">
                                <a:solidFill>
                                  <a:srgbClr val="3667A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1" i="1" smtClean="0">
                                <a:solidFill>
                                  <a:srgbClr val="3667A6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1000" b="1" i="1" smtClean="0">
                                <a:solidFill>
                                  <a:srgbClr val="3667A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smtClean="0">
                            <a:solidFill>
                              <a:srgbClr val="3667A6"/>
                            </a:solidFill>
                            <a:latin typeface="Cambria Math" panose="02040503050406030204" pitchFamily="18" charset="0"/>
                          </a:rPr>
                          <m:t>𝒕𝒓𝒖𝒆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3667A6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EFAE3BC8-4211-FD49-72C5-7EC0CDC531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9740" y="2397332"/>
                  <a:ext cx="715953" cy="46277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2700">
                  <a:solidFill>
                    <a:srgbClr val="3667A6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476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D84922-EF2E-CB87-F22E-E164251E961E}"/>
              </a:ext>
            </a:extLst>
          </p:cNvPr>
          <p:cNvSpPr/>
          <p:nvPr/>
        </p:nvSpPr>
        <p:spPr>
          <a:xfrm>
            <a:off x="0" y="6410960"/>
            <a:ext cx="9144000" cy="256540"/>
          </a:xfrm>
          <a:prstGeom prst="rect">
            <a:avLst/>
          </a:prstGeom>
          <a:solidFill>
            <a:srgbClr val="8FAADC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A9FFD1-AFF4-786B-C269-E2BFDA6938EC}"/>
              </a:ext>
            </a:extLst>
          </p:cNvPr>
          <p:cNvSpPr/>
          <p:nvPr/>
        </p:nvSpPr>
        <p:spPr>
          <a:xfrm>
            <a:off x="0" y="306070"/>
            <a:ext cx="9144000" cy="511810"/>
          </a:xfrm>
          <a:prstGeom prst="roundRect">
            <a:avLst/>
          </a:prstGeom>
          <a:solidFill>
            <a:srgbClr val="8FAADC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EF46CB-2E1E-701B-49B4-55DA6085BF55}"/>
              </a:ext>
            </a:extLst>
          </p:cNvPr>
          <p:cNvSpPr txBox="1"/>
          <p:nvPr/>
        </p:nvSpPr>
        <p:spPr>
          <a:xfrm>
            <a:off x="92149" y="295544"/>
            <a:ext cx="9144000" cy="44114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latin typeface="华文琥珀"/>
                <a:ea typeface="华文琥珀"/>
              </a:rPr>
              <a:t>未来研究计划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E9127B-29FB-F828-678E-07240792B596}"/>
              </a:ext>
            </a:extLst>
          </p:cNvPr>
          <p:cNvSpPr txBox="1"/>
          <p:nvPr/>
        </p:nvSpPr>
        <p:spPr>
          <a:xfrm>
            <a:off x="571500" y="6442646"/>
            <a:ext cx="2057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2026/9/19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20A4F3-63ED-9A40-3BB1-6F1E42ABBD35}"/>
              </a:ext>
            </a:extLst>
          </p:cNvPr>
          <p:cNvSpPr txBox="1"/>
          <p:nvPr/>
        </p:nvSpPr>
        <p:spPr>
          <a:xfrm>
            <a:off x="2286000" y="6523885"/>
            <a:ext cx="457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Microsoft YaHei" panose="020B0503020204020204" pitchFamily="34" charset="-122"/>
              </a:rPr>
              <a:t>北京航空航天大学软件学院</a:t>
            </a:r>
            <a:r>
              <a:rPr lang="en-US" altLang="zh-CN" sz="900" dirty="0">
                <a:solidFill>
                  <a:srgbClr val="FFFFFF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900" dirty="0">
                <a:solidFill>
                  <a:srgbClr val="FFFFFF"/>
                </a:solidFill>
                <a:latin typeface="Microsoft YaHei" panose="020B0503020204020204" pitchFamily="34" charset="-122"/>
              </a:rPr>
              <a:t>年推免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EC2C0E-BBA1-2EFF-A9DE-27C1F3520117}"/>
              </a:ext>
            </a:extLst>
          </p:cNvPr>
          <p:cNvSpPr txBox="1"/>
          <p:nvPr/>
        </p:nvSpPr>
        <p:spPr>
          <a:xfrm>
            <a:off x="6457950" y="6520038"/>
            <a:ext cx="2057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en-US" altLang="zh-CN" sz="950">
                <a:solidFill>
                  <a:srgbClr val="FFFFFF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95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98E5F5-4421-A1B4-4F93-4413CBA1E36B}"/>
              </a:ext>
            </a:extLst>
          </p:cNvPr>
          <p:cNvSpPr txBox="1"/>
          <p:nvPr/>
        </p:nvSpPr>
        <p:spPr>
          <a:xfrm>
            <a:off x="508000" y="947123"/>
            <a:ext cx="8178800" cy="44114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en-US" altLang="zh-CN" sz="2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 </a:t>
            </a:r>
            <a:r>
              <a:rPr lang="zh-CN" altLang="en-US" sz="2200" b="1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后续工作：求解、采样与组合测试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1C8750-B421-2A32-AE81-253E9A14F539}"/>
              </a:ext>
            </a:extLst>
          </p:cNvPr>
          <p:cNvSpPr/>
          <p:nvPr/>
        </p:nvSpPr>
        <p:spPr>
          <a:xfrm>
            <a:off x="482600" y="1651000"/>
            <a:ext cx="8178800" cy="25400"/>
          </a:xfrm>
          <a:prstGeom prst="rect">
            <a:avLst/>
          </a:prstGeom>
          <a:solidFill>
            <a:srgbClr val="698BC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10C5C27-A957-0F0A-5B35-EC9449916C66}"/>
              </a:ext>
            </a:extLst>
          </p:cNvPr>
          <p:cNvSpPr/>
          <p:nvPr/>
        </p:nvSpPr>
        <p:spPr>
          <a:xfrm>
            <a:off x="571500" y="2200641"/>
            <a:ext cx="304800" cy="3048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endParaRPr lang="zh-CN" altLang="en-US" sz="1100" b="1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B483F9-B13B-6EAA-0D26-CC9EB22E287D}"/>
              </a:ext>
            </a:extLst>
          </p:cNvPr>
          <p:cNvSpPr/>
          <p:nvPr/>
        </p:nvSpPr>
        <p:spPr>
          <a:xfrm>
            <a:off x="1041400" y="1997441"/>
            <a:ext cx="7569200" cy="723900"/>
          </a:xfrm>
          <a:prstGeom prst="rect">
            <a:avLst/>
          </a:prstGeom>
          <a:solidFill>
            <a:srgbClr val="E5EDFA"/>
          </a:solidFill>
          <a:ln w="1270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96A145-6483-A9EA-5E32-D0B13E86B7AC}"/>
              </a:ext>
            </a:extLst>
          </p:cNvPr>
          <p:cNvSpPr txBox="1"/>
          <p:nvPr/>
        </p:nvSpPr>
        <p:spPr>
          <a:xfrm>
            <a:off x="1168400" y="2155872"/>
            <a:ext cx="1905000" cy="31803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高性能 </a:t>
            </a:r>
            <a:r>
              <a:rPr lang="en-US" altLang="zh-CN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 </a:t>
            </a:r>
            <a:r>
              <a:rPr lang="zh-CN" altLang="en-US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求解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55FAA7-3A18-23C5-6014-FF4A0683E45E}"/>
              </a:ext>
            </a:extLst>
          </p:cNvPr>
          <p:cNvSpPr txBox="1"/>
          <p:nvPr/>
        </p:nvSpPr>
        <p:spPr>
          <a:xfrm>
            <a:off x="3073400" y="2189728"/>
            <a:ext cx="5359400" cy="284180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18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面向字符串、位向量和浮点数等理论，优化传播、冲突分析与理论推理效率。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F030486-66A9-223D-ED5B-47118D9FE059}"/>
              </a:ext>
            </a:extLst>
          </p:cNvPr>
          <p:cNvSpPr/>
          <p:nvPr/>
        </p:nvSpPr>
        <p:spPr>
          <a:xfrm>
            <a:off x="571500" y="3127741"/>
            <a:ext cx="304800" cy="3048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endParaRPr lang="zh-CN" altLang="en-US" sz="1100" b="1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990F17-B2C2-5083-C061-42D001C3C952}"/>
              </a:ext>
            </a:extLst>
          </p:cNvPr>
          <p:cNvSpPr/>
          <p:nvPr/>
        </p:nvSpPr>
        <p:spPr>
          <a:xfrm>
            <a:off x="1041400" y="2924541"/>
            <a:ext cx="75692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FE58C13-8FC4-618C-FD06-2B7E440F60C4}"/>
              </a:ext>
            </a:extLst>
          </p:cNvPr>
          <p:cNvSpPr txBox="1"/>
          <p:nvPr/>
        </p:nvSpPr>
        <p:spPr>
          <a:xfrm>
            <a:off x="1206500" y="3096771"/>
            <a:ext cx="1905000" cy="31803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自适应智能 </a:t>
            </a:r>
            <a:r>
              <a:rPr lang="en-US" altLang="zh-CN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</a:t>
            </a:r>
            <a:endParaRPr lang="zh-CN" altLang="en-US" sz="1400" b="1" dirty="0">
              <a:solidFill>
                <a:srgbClr val="435E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4888A8-69A7-4F6D-1AD3-5A1988A39A4D}"/>
              </a:ext>
            </a:extLst>
          </p:cNvPr>
          <p:cNvSpPr txBox="1"/>
          <p:nvPr/>
        </p:nvSpPr>
        <p:spPr>
          <a:xfrm>
            <a:off x="3073400" y="3047256"/>
            <a:ext cx="5359400" cy="465769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18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利用实例特征和贝叶斯优化构建求解器调度序列，提升跨数据集的性能与鲁棒性。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5621D1B-C109-0D7F-A212-CA0E463FDCA4}"/>
              </a:ext>
            </a:extLst>
          </p:cNvPr>
          <p:cNvSpPr/>
          <p:nvPr/>
        </p:nvSpPr>
        <p:spPr>
          <a:xfrm>
            <a:off x="571500" y="4054841"/>
            <a:ext cx="304800" cy="3048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endParaRPr lang="zh-CN" altLang="en-US" sz="1100" b="1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879576-7DD8-FBB5-BA9A-B91E6288FBB5}"/>
              </a:ext>
            </a:extLst>
          </p:cNvPr>
          <p:cNvSpPr/>
          <p:nvPr/>
        </p:nvSpPr>
        <p:spPr>
          <a:xfrm>
            <a:off x="1041400" y="3851641"/>
            <a:ext cx="7569200" cy="723900"/>
          </a:xfrm>
          <a:prstGeom prst="rect">
            <a:avLst/>
          </a:prstGeom>
          <a:solidFill>
            <a:srgbClr val="E5EDFA"/>
          </a:solidFill>
          <a:ln w="1270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A39A82-0052-35E5-5068-01F0B782B225}"/>
              </a:ext>
            </a:extLst>
          </p:cNvPr>
          <p:cNvSpPr txBox="1"/>
          <p:nvPr/>
        </p:nvSpPr>
        <p:spPr>
          <a:xfrm>
            <a:off x="1206500" y="4041605"/>
            <a:ext cx="1905000" cy="31803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多样化 </a:t>
            </a:r>
            <a:r>
              <a:rPr lang="en-US" altLang="zh-CN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 </a:t>
            </a:r>
            <a:r>
              <a:rPr lang="zh-CN" altLang="en-US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采样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F27095-1A90-FE8B-14DD-CF3CF7D8D99A}"/>
              </a:ext>
            </a:extLst>
          </p:cNvPr>
          <p:cNvSpPr txBox="1"/>
          <p:nvPr/>
        </p:nvSpPr>
        <p:spPr>
          <a:xfrm>
            <a:off x="3111500" y="4075461"/>
            <a:ext cx="5359400" cy="284180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18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延伸已有思路，在覆盖率、样本规模和生成时间之间取得平衡。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006B4B8-243C-F53A-3F74-BD95AEB1DD4C}"/>
              </a:ext>
            </a:extLst>
          </p:cNvPr>
          <p:cNvSpPr/>
          <p:nvPr/>
        </p:nvSpPr>
        <p:spPr>
          <a:xfrm>
            <a:off x="571500" y="4981941"/>
            <a:ext cx="304800" cy="304800"/>
          </a:xfrm>
          <a:prstGeom prst="ellipse">
            <a:avLst/>
          </a:prstGeom>
          <a:solidFill>
            <a:srgbClr val="435E9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endParaRPr lang="zh-CN" altLang="en-US" sz="1100" b="1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1BA73F-1E92-5889-0236-DE73577DE1CB}"/>
              </a:ext>
            </a:extLst>
          </p:cNvPr>
          <p:cNvSpPr/>
          <p:nvPr/>
        </p:nvSpPr>
        <p:spPr>
          <a:xfrm>
            <a:off x="1041400" y="4778741"/>
            <a:ext cx="75692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6F7CE8-A6DF-A383-3153-A76BEAB02E49}"/>
              </a:ext>
            </a:extLst>
          </p:cNvPr>
          <p:cNvSpPr txBox="1"/>
          <p:nvPr/>
        </p:nvSpPr>
        <p:spPr>
          <a:xfrm>
            <a:off x="1206500" y="4968705"/>
            <a:ext cx="1905000" cy="31803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400" b="1" dirty="0">
                <a:solidFill>
                  <a:srgbClr val="435E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组合测试应用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85154EA-8D9E-2CF6-FCC1-9C35CEFEB581}"/>
              </a:ext>
            </a:extLst>
          </p:cNvPr>
          <p:cNvSpPr txBox="1"/>
          <p:nvPr/>
        </p:nvSpPr>
        <p:spPr>
          <a:xfrm>
            <a:off x="3073400" y="4907806"/>
            <a:ext cx="5359400" cy="465769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118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</a:t>
            </a:r>
            <a:r>
              <a:rPr lang="en-US" altLang="zh-CN" sz="118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</a:t>
            </a:r>
            <a:r>
              <a:rPr lang="zh-CN" altLang="en-US" sz="118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采样用于编译器测试与约束组合测试，覆盖数值、字符串及混合理论交互。</a:t>
            </a:r>
          </a:p>
        </p:txBody>
      </p:sp>
    </p:spTree>
    <p:extLst>
      <p:ext uri="{BB962C8B-B14F-4D97-AF65-F5344CB8AC3E}">
        <p14:creationId xmlns:p14="http://schemas.microsoft.com/office/powerpoint/2010/main" val="424037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4" grpId="0" animBg="1"/>
      <p:bldP spid="25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0AC41F2-6B20-81BB-7A0C-4B62EE151C51}"/>
              </a:ext>
            </a:extLst>
          </p:cNvPr>
          <p:cNvSpPr/>
          <p:nvPr/>
        </p:nvSpPr>
        <p:spPr>
          <a:xfrm>
            <a:off x="0" y="6423660"/>
            <a:ext cx="9144000" cy="256540"/>
          </a:xfrm>
          <a:prstGeom prst="rect">
            <a:avLst/>
          </a:prstGeom>
          <a:solidFill>
            <a:srgbClr val="8FAADC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86D9BA0-855C-7541-27B7-BDCEACF5DAC5}"/>
              </a:ext>
            </a:extLst>
          </p:cNvPr>
          <p:cNvSpPr/>
          <p:nvPr/>
        </p:nvSpPr>
        <p:spPr>
          <a:xfrm>
            <a:off x="0" y="306070"/>
            <a:ext cx="9144000" cy="511810"/>
          </a:xfrm>
          <a:prstGeom prst="roundRect">
            <a:avLst/>
          </a:prstGeom>
          <a:solidFill>
            <a:srgbClr val="8FAADC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951AD2-A141-D3D1-29E2-83821E611921}"/>
              </a:ext>
            </a:extLst>
          </p:cNvPr>
          <p:cNvSpPr txBox="1"/>
          <p:nvPr/>
        </p:nvSpPr>
        <p:spPr>
          <a:xfrm>
            <a:off x="0" y="323553"/>
            <a:ext cx="9144000" cy="441146"/>
          </a:xfrm>
          <a:prstGeom prst="rect">
            <a:avLst/>
          </a:prstGeom>
          <a:noFill/>
        </p:spPr>
        <p:txBody>
          <a:bodyPr vert="horz" wrap="square" lIns="88900" tIns="50800" rIns="88900" bIns="50800" rtlCol="0" anchor="ctr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3036FF-9737-C1F1-A0ED-AF0DDFA4BE19}"/>
              </a:ext>
            </a:extLst>
          </p:cNvPr>
          <p:cNvSpPr txBox="1"/>
          <p:nvPr/>
        </p:nvSpPr>
        <p:spPr>
          <a:xfrm>
            <a:off x="628650" y="6478833"/>
            <a:ext cx="2057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950" dirty="0">
                <a:solidFill>
                  <a:srgbClr val="FFFFFF"/>
                </a:solidFill>
                <a:latin typeface="Microsoft YaHei" panose="020B0503020204020204" pitchFamily="34" charset="-122"/>
              </a:rPr>
              <a:t>2026/9/19</a:t>
            </a:r>
            <a:endParaRPr lang="zh-CN" altLang="en-US" sz="95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20AF6-14E0-3CA2-6605-971F3A40D393}"/>
              </a:ext>
            </a:extLst>
          </p:cNvPr>
          <p:cNvSpPr txBox="1"/>
          <p:nvPr/>
        </p:nvSpPr>
        <p:spPr>
          <a:xfrm>
            <a:off x="4866167" y="6395947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衷心感谢各位专家 敬请批评指正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C8351AC-D168-1D72-91ED-3CB633EB6F93}"/>
              </a:ext>
            </a:extLst>
          </p:cNvPr>
          <p:cNvSpPr/>
          <p:nvPr/>
        </p:nvSpPr>
        <p:spPr>
          <a:xfrm>
            <a:off x="381000" y="1595182"/>
            <a:ext cx="1422400" cy="1168400"/>
          </a:xfrm>
          <a:prstGeom prst="roundRect">
            <a:avLst/>
          </a:prstGeom>
          <a:solidFill>
            <a:srgbClr val="435E99"/>
          </a:solidFill>
          <a:ln w="16510">
            <a:solidFill>
              <a:srgbClr val="435E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个人基本</a:t>
            </a:r>
            <a:endParaRPr lang="en-US" altLang="zh-CN" sz="150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情况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F3F478D-C521-9B86-E4E4-BE19C3F655E6}"/>
              </a:ext>
            </a:extLst>
          </p:cNvPr>
          <p:cNvSpPr/>
          <p:nvPr/>
        </p:nvSpPr>
        <p:spPr>
          <a:xfrm>
            <a:off x="1917700" y="1595182"/>
            <a:ext cx="6819900" cy="1168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r>
              <a:rPr lang="en-US" altLang="zh-CN" sz="1210" dirty="0">
                <a:solidFill>
                  <a:srgbClr val="232A3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推免综测 </a:t>
            </a:r>
            <a:r>
              <a:rPr lang="en-US" altLang="zh-CN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GPA 3.88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，排名 </a:t>
            </a:r>
            <a:r>
              <a:rPr lang="en-US" altLang="zh-CN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17/159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，获</a:t>
            </a:r>
            <a:r>
              <a:rPr lang="zh-CN" altLang="en-US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国家奖学金</a:t>
            </a:r>
          </a:p>
          <a:p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参与</a:t>
            </a:r>
            <a:r>
              <a:rPr lang="en-US" altLang="zh-CN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ACM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竞赛，多次获得银牌</a:t>
            </a:r>
          </a:p>
          <a:p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参加数学建模比赛，获得美赛</a:t>
            </a:r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奖和国赛省级二等奖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C180CAE-EE21-8957-5D41-2DA3CDD05E3B}"/>
              </a:ext>
            </a:extLst>
          </p:cNvPr>
          <p:cNvSpPr/>
          <p:nvPr/>
        </p:nvSpPr>
        <p:spPr>
          <a:xfrm>
            <a:off x="381000" y="2992182"/>
            <a:ext cx="1422400" cy="1168400"/>
          </a:xfrm>
          <a:prstGeom prst="roundRect">
            <a:avLst/>
          </a:prstGeom>
          <a:solidFill>
            <a:srgbClr val="435E99"/>
          </a:solidFill>
          <a:ln w="16510">
            <a:solidFill>
              <a:srgbClr val="435E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科研工作</a:t>
            </a:r>
            <a:endParaRPr lang="en-US" altLang="zh-CN" sz="150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成果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B49009-D5E0-0910-2B12-C746537262AC}"/>
              </a:ext>
            </a:extLst>
          </p:cNvPr>
          <p:cNvSpPr/>
          <p:nvPr/>
        </p:nvSpPr>
        <p:spPr>
          <a:xfrm>
            <a:off x="1917700" y="2992182"/>
            <a:ext cx="6819900" cy="1168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r>
              <a:rPr lang="en-US" altLang="zh-CN" sz="1210" dirty="0">
                <a:solidFill>
                  <a:srgbClr val="232A30"/>
                </a:solidFill>
                <a:latin typeface="Microsoft YaHei" panose="020B0503020204020204" pitchFamily="34" charset="-122"/>
              </a:rPr>
              <a:t>• </a:t>
            </a:r>
            <a:r>
              <a:rPr lang="en-US" altLang="zh-CN" sz="1210" dirty="0" err="1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SplitCA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：解决大规模 </a:t>
            </a:r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4-wise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覆盖阵列生成问题，论文被 </a:t>
            </a:r>
            <a:r>
              <a:rPr lang="en-US" altLang="zh-CN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ASE 2026</a:t>
            </a:r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录取</a:t>
            </a:r>
          </a:p>
          <a:p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en-US" altLang="zh-CN" sz="1210" dirty="0" err="1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SATDiv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：面向组合测试的多样化约束配置采样，论文被 </a:t>
            </a:r>
            <a:r>
              <a:rPr lang="en-US" altLang="zh-CN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FMCAD 2026</a:t>
            </a:r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录取</a:t>
            </a:r>
          </a:p>
          <a:p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两项工作均作为论文中</a:t>
            </a:r>
            <a:r>
              <a:rPr lang="zh-CN" altLang="en-US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唯一的本科生作者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参与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B45F24-3325-73C6-B8C7-7252A6584822}"/>
              </a:ext>
            </a:extLst>
          </p:cNvPr>
          <p:cNvSpPr/>
          <p:nvPr/>
        </p:nvSpPr>
        <p:spPr>
          <a:xfrm>
            <a:off x="381000" y="4389182"/>
            <a:ext cx="1422400" cy="1168400"/>
          </a:xfrm>
          <a:prstGeom prst="roundRect">
            <a:avLst/>
          </a:prstGeom>
          <a:solidFill>
            <a:srgbClr val="435E99"/>
          </a:solidFill>
          <a:ln w="16510">
            <a:solidFill>
              <a:srgbClr val="435E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未来研究</a:t>
            </a:r>
            <a:endParaRPr lang="en-US" altLang="zh-CN" sz="150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方向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03F74EF-6E7F-F495-1483-E6FA2B577648}"/>
              </a:ext>
            </a:extLst>
          </p:cNvPr>
          <p:cNvSpPr/>
          <p:nvPr/>
        </p:nvSpPr>
        <p:spPr>
          <a:xfrm>
            <a:off x="1917700" y="4389182"/>
            <a:ext cx="6819900" cy="1168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2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</a:t>
            </a:r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SAT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采样拓展到</a:t>
            </a:r>
            <a:r>
              <a:rPr lang="en-US" altLang="zh-CN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SMT</a:t>
            </a:r>
            <a:r>
              <a:rPr lang="zh-CN" altLang="en-US" sz="1210" b="1" dirty="0">
                <a:solidFill>
                  <a:srgbClr val="C4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求解与多样化采样</a:t>
            </a:r>
          </a:p>
          <a:p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研究理论感知的多样性度量、自适应求解器调度与高效模型生成</a:t>
            </a:r>
          </a:p>
          <a:p>
            <a:r>
              <a:rPr lang="en-US" altLang="zh-CN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sz="1210" dirty="0">
                <a:solidFill>
                  <a:srgbClr val="232A3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服务编译器测试和约束组合测试，提升关键软件可靠性</a:t>
            </a:r>
          </a:p>
        </p:txBody>
      </p:sp>
    </p:spTree>
    <p:extLst>
      <p:ext uri="{BB962C8B-B14F-4D97-AF65-F5344CB8AC3E}">
        <p14:creationId xmlns:p14="http://schemas.microsoft.com/office/powerpoint/2010/main" val="10467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BAC197A1F9B80FEABD0F9518209DA18269CB45A0A79DB92FC3F932A397CD1FA2" val="[{&quot;GradientColorId&quot;:&quot;&quot;,&quot;IsFree&quot;:true,&quot;IsGradient&quot;:false,&quot;ImagePath&quot;:&quot;&quot;,&quot;GradientColor&quot;:null,&quot;SimpleColor&quot;:&quot;#5B9BD5&quot;},{&quot;GradientColorId&quot;:&quot;&quot;,&quot;IsFree&quot;:true,&quot;IsGradient&quot;:false,&quot;ImagePath&quot;:&quot;&quot;,&quot;GradientColor&quot;:null,&quot;SimpleColor&quot;:&quot;#4472C4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2130</Words>
  <Application>Microsoft Office PowerPoint</Application>
  <DocSecurity>0</DocSecurity>
  <PresentationFormat>全屏显示(4:3)</PresentationFormat>
  <Paragraphs>253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Segoe UI</vt:lpstr>
      <vt:lpstr>Calibri Light</vt:lpstr>
      <vt:lpstr>华文琥珀</vt:lpstr>
      <vt:lpstr>微软雅黑</vt:lpstr>
      <vt:lpstr>Calibri</vt:lpstr>
      <vt:lpstr>微软雅黑</vt:lpstr>
      <vt:lpstr>仿宋_GB2312</vt:lpstr>
      <vt:lpstr>华文中宋</vt:lpstr>
      <vt:lpstr>等线</vt:lpstr>
      <vt:lpstr>Cambria Math</vt:lpstr>
      <vt:lpstr>Arial</vt:lpstr>
      <vt:lpstr>等线 Light</vt:lpstr>
      <vt:lpstr>华文仿宋</vt:lpstr>
      <vt:lpstr>Wingdings</vt:lpstr>
      <vt:lpstr>字制区喜脉体</vt:lpstr>
      <vt:lpstr>Office 主题​​</vt:lpstr>
      <vt:lpstr>北京航空航天大学 软件学院2026年推免</vt:lpstr>
      <vt:lpstr>个人基本情况</vt:lpstr>
      <vt:lpstr>PowerPoint 演示文稿</vt:lpstr>
      <vt:lpstr>PowerPoint 演示文稿</vt:lpstr>
      <vt:lpstr>PowerPoint 演示文稿</vt:lpstr>
      <vt:lpstr>PowerPoint 演示文稿</vt:lpstr>
      <vt:lpstr>本科科研经历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未来研究计划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岳辰 段</cp:lastModifiedBy>
  <cp:revision>15</cp:revision>
  <dcterms:created xsi:type="dcterms:W3CDTF">2026-09-19T05:06:16Z</dcterms:created>
  <dcterms:modified xsi:type="dcterms:W3CDTF">2026-09-19T10:44:45Z</dcterms:modified>
</cp:coreProperties>
</file>