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3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79" r:id="rId5"/>
    <p:sldId id="257" r:id="rId6"/>
    <p:sldId id="267" r:id="rId7"/>
    <p:sldId id="280" r:id="rId8"/>
    <p:sldId id="287" r:id="rId9"/>
    <p:sldId id="281" r:id="rId10"/>
    <p:sldId id="266" r:id="rId11"/>
    <p:sldId id="283" r:id="rId12"/>
    <p:sldId id="264" r:id="rId13"/>
    <p:sldId id="290" r:id="rId14"/>
    <p:sldId id="291" r:id="rId15"/>
    <p:sldId id="292" r:id="rId16"/>
    <p:sldId id="284" r:id="rId17"/>
    <p:sldId id="265" r:id="rId18"/>
    <p:sldId id="263" r:id="rId19"/>
    <p:sldId id="286" r:id="rId20"/>
    <p:sldId id="271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950" userDrawn="1">
          <p15:clr>
            <a:srgbClr val="A4A3A4"/>
          </p15:clr>
        </p15:guide>
        <p15:guide id="4" orient="horz" pos="299" userDrawn="1">
          <p15:clr>
            <a:srgbClr val="A4A3A4"/>
          </p15:clr>
        </p15:guide>
        <p15:guide id="5" orient="horz" pos="803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7" pos="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6A6"/>
    <a:srgbClr val="FBD37B"/>
    <a:srgbClr val="CC9643"/>
    <a:srgbClr val="809DAC"/>
    <a:srgbClr val="E3B2B8"/>
    <a:srgbClr val="535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87EBD88-0351-4220-84E2-7A6A2DB4DE04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906" y="1146"/>
      </p:cViewPr>
      <p:guideLst>
        <p:guide orient="horz" pos="2165"/>
        <p:guide pos="3840"/>
        <p:guide orient="horz" pos="3950"/>
        <p:guide orient="horz" pos="299"/>
        <p:guide orient="horz" pos="803"/>
        <p:guide pos="7469"/>
        <p:guide pos="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90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/>
          <a:stretch>
            <a:fillRect/>
          </a:stretch>
        </p:blipFill>
        <p:spPr>
          <a:xfrm>
            <a:off x="0" y="3486785"/>
            <a:ext cx="12192635" cy="33712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 r="62901"/>
          <a:stretch>
            <a:fillRect/>
          </a:stretch>
        </p:blipFill>
        <p:spPr>
          <a:xfrm rot="16200000" flipH="1">
            <a:off x="6211570" y="877570"/>
            <a:ext cx="6853555" cy="5107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 r="62901" b="16599"/>
          <a:stretch>
            <a:fillRect/>
          </a:stretch>
        </p:blipFill>
        <p:spPr>
          <a:xfrm rot="10800000" flipH="1">
            <a:off x="0" y="0"/>
            <a:ext cx="3642995" cy="2302510"/>
          </a:xfrm>
          <a:prstGeom prst="rect">
            <a:avLst/>
          </a:prstGeom>
        </p:spPr>
      </p:pic>
      <p:pic>
        <p:nvPicPr>
          <p:cNvPr id="2" name="图片 1" descr="图层 1"/>
          <p:cNvPicPr>
            <a:picLocks noChangeAspect="1"/>
          </p:cNvPicPr>
          <p:nvPr userDrawn="1"/>
        </p:nvPicPr>
        <p:blipFill>
          <a:blip r:embed="rId2"/>
          <a:srcRect t="22631" r="62901" b="16599"/>
          <a:stretch>
            <a:fillRect/>
          </a:stretch>
        </p:blipFill>
        <p:spPr>
          <a:xfrm flipH="1">
            <a:off x="9766935" y="5325110"/>
            <a:ext cx="2425065" cy="1532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8" Type="http://schemas.openxmlformats.org/officeDocument/2006/relationships/slideLayout" Target="../slideLayouts/slideLayout3.xml"/><Relationship Id="rId27" Type="http://schemas.openxmlformats.org/officeDocument/2006/relationships/image" Target="../media/image10.svg"/><Relationship Id="rId26" Type="http://schemas.openxmlformats.org/officeDocument/2006/relationships/image" Target="../media/image9.png"/><Relationship Id="rId25" Type="http://schemas.openxmlformats.org/officeDocument/2006/relationships/tags" Target="../tags/tag40.xml"/><Relationship Id="rId24" Type="http://schemas.openxmlformats.org/officeDocument/2006/relationships/image" Target="../media/image8.svg"/><Relationship Id="rId23" Type="http://schemas.openxmlformats.org/officeDocument/2006/relationships/image" Target="../media/image7.png"/><Relationship Id="rId22" Type="http://schemas.openxmlformats.org/officeDocument/2006/relationships/tags" Target="../tags/tag39.xml"/><Relationship Id="rId21" Type="http://schemas.openxmlformats.org/officeDocument/2006/relationships/image" Target="../media/image6.svg"/><Relationship Id="rId20" Type="http://schemas.openxmlformats.org/officeDocument/2006/relationships/image" Target="../media/image5.png"/><Relationship Id="rId2" Type="http://schemas.openxmlformats.org/officeDocument/2006/relationships/tags" Target="../tags/tag21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46.xml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5" Type="http://schemas.openxmlformats.org/officeDocument/2006/relationships/slideLayout" Target="../slideLayouts/slideLayout3.xml"/><Relationship Id="rId34" Type="http://schemas.openxmlformats.org/officeDocument/2006/relationships/tags" Target="../tags/tag64.xml"/><Relationship Id="rId33" Type="http://schemas.openxmlformats.org/officeDocument/2006/relationships/tags" Target="../tags/tag63.xml"/><Relationship Id="rId32" Type="http://schemas.openxmlformats.org/officeDocument/2006/relationships/tags" Target="../tags/tag62.xml"/><Relationship Id="rId31" Type="http://schemas.openxmlformats.org/officeDocument/2006/relationships/tags" Target="../tags/tag61.xml"/><Relationship Id="rId30" Type="http://schemas.openxmlformats.org/officeDocument/2006/relationships/image" Target="../media/image20.svg"/><Relationship Id="rId3" Type="http://schemas.openxmlformats.org/officeDocument/2006/relationships/tags" Target="../tags/tag43.xml"/><Relationship Id="rId29" Type="http://schemas.openxmlformats.org/officeDocument/2006/relationships/image" Target="../media/image19.png"/><Relationship Id="rId28" Type="http://schemas.openxmlformats.org/officeDocument/2006/relationships/tags" Target="../tags/tag60.xml"/><Relationship Id="rId27" Type="http://schemas.openxmlformats.org/officeDocument/2006/relationships/tags" Target="../tags/tag59.xml"/><Relationship Id="rId26" Type="http://schemas.openxmlformats.org/officeDocument/2006/relationships/tags" Target="../tags/tag58.xml"/><Relationship Id="rId25" Type="http://schemas.openxmlformats.org/officeDocument/2006/relationships/tags" Target="../tags/tag57.xml"/><Relationship Id="rId24" Type="http://schemas.openxmlformats.org/officeDocument/2006/relationships/tags" Target="../tags/tag56.xml"/><Relationship Id="rId23" Type="http://schemas.openxmlformats.org/officeDocument/2006/relationships/tags" Target="../tags/tag55.xml"/><Relationship Id="rId22" Type="http://schemas.openxmlformats.org/officeDocument/2006/relationships/tags" Target="../tags/tag54.xml"/><Relationship Id="rId21" Type="http://schemas.openxmlformats.org/officeDocument/2006/relationships/tags" Target="../tags/tag53.xml"/><Relationship Id="rId20" Type="http://schemas.openxmlformats.org/officeDocument/2006/relationships/tags" Target="../tags/tag52.xml"/><Relationship Id="rId2" Type="http://schemas.openxmlformats.org/officeDocument/2006/relationships/tags" Target="../tags/tag42.xml"/><Relationship Id="rId19" Type="http://schemas.openxmlformats.org/officeDocument/2006/relationships/tags" Target="../tags/tag51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tags" Target="../tags/tag48.xml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tags" Target="../tags/tag47.xml"/><Relationship Id="rId10" Type="http://schemas.openxmlformats.org/officeDocument/2006/relationships/image" Target="../media/image14.svg"/><Relationship Id="rId1" Type="http://schemas.openxmlformats.org/officeDocument/2006/relationships/tags" Target="../tags/tag4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1" Type="http://schemas.openxmlformats.org/officeDocument/2006/relationships/slideLayout" Target="../slideLayouts/slideLayout3.xml"/><Relationship Id="rId30" Type="http://schemas.openxmlformats.org/officeDocument/2006/relationships/tags" Target="../tags/tag94.xml"/><Relationship Id="rId3" Type="http://schemas.openxmlformats.org/officeDocument/2006/relationships/tags" Target="../tags/tag67.xml"/><Relationship Id="rId29" Type="http://schemas.openxmlformats.org/officeDocument/2006/relationships/tags" Target="../tags/tag93.xml"/><Relationship Id="rId28" Type="http://schemas.openxmlformats.org/officeDocument/2006/relationships/tags" Target="../tags/tag92.xml"/><Relationship Id="rId27" Type="http://schemas.openxmlformats.org/officeDocument/2006/relationships/tags" Target="../tags/tag91.xml"/><Relationship Id="rId26" Type="http://schemas.openxmlformats.org/officeDocument/2006/relationships/tags" Target="../tags/tag90.xml"/><Relationship Id="rId25" Type="http://schemas.openxmlformats.org/officeDocument/2006/relationships/tags" Target="../tags/tag89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6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1" Type="http://schemas.openxmlformats.org/officeDocument/2006/relationships/slideLayout" Target="../slideLayouts/slideLayout3.xml"/><Relationship Id="rId30" Type="http://schemas.openxmlformats.org/officeDocument/2006/relationships/tags" Target="../tags/tag124.xml"/><Relationship Id="rId3" Type="http://schemas.openxmlformats.org/officeDocument/2006/relationships/tags" Target="../tags/tag97.xml"/><Relationship Id="rId29" Type="http://schemas.openxmlformats.org/officeDocument/2006/relationships/tags" Target="../tags/tag123.xml"/><Relationship Id="rId28" Type="http://schemas.openxmlformats.org/officeDocument/2006/relationships/tags" Target="../tags/tag122.xml"/><Relationship Id="rId27" Type="http://schemas.openxmlformats.org/officeDocument/2006/relationships/tags" Target="../tags/tag121.xml"/><Relationship Id="rId26" Type="http://schemas.openxmlformats.org/officeDocument/2006/relationships/tags" Target="../tags/tag120.xml"/><Relationship Id="rId25" Type="http://schemas.openxmlformats.org/officeDocument/2006/relationships/tags" Target="../tags/tag119.xml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tags" Target="../tags/tag96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tags" Target="../tags/tag12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image" Target="../media/image22.svg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189.xml"/><Relationship Id="rId17" Type="http://schemas.openxmlformats.org/officeDocument/2006/relationships/tags" Target="../tags/tag188.xml"/><Relationship Id="rId16" Type="http://schemas.openxmlformats.org/officeDocument/2006/relationships/tags" Target="../tags/tag187.xml"/><Relationship Id="rId15" Type="http://schemas.openxmlformats.org/officeDocument/2006/relationships/tags" Target="../tags/tag186.xml"/><Relationship Id="rId14" Type="http://schemas.openxmlformats.org/officeDocument/2006/relationships/tags" Target="../tags/tag185.xml"/><Relationship Id="rId13" Type="http://schemas.openxmlformats.org/officeDocument/2006/relationships/tags" Target="../tags/tag184.xml"/><Relationship Id="rId12" Type="http://schemas.openxmlformats.org/officeDocument/2006/relationships/tags" Target="../tags/tag183.xml"/><Relationship Id="rId11" Type="http://schemas.openxmlformats.org/officeDocument/2006/relationships/tags" Target="../tags/tag182.xml"/><Relationship Id="rId10" Type="http://schemas.openxmlformats.org/officeDocument/2006/relationships/tags" Target="../tags/tag181.xml"/><Relationship Id="rId1" Type="http://schemas.openxmlformats.org/officeDocument/2006/relationships/tags" Target="../tags/tag17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21224" y="2181377"/>
            <a:ext cx="2730500" cy="457200"/>
            <a:chOff x="5016500" y="3373755"/>
            <a:chExt cx="2730500" cy="457200"/>
          </a:xfrm>
          <a:solidFill>
            <a:srgbClr val="1C56A6"/>
          </a:solidFill>
        </p:grpSpPr>
        <p:sp>
          <p:nvSpPr>
            <p:cNvPr id="3" name="矩形: 圆角 2"/>
            <p:cNvSpPr/>
            <p:nvPr/>
          </p:nvSpPr>
          <p:spPr>
            <a:xfrm>
              <a:off x="5016500" y="3373755"/>
              <a:ext cx="2730500" cy="457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C56A6"/>
              </a:solidFill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73677" y="3433713"/>
              <a:ext cx="2084070" cy="337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spc="200" dirty="0">
                  <a:solidFill>
                    <a:srgbClr val="1C5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吴志文</a:t>
              </a:r>
              <a:r>
                <a:rPr lang="en-US" altLang="zh-CN" sz="1600" spc="200" dirty="0">
                  <a:solidFill>
                    <a:srgbClr val="1C5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/ 2025.4.9</a:t>
              </a:r>
              <a:endParaRPr lang="en-US" altLang="zh-CN" sz="1600" spc="200" dirty="0">
                <a:solidFill>
                  <a:srgbClr val="1C5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02510" y="1016318"/>
            <a:ext cx="7827010" cy="8299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dist"/>
            <a:r>
              <a:rPr lang="zh-CN" altLang="en-US" sz="4800" dirty="0">
                <a:solidFill>
                  <a:srgbClr val="1C56A6"/>
                </a:solidFill>
                <a:effectLst/>
                <a:latin typeface="+mn-lt"/>
                <a:ea typeface="+mn-ea"/>
                <a:cs typeface="+mn-ea"/>
                <a:sym typeface="+mn-lt"/>
              </a:rPr>
              <a:t>考研北大</a:t>
            </a:r>
            <a:r>
              <a:rPr lang="zh-CN" altLang="en-US" sz="4800" dirty="0">
                <a:solidFill>
                  <a:srgbClr val="1C56A6"/>
                </a:solidFill>
                <a:effectLst/>
                <a:latin typeface="+mn-lt"/>
                <a:ea typeface="+mn-ea"/>
                <a:cs typeface="+mn-ea"/>
                <a:sym typeface="+mn-lt"/>
              </a:rPr>
              <a:t>软微经验分享</a:t>
            </a:r>
            <a:endParaRPr lang="zh-CN" altLang="en-US" sz="4800" dirty="0">
              <a:solidFill>
                <a:srgbClr val="1C56A6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3385" y="2824480"/>
            <a:ext cx="1943735" cy="159893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9740265" y="4423410"/>
            <a:ext cx="1405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知乎经验贴</a:t>
            </a:r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4573270" y="1276985"/>
            <a:ext cx="4015975" cy="4330394"/>
            <a:chOff x="10211" y="1414"/>
            <a:chExt cx="7072" cy="7625"/>
          </a:xfrm>
        </p:grpSpPr>
        <p:grpSp>
          <p:nvGrpSpPr>
            <p:cNvPr id="4" name="组合 3"/>
            <p:cNvGrpSpPr/>
            <p:nvPr/>
          </p:nvGrpSpPr>
          <p:grpSpPr>
            <a:xfrm rot="0">
              <a:off x="10211" y="1414"/>
              <a:ext cx="6269" cy="1288"/>
              <a:chOff x="3351" y="3407"/>
              <a:chExt cx="6269" cy="1288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3351" y="3543"/>
                <a:ext cx="1023" cy="1023"/>
                <a:chOff x="910275" y="2123864"/>
                <a:chExt cx="792088" cy="792088"/>
              </a:xfrm>
            </p:grpSpPr>
            <p:sp>
              <p:nvSpPr>
                <p:cNvPr id="11" name="椭圆 10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910275" y="2123864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0" name="文本框 9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1001314" y="2310639"/>
                  <a:ext cx="610011" cy="4190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01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 rot="0">
                <a:off x="4899" y="3407"/>
                <a:ext cx="4721" cy="1288"/>
                <a:chOff x="3315584" y="3169020"/>
                <a:chExt cx="2997972" cy="818120"/>
              </a:xfrm>
            </p:grpSpPr>
            <p:sp>
              <p:nvSpPr>
                <p:cNvPr id="14" name="矩形 1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15584" y="3169020"/>
                  <a:ext cx="2997908" cy="5837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个人情况与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择校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矩形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3315584" y="3692277"/>
                  <a:ext cx="2997972" cy="2948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r>
                    <a:rPr lang="zh-CN" altLang="en-US" sz="16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Review of work contents</a:t>
                  </a:r>
                  <a:endParaRPr lang="zh-CN" altLang="en-US" sz="1600" dirty="0">
                    <a:solidFill>
                      <a:srgbClr val="A09FAD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 rot="0">
              <a:off x="10211" y="3435"/>
              <a:ext cx="6957" cy="1502"/>
              <a:chOff x="3351" y="3407"/>
              <a:chExt cx="6957" cy="1503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351" y="3603"/>
                <a:ext cx="1023" cy="1023"/>
                <a:chOff x="910275" y="2170651"/>
                <a:chExt cx="792088" cy="792088"/>
              </a:xfrm>
            </p:grpSpPr>
            <p:sp>
              <p:nvSpPr>
                <p:cNvPr id="7" name="椭圆 6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910275" y="2170651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文本框 9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001314" y="2356520"/>
                  <a:ext cx="610011" cy="4193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02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 rot="0">
                <a:off x="4899" y="3407"/>
                <a:ext cx="5409" cy="1503"/>
                <a:chOff x="3315584" y="3169020"/>
                <a:chExt cx="3434599" cy="954308"/>
              </a:xfrm>
            </p:grpSpPr>
            <p:sp>
              <p:nvSpPr>
                <p:cNvPr id="10" name="矩形 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3315584" y="3169020"/>
                  <a:ext cx="2916250" cy="58395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备考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时间线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矩形 1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15584" y="3692698"/>
                  <a:ext cx="3434599" cy="4306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r>
                    <a:rPr lang="zh-CN" altLang="en-US" sz="16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Work achievement display</a:t>
                  </a:r>
                  <a:endParaRPr lang="zh-CN" altLang="en-US" sz="1600" dirty="0">
                    <a:solidFill>
                      <a:srgbClr val="A09FAD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 rot="0">
              <a:off x="10211" y="5455"/>
              <a:ext cx="7072" cy="1297"/>
              <a:chOff x="3351" y="3407"/>
              <a:chExt cx="7072" cy="1297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3351" y="3543"/>
                <a:ext cx="1023" cy="1023"/>
                <a:chOff x="910275" y="2123864"/>
                <a:chExt cx="792088" cy="792088"/>
              </a:xfrm>
            </p:grpSpPr>
            <p:sp>
              <p:nvSpPr>
                <p:cNvPr id="19" name="椭圆 18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910275" y="2123864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文本框 9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1001314" y="2309773"/>
                  <a:ext cx="610011" cy="4190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03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 rot="0">
                <a:off x="4899" y="3407"/>
                <a:ext cx="5524" cy="1297"/>
                <a:chOff x="3315584" y="3169020"/>
                <a:chExt cx="3507737" cy="824090"/>
              </a:xfrm>
            </p:grpSpPr>
            <p:sp>
              <p:nvSpPr>
                <p:cNvPr id="22" name="矩形 21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3315584" y="3169020"/>
                  <a:ext cx="3114731" cy="58397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初试经验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分享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矩形 22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3315584" y="3641227"/>
                  <a:ext cx="3507737" cy="35188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r>
                    <a:rPr lang="zh-CN" altLang="en-US" sz="16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Self evaluation</a:t>
                  </a:r>
                  <a:endParaRPr lang="zh-CN" altLang="en-US" sz="1600" dirty="0">
                    <a:solidFill>
                      <a:srgbClr val="A09FAD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4" name="组合 23"/>
            <p:cNvGrpSpPr/>
            <p:nvPr/>
          </p:nvGrpSpPr>
          <p:grpSpPr>
            <a:xfrm rot="0">
              <a:off x="10211" y="7622"/>
              <a:ext cx="6958" cy="1417"/>
              <a:chOff x="3351" y="3407"/>
              <a:chExt cx="6958" cy="1419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3351" y="3543"/>
                <a:ext cx="1023" cy="1023"/>
                <a:chOff x="910275" y="2123864"/>
                <a:chExt cx="792088" cy="792088"/>
              </a:xfrm>
            </p:grpSpPr>
            <p:sp>
              <p:nvSpPr>
                <p:cNvPr id="26" name="椭圆 25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910275" y="2123864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文本框 9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001314" y="2310582"/>
                  <a:ext cx="610011" cy="4193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04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0">
                <a:off x="4899" y="3407"/>
                <a:ext cx="5410" cy="1419"/>
                <a:chOff x="3315584" y="3169020"/>
                <a:chExt cx="3435323" cy="900635"/>
              </a:xfrm>
            </p:grpSpPr>
            <p:sp>
              <p:nvSpPr>
                <p:cNvPr id="29" name="矩形 28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3315584" y="3169020"/>
                  <a:ext cx="3267733" cy="58416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一些</a:t>
                  </a:r>
                  <a:r>
                    <a:rPr lang="en-US" altLang="zh-CN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tip</a:t>
                  </a:r>
                  <a:r>
                    <a:rPr lang="en-US" altLang="zh-CN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s</a:t>
                  </a:r>
                  <a:endParaRPr lang="en-US" altLang="zh-CN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矩形 2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315584" y="3692199"/>
                  <a:ext cx="3435323" cy="37745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r>
                    <a:rPr lang="zh-CN" altLang="en-US" sz="16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Future planning and Outlook</a:t>
                  </a:r>
                  <a:endParaRPr lang="zh-CN" altLang="en-US" sz="1600" dirty="0">
                    <a:solidFill>
                      <a:srgbClr val="A09FAD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3" name="文本框 2"/>
          <p:cNvSpPr txBox="1"/>
          <p:nvPr userDrawn="1"/>
        </p:nvSpPr>
        <p:spPr>
          <a:xfrm>
            <a:off x="1315720" y="2070100"/>
            <a:ext cx="1290320" cy="26092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dist"/>
            <a:r>
              <a:rPr lang="zh-CN" altLang="en-US" sz="720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720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606040" y="3281680"/>
            <a:ext cx="551815" cy="1383030"/>
          </a:xfrm>
          <a:prstGeom prst="rect">
            <a:avLst/>
          </a:prstGeom>
        </p:spPr>
        <p:txBody>
          <a:bodyPr vert="eaVert" wrap="square">
            <a:spAutoFit/>
          </a:bodyPr>
          <a:p>
            <a:pPr algn="dist"/>
            <a:r>
              <a:rPr lang="en-US" altLang="zh-CN" sz="2400" dirty="0">
                <a:solidFill>
                  <a:schemeClr val="tx1"/>
                </a:solidFill>
                <a:latin typeface="汉仪中宋S" panose="00020600040101010101" charset="-122"/>
                <a:ea typeface="汉仪中宋S" panose="00020600040101010101" charset="-122"/>
                <a:cs typeface="+mn-ea"/>
                <a:sym typeface="+mn-lt"/>
              </a:rPr>
              <a:t>contents</a:t>
            </a:r>
            <a:endParaRPr lang="en-US" altLang="zh-CN" sz="2400" dirty="0">
              <a:solidFill>
                <a:schemeClr val="tx1"/>
              </a:solidFill>
              <a:latin typeface="汉仪中宋S" panose="00020600040101010101" charset="-122"/>
              <a:ea typeface="汉仪中宋S" panose="0002060004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4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0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47" y="3178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4671060" y="2543810"/>
            <a:ext cx="27292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dirty="0">
                <a:solidFill>
                  <a:schemeClr val="tx1"/>
                </a:solidFill>
                <a:cs typeface="+mn-ea"/>
                <a:sym typeface="+mn-lt"/>
              </a:rPr>
              <a:t>个人情况与</a:t>
            </a:r>
            <a:r>
              <a:rPr lang="zh-CN" altLang="en-US" sz="2800" dirty="0">
                <a:solidFill>
                  <a:schemeClr val="tx1"/>
                </a:solidFill>
                <a:cs typeface="+mn-ea"/>
                <a:sym typeface="+mn-lt"/>
              </a:rPr>
              <a:t>择校</a:t>
            </a:r>
            <a:endParaRPr lang="zh-CN" altLang="en-US" sz="2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806440" y="3188335"/>
            <a:ext cx="739140" cy="0"/>
          </a:xfrm>
          <a:prstGeom prst="line">
            <a:avLst/>
          </a:prstGeom>
          <a:ln w="19050">
            <a:solidFill>
              <a:srgbClr val="1C5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5347335" y="213995"/>
            <a:ext cx="162623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个人</a:t>
            </a:r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情况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256530" y="1748790"/>
            <a:ext cx="6085205" cy="33604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综测绩点排名：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99/179</a:t>
            </a:r>
            <a:endParaRPr lang="en-US" altLang="zh-CN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408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各门本科期间分数都只有八十分出头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英语基础不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太好，四级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545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，六级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547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（是在考研备考期间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考的）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数学基础自我感觉还算可以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项目只有课设和科研课堂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竞赛只有数学和物理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的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   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0" y="2303780"/>
            <a:ext cx="3781425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22925" y="213995"/>
            <a:ext cx="94678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择校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473200" y="977265"/>
          <a:ext cx="9476740" cy="5273040"/>
        </p:xfrm>
        <a:graphic>
          <a:graphicData uri="http://schemas.openxmlformats.org/drawingml/2006/table">
            <a:tbl>
              <a:tblPr firstRow="1" bandRow="1">
                <a:tableStyleId>{587EBD88-0351-4220-84E2-7A6A2DB4DE04}</a:tableStyleId>
              </a:tblPr>
              <a:tblGrid>
                <a:gridCol w="2369185"/>
                <a:gridCol w="2369185"/>
                <a:gridCol w="2369185"/>
                <a:gridCol w="2369185"/>
              </a:tblGrid>
              <a:tr h="65913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/>
                        <a:t>主要备选</a:t>
                      </a:r>
                      <a:r>
                        <a:rPr lang="zh-CN" altLang="en-US"/>
                        <a:t>院校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考试</a:t>
                      </a:r>
                      <a:r>
                        <a:rPr lang="zh-CN" altLang="en-US"/>
                        <a:t>科目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往年分数（</a:t>
                      </a:r>
                      <a:r>
                        <a:rPr lang="en-US" altLang="zh-CN"/>
                        <a:t>23-24-25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拟招收人数（</a:t>
                      </a:r>
                      <a:r>
                        <a:rPr lang="en-US" altLang="zh-CN"/>
                        <a:t>25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北大</a:t>
                      </a:r>
                      <a:r>
                        <a:rPr lang="zh-CN" altLang="en-US"/>
                        <a:t>软微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365-380-357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188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北大</a:t>
                      </a:r>
                      <a:r>
                        <a:rPr lang="zh-CN" altLang="en-US"/>
                        <a:t>信科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370-380-370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清华贵</a:t>
                      </a:r>
                      <a:r>
                        <a:rPr lang="zh-CN" altLang="en-US"/>
                        <a:t>系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11826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353-356-343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13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清深（</a:t>
                      </a:r>
                      <a:r>
                        <a:rPr lang="en-US" altLang="zh-CN"/>
                        <a:t>085404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11826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325-335-325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31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清</a:t>
                      </a:r>
                      <a:r>
                        <a:rPr lang="zh-CN" altLang="en-US"/>
                        <a:t>软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11824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学：</a:t>
                      </a:r>
                      <a:r>
                        <a:rPr lang="en-US" altLang="zh-CN"/>
                        <a:t>340-360-340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专：</a:t>
                      </a:r>
                      <a:r>
                        <a:rPr lang="en-US" altLang="zh-CN"/>
                        <a:t>335-335-325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2+8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清华</a:t>
                      </a:r>
                      <a:r>
                        <a:rPr lang="zh-CN" altLang="en-US"/>
                        <a:t>求真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328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25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上交计</a:t>
                      </a:r>
                      <a:r>
                        <a:rPr lang="zh-CN" altLang="en-US"/>
                        <a:t>专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333-340-341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120-127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/>
          <p:nvPr/>
        </p:nvSpPr>
        <p:spPr>
          <a:xfrm>
            <a:off x="5609590" y="213995"/>
            <a:ext cx="97345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择校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473200" y="1038225"/>
          <a:ext cx="9697720" cy="5212080"/>
        </p:xfrm>
        <a:graphic>
          <a:graphicData uri="http://schemas.openxmlformats.org/drawingml/2006/table">
            <a:tbl>
              <a:tblPr firstRow="1" bandRow="1">
                <a:tableStyleId>{587EBD88-0351-4220-84E2-7A6A2DB4DE04}</a:tableStyleId>
              </a:tblPr>
              <a:tblGrid>
                <a:gridCol w="2424430"/>
                <a:gridCol w="2424430"/>
                <a:gridCol w="2424430"/>
                <a:gridCol w="2424430"/>
              </a:tblGrid>
              <a:tr h="65151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/>
                        <a:t>主要备选</a:t>
                      </a:r>
                      <a:r>
                        <a:rPr lang="zh-CN" altLang="en-US"/>
                        <a:t>院校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考试</a:t>
                      </a:r>
                      <a:r>
                        <a:rPr lang="zh-CN" altLang="en-US"/>
                        <a:t>科目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往年分数（</a:t>
                      </a:r>
                      <a:r>
                        <a:rPr lang="en-US" altLang="zh-CN"/>
                        <a:t>23-24-25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拟招收人数（</a:t>
                      </a:r>
                      <a:r>
                        <a:rPr lang="en-US" altLang="zh-CN"/>
                        <a:t>25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51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浙</a:t>
                      </a:r>
                      <a:r>
                        <a:rPr lang="zh-CN" altLang="en-US"/>
                        <a:t>计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383-381-375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17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1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浙</a:t>
                      </a:r>
                      <a:r>
                        <a:rPr lang="zh-CN" altLang="en-US"/>
                        <a:t>软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r>
                        <a:rPr lang="zh-CN" altLang="en-US"/>
                        <a:t>改考</a:t>
                      </a:r>
                      <a:r>
                        <a:rPr lang="en-US" altLang="zh-CN"/>
                        <a:t>11408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351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349(B)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153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1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中科院</a:t>
                      </a:r>
                      <a:r>
                        <a:rPr lang="en-US" altLang="zh-CN"/>
                        <a:t>(</a:t>
                      </a:r>
                      <a:r>
                        <a:rPr lang="zh-CN" altLang="en-US"/>
                        <a:t>计算所学硕</a:t>
                      </a:r>
                      <a:r>
                        <a:rPr lang="en-US" altLang="zh-CN"/>
                        <a:t>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340</a:t>
                      </a:r>
                      <a:r>
                        <a:rPr lang="zh-CN" altLang="en-US"/>
                        <a:t>（学）、</a:t>
                      </a:r>
                      <a:r>
                        <a:rPr lang="en-US" altLang="zh-CN"/>
                        <a:t>300</a:t>
                      </a:r>
                      <a:r>
                        <a:rPr lang="zh-CN" altLang="en-US"/>
                        <a:t>（</a:t>
                      </a:r>
                      <a:r>
                        <a:rPr lang="zh-CN" altLang="en-US"/>
                        <a:t>专）（</a:t>
                      </a:r>
                      <a:r>
                        <a:rPr lang="en-US" altLang="zh-CN"/>
                        <a:t>25</a:t>
                      </a:r>
                      <a:r>
                        <a:rPr lang="zh-CN" altLang="en-US"/>
                        <a:t>学硕、专硕</a:t>
                      </a:r>
                      <a:r>
                        <a:rPr lang="zh-CN" altLang="en-US"/>
                        <a:t>分开）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38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1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南软（专</a:t>
                      </a:r>
                      <a:r>
                        <a:rPr lang="zh-CN" altLang="en-US"/>
                        <a:t>硕）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r>
                        <a:rPr lang="zh-CN" altLang="en-US"/>
                        <a:t>改考</a:t>
                      </a:r>
                      <a:r>
                        <a:rPr lang="en-US" altLang="zh-CN"/>
                        <a:t>22408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372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109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1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科软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22408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367-376-370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480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51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北航</a:t>
                      </a:r>
                      <a:r>
                        <a:rPr lang="en-US" altLang="zh-CN"/>
                        <a:t>6</a:t>
                      </a:r>
                      <a:r>
                        <a:rPr lang="zh-CN" altLang="en-US"/>
                        <a:t>系（</a:t>
                      </a:r>
                      <a:r>
                        <a:rPr lang="zh-CN" altLang="en-US"/>
                        <a:t>学硕）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</a:t>
                      </a:r>
                      <a:r>
                        <a:rPr lang="zh-CN" altLang="en-US"/>
                        <a:t>改考</a:t>
                      </a:r>
                      <a:r>
                        <a:rPr lang="en-US" altLang="zh-CN"/>
                        <a:t>11408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  <a:tr h="651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北航</a:t>
                      </a:r>
                      <a:r>
                        <a:rPr lang="en-US" altLang="zh-CN"/>
                        <a:t>21</a:t>
                      </a:r>
                      <a:r>
                        <a:rPr lang="zh-CN" altLang="en-US"/>
                        <a:t>系（</a:t>
                      </a:r>
                      <a:r>
                        <a:rPr lang="zh-CN" altLang="en-US"/>
                        <a:t>学硕）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</a:t>
                      </a:r>
                      <a:r>
                        <a:rPr lang="zh-CN" altLang="en-US"/>
                        <a:t>改考</a:t>
                      </a:r>
                      <a:r>
                        <a:rPr lang="en-US" altLang="zh-CN"/>
                        <a:t>11408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/>
          <p:nvPr/>
        </p:nvSpPr>
        <p:spPr>
          <a:xfrm>
            <a:off x="4142105" y="213995"/>
            <a:ext cx="4264660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我为什么会选择</a:t>
            </a:r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北大软微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776605" y="2288541"/>
            <a:ext cx="3235960" cy="419735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4444366" y="2288541"/>
            <a:ext cx="3235960" cy="419735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081405" y="3593466"/>
            <a:ext cx="2607310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在备考初期，我其实并不是非常确定考北大软微。由于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24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年复试线是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380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，而且很多的预测是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25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的复试线会持续上涨。但是，报考是在十月上旬，如果在临近报名时自我感觉不是很好的话，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11408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的可替换选择非常多。而且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11408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的学习资料特别多，信息比较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丰富。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004570" y="2969261"/>
            <a:ext cx="278003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>
                <a:solidFill>
                  <a:schemeClr val="accent1"/>
                </a:solidFill>
                <a:latin typeface="+mn-ea"/>
                <a:cs typeface="+mn-ea"/>
              </a:rPr>
              <a:t>11408</a:t>
            </a:r>
            <a:endParaRPr lang="en-US" altLang="zh-CN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4792346" y="3593466"/>
            <a:ext cx="2607310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软微计算机方向每年招生人数在</a:t>
            </a:r>
            <a:r>
              <a:rPr lang="en-US" altLang="zh-CN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190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左右，由于池子比较大，所以极度爆热或爆冷的可能性比较低。同时，软微没有机试，复试成绩方差不大且比较靠运气。所以可以尽可能提高自己的初试分数，减小复试的不稳定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因素以求稳定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上岸。</a:t>
            </a:r>
            <a:endParaRPr lang="zh-CN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4672331" y="2969261"/>
            <a:ext cx="278003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2"/>
                </a:solidFill>
                <a:latin typeface="+mn-ea"/>
                <a:cs typeface="+mn-ea"/>
              </a:rPr>
              <a:t>池子大、初试为</a:t>
            </a:r>
            <a:r>
              <a:rPr lang="zh-CN" altLang="en-US" sz="2400" b="1" kern="0">
                <a:solidFill>
                  <a:schemeClr val="accent2"/>
                </a:solidFill>
                <a:latin typeface="+mn-ea"/>
                <a:cs typeface="+mn-ea"/>
              </a:rPr>
              <a:t>王</a:t>
            </a:r>
            <a:endParaRPr lang="zh-CN" altLang="en-US" sz="2400" b="1" kern="0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11" name="圆角矩形 10"/>
          <p:cNvSpPr/>
          <p:nvPr>
            <p:custDataLst>
              <p:tags r:id="rId7"/>
            </p:custDataLst>
          </p:nvPr>
        </p:nvSpPr>
        <p:spPr>
          <a:xfrm>
            <a:off x="8178801" y="2288541"/>
            <a:ext cx="3235960" cy="419735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8503286" y="3593466"/>
            <a:ext cx="2607310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众所周知，软微也是北大的一个学院，北大</a:t>
            </a:r>
            <a:r>
              <a:rPr lang="en-US" altLang="zh-CN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title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的含金量自然不用多说。走选调，走人才引进计划软微的计算机方向也是非常吃香的。软微有很多羊导，如果不想科研的话可以实习三年；如果想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科研也可以找信科导师或者找软微新来的一大批年轻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的科研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导。</a:t>
            </a:r>
            <a:endParaRPr lang="zh-CN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>
            <p:custDataLst>
              <p:tags r:id="rId9"/>
            </p:custDataLst>
          </p:nvPr>
        </p:nvSpPr>
        <p:spPr>
          <a:xfrm>
            <a:off x="8406766" y="2969261"/>
            <a:ext cx="278003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北大</a:t>
            </a:r>
            <a:r>
              <a:rPr lang="en-US" altLang="zh-CN" sz="2400" b="1" kern="0">
                <a:solidFill>
                  <a:schemeClr val="accent1"/>
                </a:solidFill>
                <a:latin typeface="+mn-ea"/>
                <a:cs typeface="+mn-ea"/>
              </a:rPr>
              <a:t>+</a:t>
            </a: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放</a:t>
            </a: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实习</a:t>
            </a:r>
            <a:endParaRPr lang="zh-CN" altLang="en-US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10"/>
            </p:custDataLst>
          </p:nvPr>
        </p:nvCxnSpPr>
        <p:spPr>
          <a:xfrm>
            <a:off x="2225676" y="6167756"/>
            <a:ext cx="337820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1"/>
            </p:custDataLst>
          </p:nvPr>
        </p:nvCxnSpPr>
        <p:spPr>
          <a:xfrm>
            <a:off x="5893436" y="6167756"/>
            <a:ext cx="337820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2"/>
            </p:custDataLst>
          </p:nvPr>
        </p:nvCxnSpPr>
        <p:spPr>
          <a:xfrm>
            <a:off x="9627871" y="6167756"/>
            <a:ext cx="337820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椭圆 11"/>
          <p:cNvSpPr/>
          <p:nvPr>
            <p:custDataLst>
              <p:tags r:id="rId13"/>
            </p:custDataLst>
          </p:nvPr>
        </p:nvSpPr>
        <p:spPr>
          <a:xfrm>
            <a:off x="1986915" y="1861820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4"/>
            </p:custDataLst>
          </p:nvPr>
        </p:nvSpPr>
        <p:spPr>
          <a:xfrm>
            <a:off x="2016760" y="1861185"/>
            <a:ext cx="829945" cy="829945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椭圆 16"/>
          <p:cNvSpPr/>
          <p:nvPr>
            <p:custDataLst>
              <p:tags r:id="rId15"/>
            </p:custDataLst>
          </p:nvPr>
        </p:nvSpPr>
        <p:spPr>
          <a:xfrm>
            <a:off x="5617211" y="1861820"/>
            <a:ext cx="890270" cy="89027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6"/>
            </p:custDataLst>
          </p:nvPr>
        </p:nvSpPr>
        <p:spPr>
          <a:xfrm>
            <a:off x="5647056" y="1861185"/>
            <a:ext cx="829945" cy="829945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椭圆 19"/>
          <p:cNvSpPr/>
          <p:nvPr>
            <p:custDataLst>
              <p:tags r:id="rId17"/>
            </p:custDataLst>
          </p:nvPr>
        </p:nvSpPr>
        <p:spPr>
          <a:xfrm>
            <a:off x="9351646" y="1861820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3" name="椭圆 22"/>
          <p:cNvSpPr/>
          <p:nvPr>
            <p:custDataLst>
              <p:tags r:id="rId18"/>
            </p:custDataLst>
          </p:nvPr>
        </p:nvSpPr>
        <p:spPr>
          <a:xfrm>
            <a:off x="9381491" y="1861820"/>
            <a:ext cx="829945" cy="829945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24" name="图形 23" descr="333438303937363b333438313038303bd7e9d6afbcdcb9b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269491" y="2113916"/>
            <a:ext cx="324485" cy="324485"/>
          </a:xfrm>
          <a:prstGeom prst="rect">
            <a:avLst/>
          </a:prstGeom>
        </p:spPr>
      </p:pic>
      <p:pic>
        <p:nvPicPr>
          <p:cNvPr id="26" name="图形 25" descr="333438303937363b333438313039323bcfeec4bfbcc6bbae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99786" y="2113916"/>
            <a:ext cx="323850" cy="323850"/>
          </a:xfrm>
          <a:prstGeom prst="rect">
            <a:avLst/>
          </a:prstGeom>
        </p:spPr>
      </p:pic>
      <p:pic>
        <p:nvPicPr>
          <p:cNvPr id="19" name="图形 26" descr="333438303937363b333438313037333bcad0b3a1bebad5f9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651366" y="2132331"/>
            <a:ext cx="289560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4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0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47" y="3178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4970145" y="2543810"/>
            <a:ext cx="24117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dirty="0">
                <a:solidFill>
                  <a:schemeClr val="tx1"/>
                </a:solidFill>
                <a:cs typeface="+mn-ea"/>
                <a:sym typeface="+mn-lt"/>
              </a:rPr>
              <a:t>备考</a:t>
            </a:r>
            <a:r>
              <a:rPr lang="zh-CN" altLang="en-US" sz="2800" dirty="0">
                <a:solidFill>
                  <a:schemeClr val="tx1"/>
                </a:solidFill>
                <a:cs typeface="+mn-ea"/>
                <a:sym typeface="+mn-lt"/>
              </a:rPr>
              <a:t>时间线</a:t>
            </a:r>
            <a:endParaRPr lang="zh-CN" altLang="en-US" sz="2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806440" y="3291840"/>
            <a:ext cx="739140" cy="0"/>
          </a:xfrm>
          <a:prstGeom prst="line">
            <a:avLst/>
          </a:prstGeom>
          <a:ln w="19050">
            <a:solidFill>
              <a:srgbClr val="1C5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4596130" y="234315"/>
            <a:ext cx="299783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初试备考</a:t>
            </a:r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时间线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sp>
        <p:nvSpPr>
          <p:cNvPr id="2" name="五边形 1"/>
          <p:cNvSpPr/>
          <p:nvPr>
            <p:custDataLst>
              <p:tags r:id="rId1"/>
            </p:custDataLst>
          </p:nvPr>
        </p:nvSpPr>
        <p:spPr>
          <a:xfrm>
            <a:off x="850900" y="2681923"/>
            <a:ext cx="2099310" cy="337820"/>
          </a:xfrm>
          <a:prstGeom prst="homePlate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4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月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4" name="燕尾形 3"/>
          <p:cNvSpPr/>
          <p:nvPr>
            <p:custDataLst>
              <p:tags r:id="rId2"/>
            </p:custDataLst>
          </p:nvPr>
        </p:nvSpPr>
        <p:spPr>
          <a:xfrm>
            <a:off x="2947035" y="2681923"/>
            <a:ext cx="209931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5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月</a:t>
            </a: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-6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月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9" name="燕尾形 8"/>
          <p:cNvSpPr/>
          <p:nvPr>
            <p:custDataLst>
              <p:tags r:id="rId3"/>
            </p:custDataLst>
          </p:nvPr>
        </p:nvSpPr>
        <p:spPr>
          <a:xfrm>
            <a:off x="5046345" y="2681923"/>
            <a:ext cx="2099310" cy="337820"/>
          </a:xfrm>
          <a:prstGeom prst="chevron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7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月</a:t>
            </a: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-8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月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13" name="燕尾形 12"/>
          <p:cNvSpPr/>
          <p:nvPr>
            <p:custDataLst>
              <p:tags r:id="rId4"/>
            </p:custDataLst>
          </p:nvPr>
        </p:nvSpPr>
        <p:spPr>
          <a:xfrm>
            <a:off x="7142480" y="2681923"/>
            <a:ext cx="209931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9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月</a:t>
            </a: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-11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月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pic>
        <p:nvPicPr>
          <p:cNvPr id="14" name="图片 13" descr="343435383038363b343532323339393bd6b4d0d0d5aad2aa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31010" y="2079943"/>
            <a:ext cx="337820" cy="337820"/>
          </a:xfrm>
          <a:prstGeom prst="rect">
            <a:avLst/>
          </a:prstGeom>
        </p:spPr>
      </p:pic>
      <p:pic>
        <p:nvPicPr>
          <p:cNvPr id="3" name="图片 2" descr="343435383037343b343532333834383bcec4bedf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27145" y="2079308"/>
            <a:ext cx="337820" cy="337820"/>
          </a:xfrm>
          <a:prstGeom prst="rect">
            <a:avLst/>
          </a:prstGeom>
        </p:spPr>
      </p:pic>
      <p:pic>
        <p:nvPicPr>
          <p:cNvPr id="37" name="图片 36" descr="343435383037343b343532333833373bb9abcbbe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26455" y="2079308"/>
            <a:ext cx="337820" cy="337820"/>
          </a:xfrm>
          <a:prstGeom prst="rect">
            <a:avLst/>
          </a:prstGeom>
        </p:spPr>
      </p:pic>
      <p:pic>
        <p:nvPicPr>
          <p:cNvPr id="39" name="图片 38" descr="343435383036303b343532343134363bbbe1d2e9bcc6bbae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96885" y="2078673"/>
            <a:ext cx="337820" cy="337820"/>
          </a:xfrm>
          <a:prstGeom prst="rect">
            <a:avLst/>
          </a:prstGeom>
        </p:spPr>
      </p:pic>
      <p:cxnSp>
        <p:nvCxnSpPr>
          <p:cNvPr id="41" name="直接连接符 40"/>
          <p:cNvCxnSpPr/>
          <p:nvPr>
            <p:custDataLst>
              <p:tags r:id="rId17"/>
            </p:custDataLst>
          </p:nvPr>
        </p:nvCxnSpPr>
        <p:spPr>
          <a:xfrm>
            <a:off x="2946400" y="3283903"/>
            <a:ext cx="0" cy="24625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18"/>
            </p:custDataLst>
          </p:nvPr>
        </p:nvCxnSpPr>
        <p:spPr>
          <a:xfrm>
            <a:off x="5045075" y="3283903"/>
            <a:ext cx="0" cy="24625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>
            <p:custDataLst>
              <p:tags r:id="rId19"/>
            </p:custDataLst>
          </p:nvPr>
        </p:nvCxnSpPr>
        <p:spPr>
          <a:xfrm>
            <a:off x="7143750" y="3283903"/>
            <a:ext cx="0" cy="24625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正文"/>
          <p:cNvSpPr txBox="1"/>
          <p:nvPr>
            <p:custDataLst>
              <p:tags r:id="rId20"/>
            </p:custDataLst>
          </p:nvPr>
        </p:nvSpPr>
        <p:spPr>
          <a:xfrm>
            <a:off x="1089660" y="3740468"/>
            <a:ext cx="1620520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每天学习时长：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3h-6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h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地点：随机抽选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空教室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主要使用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书籍：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数学：张宇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30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讲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+1000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题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408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：王道书和王道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视频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" name="标题"/>
          <p:cNvSpPr txBox="1"/>
          <p:nvPr>
            <p:custDataLst>
              <p:tags r:id="rId21"/>
            </p:custDataLst>
          </p:nvPr>
        </p:nvSpPr>
        <p:spPr>
          <a:xfrm>
            <a:off x="1089660" y="3380423"/>
            <a:ext cx="162052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</a:rPr>
              <a:t>开始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</a:rPr>
              <a:t>备考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正文"/>
          <p:cNvSpPr txBox="1"/>
          <p:nvPr>
            <p:custDataLst>
              <p:tags r:id="rId22"/>
            </p:custDataLst>
          </p:nvPr>
        </p:nvSpPr>
        <p:spPr>
          <a:xfrm>
            <a:off x="3185795" y="3740468"/>
            <a:ext cx="1620000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每天学习时长：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4h-6h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地点：随机抽选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空教室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数学：结束一轮，刷了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660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408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：推完了计组、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OS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和部分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计网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" name="标题"/>
          <p:cNvSpPr txBox="1"/>
          <p:nvPr>
            <p:custDataLst>
              <p:tags r:id="rId23"/>
            </p:custDataLst>
          </p:nvPr>
        </p:nvSpPr>
        <p:spPr>
          <a:xfrm>
            <a:off x="3185795" y="3380423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完成一轮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基础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正文"/>
          <p:cNvSpPr txBox="1"/>
          <p:nvPr>
            <p:custDataLst>
              <p:tags r:id="rId24"/>
            </p:custDataLst>
          </p:nvPr>
        </p:nvSpPr>
        <p:spPr>
          <a:xfrm>
            <a:off x="5285105" y="3740468"/>
            <a:ext cx="1620000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每天学习时长：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8h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左右（中间摆烂了二十天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左右）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地点：三教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开始英语真题、政治刷题。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数学：强化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开真题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408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：结束一轮，刷了一套模拟卷，心态爆炸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0" name="标题"/>
          <p:cNvSpPr txBox="1"/>
          <p:nvPr>
            <p:custDataLst>
              <p:tags r:id="rId25"/>
            </p:custDataLst>
          </p:nvPr>
        </p:nvSpPr>
        <p:spPr>
          <a:xfrm>
            <a:off x="5285105" y="3380423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</a:rPr>
              <a:t>全面备考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</a:rPr>
              <a:t>强化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正文"/>
          <p:cNvSpPr txBox="1"/>
          <p:nvPr>
            <p:custDataLst>
              <p:tags r:id="rId26"/>
            </p:custDataLst>
          </p:nvPr>
        </p:nvSpPr>
        <p:spPr>
          <a:xfrm>
            <a:off x="7391400" y="3740468"/>
            <a:ext cx="1620000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每天学习时长：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10h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左右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地点：图书馆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新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主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数学：强化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真题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刷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模拟卷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408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：刷模拟卷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真题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英语：刷真题，二刷以及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10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月开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作文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政治：刷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仓盾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7" name="标题"/>
          <p:cNvSpPr txBox="1"/>
          <p:nvPr>
            <p:custDataLst>
              <p:tags r:id="rId27"/>
            </p:custDataLst>
          </p:nvPr>
        </p:nvSpPr>
        <p:spPr>
          <a:xfrm>
            <a:off x="7391400" y="3380423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强化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刷题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4" name="图片 23" descr="343439383331313b343532303034303bcffacadbb9dcc0ed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139045" y="2078673"/>
            <a:ext cx="338400" cy="338400"/>
          </a:xfrm>
          <a:prstGeom prst="rect">
            <a:avLst/>
          </a:prstGeom>
        </p:spPr>
      </p:pic>
      <p:sp>
        <p:nvSpPr>
          <p:cNvPr id="12" name="燕尾形 11"/>
          <p:cNvSpPr/>
          <p:nvPr>
            <p:custDataLst>
              <p:tags r:id="rId31"/>
            </p:custDataLst>
          </p:nvPr>
        </p:nvSpPr>
        <p:spPr>
          <a:xfrm>
            <a:off x="9241790" y="2681923"/>
            <a:ext cx="2099310" cy="337820"/>
          </a:xfrm>
          <a:prstGeom prst="chevron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12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月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32"/>
            </p:custDataLst>
          </p:nvPr>
        </p:nvCxnSpPr>
        <p:spPr>
          <a:xfrm>
            <a:off x="9242425" y="3284538"/>
            <a:ext cx="0" cy="24625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正文"/>
          <p:cNvSpPr txBox="1"/>
          <p:nvPr>
            <p:custDataLst>
              <p:tags r:id="rId33"/>
            </p:custDataLst>
          </p:nvPr>
        </p:nvSpPr>
        <p:spPr>
          <a:xfrm>
            <a:off x="9498330" y="3740468"/>
            <a:ext cx="1620000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每天学习时长：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12h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左右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地点：图书馆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新主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数学：回顾基础知识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查漏补缺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408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：总结知识点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总结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真题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英语：背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作文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政治：背肖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sym typeface="+mn-ea"/>
              </a:rPr>
              <a:t>四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7" name="标题"/>
          <p:cNvSpPr txBox="1"/>
          <p:nvPr>
            <p:custDataLst>
              <p:tags r:id="rId34"/>
            </p:custDataLst>
          </p:nvPr>
        </p:nvSpPr>
        <p:spPr>
          <a:xfrm>
            <a:off x="9498330" y="3380423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</a:rPr>
              <a:t>回顾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</a:rPr>
              <a:t>总结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4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0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47" y="3178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4970145" y="2543810"/>
            <a:ext cx="24117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初试经验</a:t>
            </a:r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分享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806440" y="3206115"/>
            <a:ext cx="739140" cy="0"/>
          </a:xfrm>
          <a:prstGeom prst="line">
            <a:avLst/>
          </a:prstGeom>
          <a:ln w="19050">
            <a:solidFill>
              <a:srgbClr val="1C5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90770" y="213995"/>
            <a:ext cx="24117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政治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sp useBgFill="1">
        <p:nvSpPr>
          <p:cNvPr id="19" name="矩形: 圆角 18"/>
          <p:cNvSpPr/>
          <p:nvPr>
            <p:custDataLst>
              <p:tags r:id="rId1"/>
            </p:custDataLst>
          </p:nvPr>
        </p:nvSpPr>
        <p:spPr>
          <a:xfrm>
            <a:off x="6248400" y="5099685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2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1" name="矩形: 圆角 25"/>
          <p:cNvSpPr/>
          <p:nvPr>
            <p:custDataLst>
              <p:tags r:id="rId2"/>
            </p:custDataLst>
          </p:nvPr>
        </p:nvSpPr>
        <p:spPr>
          <a:xfrm>
            <a:off x="6248400" y="5099685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5" name="矩形: 圆角 13"/>
          <p:cNvSpPr/>
          <p:nvPr>
            <p:custDataLst>
              <p:tags r:id="rId3"/>
            </p:custDataLst>
          </p:nvPr>
        </p:nvSpPr>
        <p:spPr>
          <a:xfrm>
            <a:off x="6248400" y="3474720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2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0" name="矩形: 圆角 25"/>
          <p:cNvSpPr/>
          <p:nvPr>
            <p:custDataLst>
              <p:tags r:id="rId4"/>
            </p:custDataLst>
          </p:nvPr>
        </p:nvSpPr>
        <p:spPr>
          <a:xfrm>
            <a:off x="6248400" y="3474720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18" name="矩形: 圆角 2"/>
          <p:cNvSpPr/>
          <p:nvPr>
            <p:custDataLst>
              <p:tags r:id="rId5"/>
            </p:custDataLst>
          </p:nvPr>
        </p:nvSpPr>
        <p:spPr>
          <a:xfrm>
            <a:off x="6248400" y="1849755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2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2" name="矩形: 圆角 25"/>
          <p:cNvSpPr/>
          <p:nvPr>
            <p:custDataLst>
              <p:tags r:id="rId6"/>
            </p:custDataLst>
          </p:nvPr>
        </p:nvSpPr>
        <p:spPr>
          <a:xfrm>
            <a:off x="6248400" y="1849755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23" name="矩形: 圆角 35"/>
          <p:cNvSpPr/>
          <p:nvPr>
            <p:custDataLst>
              <p:tags r:id="rId7"/>
            </p:custDataLst>
          </p:nvPr>
        </p:nvSpPr>
        <p:spPr>
          <a:xfrm>
            <a:off x="694690" y="5099685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4" name="矩形: 圆角 25"/>
          <p:cNvSpPr/>
          <p:nvPr>
            <p:custDataLst>
              <p:tags r:id="rId8"/>
            </p:custDataLst>
          </p:nvPr>
        </p:nvSpPr>
        <p:spPr>
          <a:xfrm>
            <a:off x="694690" y="5099685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25" name="矩形: 圆角 30"/>
          <p:cNvSpPr/>
          <p:nvPr>
            <p:custDataLst>
              <p:tags r:id="rId9"/>
            </p:custDataLst>
          </p:nvPr>
        </p:nvSpPr>
        <p:spPr>
          <a:xfrm>
            <a:off x="694690" y="3474720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6" name="矩形: 圆角 25"/>
          <p:cNvSpPr/>
          <p:nvPr>
            <p:custDataLst>
              <p:tags r:id="rId10"/>
            </p:custDataLst>
          </p:nvPr>
        </p:nvSpPr>
        <p:spPr>
          <a:xfrm>
            <a:off x="694690" y="3474720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27" name="矩形: 圆角 25"/>
          <p:cNvSpPr/>
          <p:nvPr>
            <p:custDataLst>
              <p:tags r:id="rId11"/>
            </p:custDataLst>
          </p:nvPr>
        </p:nvSpPr>
        <p:spPr>
          <a:xfrm>
            <a:off x="694690" y="1849755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44" name="矩形: 圆角 25"/>
          <p:cNvSpPr/>
          <p:nvPr>
            <p:custDataLst>
              <p:tags r:id="rId12"/>
            </p:custDataLst>
          </p:nvPr>
        </p:nvSpPr>
        <p:spPr>
          <a:xfrm>
            <a:off x="694690" y="1849755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5" name="椭圆 44"/>
          <p:cNvSpPr/>
          <p:nvPr>
            <p:custDataLst>
              <p:tags r:id="rId13"/>
            </p:custDataLst>
          </p:nvPr>
        </p:nvSpPr>
        <p:spPr>
          <a:xfrm>
            <a:off x="6522085" y="2252345"/>
            <a:ext cx="593725" cy="59372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02</a:t>
            </a:r>
            <a:endParaRPr lang="en-US" altLang="zh-CN" sz="23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6" name="矩形 45"/>
          <p:cNvSpPr/>
          <p:nvPr>
            <p:custDataLst>
              <p:tags r:id="rId14"/>
            </p:custDataLst>
          </p:nvPr>
        </p:nvSpPr>
        <p:spPr>
          <a:xfrm>
            <a:off x="7364095" y="2417445"/>
            <a:ext cx="3813175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十月开完全没问题，认真学其实高不了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几分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但是早开也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无可厚非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7" name="矩形 46"/>
          <p:cNvSpPr/>
          <p:nvPr>
            <p:custDataLst>
              <p:tags r:id="rId15"/>
            </p:custDataLst>
          </p:nvPr>
        </p:nvSpPr>
        <p:spPr>
          <a:xfrm>
            <a:off x="7363460" y="1943100"/>
            <a:ext cx="3813175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关于什么时候开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政治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8" name="椭圆 47"/>
          <p:cNvSpPr/>
          <p:nvPr>
            <p:custDataLst>
              <p:tags r:id="rId16"/>
            </p:custDataLst>
          </p:nvPr>
        </p:nvSpPr>
        <p:spPr>
          <a:xfrm>
            <a:off x="6522085" y="3877310"/>
            <a:ext cx="593725" cy="59372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04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0" name="矩形 49"/>
          <p:cNvSpPr/>
          <p:nvPr>
            <p:custDataLst>
              <p:tags r:id="rId17"/>
            </p:custDataLst>
          </p:nvPr>
        </p:nvSpPr>
        <p:spPr>
          <a:xfrm>
            <a:off x="7364095" y="4033520"/>
            <a:ext cx="3813175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有时间可以自己过一遍课本，加深对知识点的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印象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3" name="矩形 52"/>
          <p:cNvSpPr/>
          <p:nvPr>
            <p:custDataLst>
              <p:tags r:id="rId18"/>
            </p:custDataLst>
          </p:nvPr>
        </p:nvSpPr>
        <p:spPr>
          <a:xfrm>
            <a:off x="7363460" y="3559175"/>
            <a:ext cx="3813175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关于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教材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4" name="椭圆 53"/>
          <p:cNvSpPr/>
          <p:nvPr>
            <p:custDataLst>
              <p:tags r:id="rId19"/>
            </p:custDataLst>
          </p:nvPr>
        </p:nvSpPr>
        <p:spPr>
          <a:xfrm>
            <a:off x="6522085" y="5502275"/>
            <a:ext cx="593725" cy="59372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06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5" name="矩形 54"/>
          <p:cNvSpPr/>
          <p:nvPr>
            <p:custDataLst>
              <p:tags r:id="rId20"/>
            </p:custDataLst>
          </p:nvPr>
        </p:nvSpPr>
        <p:spPr>
          <a:xfrm>
            <a:off x="7364095" y="5667375"/>
            <a:ext cx="3813175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真题可以刷近几年的，体验一下真题的出题风格。但是不要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思维固化。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6" name="矩形 55"/>
          <p:cNvSpPr/>
          <p:nvPr>
            <p:custDataLst>
              <p:tags r:id="rId21"/>
            </p:custDataLst>
          </p:nvPr>
        </p:nvSpPr>
        <p:spPr>
          <a:xfrm>
            <a:off x="7363460" y="5193030"/>
            <a:ext cx="3813175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关于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真题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8" name="椭圆 57"/>
          <p:cNvSpPr/>
          <p:nvPr>
            <p:custDataLst>
              <p:tags r:id="rId22"/>
            </p:custDataLst>
          </p:nvPr>
        </p:nvSpPr>
        <p:spPr>
          <a:xfrm>
            <a:off x="967740" y="2252345"/>
            <a:ext cx="593725" cy="59372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  <a:endParaRPr lang="en-US" altLang="zh-CN" sz="23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9" name="矩形 58"/>
          <p:cNvSpPr/>
          <p:nvPr>
            <p:custDataLst>
              <p:tags r:id="rId23"/>
            </p:custDataLst>
          </p:nvPr>
        </p:nvSpPr>
        <p:spPr>
          <a:xfrm>
            <a:off x="1809750" y="2417445"/>
            <a:ext cx="3821113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5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月看徐涛强化课过了一遍马原，暑假开始刷题，十月看了徐涛冲刺课，最后十四天背肖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四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0" name="矩形 59"/>
          <p:cNvSpPr/>
          <p:nvPr>
            <p:custDataLst>
              <p:tags r:id="rId24"/>
            </p:custDataLst>
          </p:nvPr>
        </p:nvSpPr>
        <p:spPr>
          <a:xfrm>
            <a:off x="1809750" y="1943100"/>
            <a:ext cx="3821113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我的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时间线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1" name="椭圆 60"/>
          <p:cNvSpPr/>
          <p:nvPr>
            <p:custDataLst>
              <p:tags r:id="rId25"/>
            </p:custDataLst>
          </p:nvPr>
        </p:nvSpPr>
        <p:spPr>
          <a:xfrm>
            <a:off x="967740" y="3877310"/>
            <a:ext cx="593725" cy="59372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03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2" name="矩形 61"/>
          <p:cNvSpPr/>
          <p:nvPr>
            <p:custDataLst>
              <p:tags r:id="rId26"/>
            </p:custDataLst>
          </p:nvPr>
        </p:nvSpPr>
        <p:spPr>
          <a:xfrm>
            <a:off x="1809750" y="4033520"/>
            <a:ext cx="3821112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推荐使用仓盾，优先做肖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1000+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仓盾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精选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重要性：马原、毛概史纲、思法、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新思想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3" name="矩形 62"/>
          <p:cNvSpPr/>
          <p:nvPr>
            <p:custDataLst>
              <p:tags r:id="rId27"/>
            </p:custDataLst>
          </p:nvPr>
        </p:nvSpPr>
        <p:spPr>
          <a:xfrm>
            <a:off x="1809750" y="3559175"/>
            <a:ext cx="3821113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刷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选择题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4" name="椭圆 63"/>
          <p:cNvSpPr/>
          <p:nvPr>
            <p:custDataLst>
              <p:tags r:id="rId28"/>
            </p:custDataLst>
          </p:nvPr>
        </p:nvSpPr>
        <p:spPr>
          <a:xfrm>
            <a:off x="967740" y="5502275"/>
            <a:ext cx="593725" cy="59372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05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5" name="矩形 64"/>
          <p:cNvSpPr/>
          <p:nvPr>
            <p:custDataLst>
              <p:tags r:id="rId29"/>
            </p:custDataLst>
          </p:nvPr>
        </p:nvSpPr>
        <p:spPr>
          <a:xfrm>
            <a:off x="1809750" y="5667375"/>
            <a:ext cx="3821113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最后十四天背肖四就可以了，可以自己画一下思维导图，主要还是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理解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6" name="矩形 65"/>
          <p:cNvSpPr/>
          <p:nvPr>
            <p:custDataLst>
              <p:tags r:id="rId30"/>
            </p:custDataLst>
          </p:nvPr>
        </p:nvSpPr>
        <p:spPr>
          <a:xfrm>
            <a:off x="1809750" y="5193030"/>
            <a:ext cx="3821114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关于大题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90770" y="213995"/>
            <a:ext cx="24117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英语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sp useBgFill="1">
        <p:nvSpPr>
          <p:cNvPr id="19" name="矩形: 圆角 18"/>
          <p:cNvSpPr/>
          <p:nvPr>
            <p:custDataLst>
              <p:tags r:id="rId1"/>
            </p:custDataLst>
          </p:nvPr>
        </p:nvSpPr>
        <p:spPr>
          <a:xfrm>
            <a:off x="6248400" y="5099685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2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1" name="矩形: 圆角 25"/>
          <p:cNvSpPr/>
          <p:nvPr>
            <p:custDataLst>
              <p:tags r:id="rId2"/>
            </p:custDataLst>
          </p:nvPr>
        </p:nvSpPr>
        <p:spPr>
          <a:xfrm>
            <a:off x="6248400" y="5099685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5" name="矩形: 圆角 13"/>
          <p:cNvSpPr/>
          <p:nvPr>
            <p:custDataLst>
              <p:tags r:id="rId3"/>
            </p:custDataLst>
          </p:nvPr>
        </p:nvSpPr>
        <p:spPr>
          <a:xfrm>
            <a:off x="6248400" y="3474720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2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0" name="矩形: 圆角 25"/>
          <p:cNvSpPr/>
          <p:nvPr>
            <p:custDataLst>
              <p:tags r:id="rId4"/>
            </p:custDataLst>
          </p:nvPr>
        </p:nvSpPr>
        <p:spPr>
          <a:xfrm>
            <a:off x="6248400" y="3474720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18" name="矩形: 圆角 2"/>
          <p:cNvSpPr/>
          <p:nvPr>
            <p:custDataLst>
              <p:tags r:id="rId5"/>
            </p:custDataLst>
          </p:nvPr>
        </p:nvSpPr>
        <p:spPr>
          <a:xfrm>
            <a:off x="6248400" y="1849755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2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2" name="矩形: 圆角 25"/>
          <p:cNvSpPr/>
          <p:nvPr>
            <p:custDataLst>
              <p:tags r:id="rId6"/>
            </p:custDataLst>
          </p:nvPr>
        </p:nvSpPr>
        <p:spPr>
          <a:xfrm>
            <a:off x="6248400" y="1849755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23" name="矩形: 圆角 35"/>
          <p:cNvSpPr/>
          <p:nvPr>
            <p:custDataLst>
              <p:tags r:id="rId7"/>
            </p:custDataLst>
          </p:nvPr>
        </p:nvSpPr>
        <p:spPr>
          <a:xfrm>
            <a:off x="694690" y="5099685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4" name="矩形: 圆角 25"/>
          <p:cNvSpPr/>
          <p:nvPr>
            <p:custDataLst>
              <p:tags r:id="rId8"/>
            </p:custDataLst>
          </p:nvPr>
        </p:nvSpPr>
        <p:spPr>
          <a:xfrm>
            <a:off x="694690" y="5099685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25" name="矩形: 圆角 30"/>
          <p:cNvSpPr/>
          <p:nvPr>
            <p:custDataLst>
              <p:tags r:id="rId9"/>
            </p:custDataLst>
          </p:nvPr>
        </p:nvSpPr>
        <p:spPr>
          <a:xfrm>
            <a:off x="694690" y="3474720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6" name="矩形: 圆角 25"/>
          <p:cNvSpPr/>
          <p:nvPr>
            <p:custDataLst>
              <p:tags r:id="rId10"/>
            </p:custDataLst>
          </p:nvPr>
        </p:nvSpPr>
        <p:spPr>
          <a:xfrm>
            <a:off x="694690" y="3474720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27" name="矩形: 圆角 25"/>
          <p:cNvSpPr/>
          <p:nvPr>
            <p:custDataLst>
              <p:tags r:id="rId11"/>
            </p:custDataLst>
          </p:nvPr>
        </p:nvSpPr>
        <p:spPr>
          <a:xfrm>
            <a:off x="694690" y="1849755"/>
            <a:ext cx="5248910" cy="1398905"/>
          </a:xfrm>
          <a:prstGeom prst="roundRect">
            <a:avLst/>
          </a:prstGeom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44" name="矩形: 圆角 25"/>
          <p:cNvSpPr/>
          <p:nvPr>
            <p:custDataLst>
              <p:tags r:id="rId12"/>
            </p:custDataLst>
          </p:nvPr>
        </p:nvSpPr>
        <p:spPr>
          <a:xfrm>
            <a:off x="694690" y="1849755"/>
            <a:ext cx="524891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5" name="椭圆 44"/>
          <p:cNvSpPr/>
          <p:nvPr>
            <p:custDataLst>
              <p:tags r:id="rId13"/>
            </p:custDataLst>
          </p:nvPr>
        </p:nvSpPr>
        <p:spPr>
          <a:xfrm>
            <a:off x="6522085" y="2252345"/>
            <a:ext cx="593725" cy="59372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02</a:t>
            </a:r>
            <a:endParaRPr lang="en-US" altLang="zh-CN" sz="23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6" name="矩形 45"/>
          <p:cNvSpPr/>
          <p:nvPr>
            <p:custDataLst>
              <p:tags r:id="rId14"/>
            </p:custDataLst>
          </p:nvPr>
        </p:nvSpPr>
        <p:spPr>
          <a:xfrm>
            <a:off x="7364095" y="2417445"/>
            <a:ext cx="3813175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我用的软件是不背单词；在背完一轮大纲词汇后，明显感到写真题有质的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提升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7" name="矩形 46"/>
          <p:cNvSpPr/>
          <p:nvPr>
            <p:custDataLst>
              <p:tags r:id="rId15"/>
            </p:custDataLst>
          </p:nvPr>
        </p:nvSpPr>
        <p:spPr>
          <a:xfrm>
            <a:off x="7363460" y="1943100"/>
            <a:ext cx="3813175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英语单词非常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重要！！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8" name="椭圆 47"/>
          <p:cNvSpPr/>
          <p:nvPr>
            <p:custDataLst>
              <p:tags r:id="rId16"/>
            </p:custDataLst>
          </p:nvPr>
        </p:nvSpPr>
        <p:spPr>
          <a:xfrm>
            <a:off x="6522085" y="3877310"/>
            <a:ext cx="593725" cy="59372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04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0" name="矩形 49"/>
          <p:cNvSpPr/>
          <p:nvPr>
            <p:custDataLst>
              <p:tags r:id="rId17"/>
            </p:custDataLst>
          </p:nvPr>
        </p:nvSpPr>
        <p:spPr>
          <a:xfrm>
            <a:off x="7364095" y="4033520"/>
            <a:ext cx="3813175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作文千万不要临时死背机构模板，可以自己总结一些模板。用真题作文练习就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够了。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3" name="矩形 52"/>
          <p:cNvSpPr/>
          <p:nvPr>
            <p:custDataLst>
              <p:tags r:id="rId18"/>
            </p:custDataLst>
          </p:nvPr>
        </p:nvSpPr>
        <p:spPr>
          <a:xfrm>
            <a:off x="7363460" y="3559175"/>
            <a:ext cx="3813175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关于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作文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4" name="椭圆 53"/>
          <p:cNvSpPr/>
          <p:nvPr>
            <p:custDataLst>
              <p:tags r:id="rId19"/>
            </p:custDataLst>
          </p:nvPr>
        </p:nvSpPr>
        <p:spPr>
          <a:xfrm>
            <a:off x="6522085" y="5502275"/>
            <a:ext cx="593725" cy="59372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06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5" name="矩形 54"/>
          <p:cNvSpPr/>
          <p:nvPr>
            <p:custDataLst>
              <p:tags r:id="rId20"/>
            </p:custDataLst>
          </p:nvPr>
        </p:nvSpPr>
        <p:spPr>
          <a:xfrm>
            <a:off x="7364095" y="5667375"/>
            <a:ext cx="3813175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由于考前对英语的轻视，我先从完型做起，直接心态崩了。推荐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顺序：阅读，作文，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翻译，完型。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6" name="矩形 55"/>
          <p:cNvSpPr/>
          <p:nvPr>
            <p:custDataLst>
              <p:tags r:id="rId21"/>
            </p:custDataLst>
          </p:nvPr>
        </p:nvSpPr>
        <p:spPr>
          <a:xfrm>
            <a:off x="7363460" y="5193030"/>
            <a:ext cx="3813175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考场写题顺序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8" name="椭圆 57"/>
          <p:cNvSpPr/>
          <p:nvPr>
            <p:custDataLst>
              <p:tags r:id="rId22"/>
            </p:custDataLst>
          </p:nvPr>
        </p:nvSpPr>
        <p:spPr>
          <a:xfrm>
            <a:off x="967740" y="2252345"/>
            <a:ext cx="593725" cy="59372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  <a:endParaRPr lang="en-US" altLang="zh-CN" sz="23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9" name="矩形 58"/>
          <p:cNvSpPr/>
          <p:nvPr>
            <p:custDataLst>
              <p:tags r:id="rId23"/>
            </p:custDataLst>
          </p:nvPr>
        </p:nvSpPr>
        <p:spPr>
          <a:xfrm>
            <a:off x="1809750" y="2417445"/>
            <a:ext cx="3821113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月开始背单词，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8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月底过完一轮。暑假开始刷真题；十月开始准备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主观题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0" name="矩形 59"/>
          <p:cNvSpPr/>
          <p:nvPr>
            <p:custDataLst>
              <p:tags r:id="rId24"/>
            </p:custDataLst>
          </p:nvPr>
        </p:nvSpPr>
        <p:spPr>
          <a:xfrm>
            <a:off x="1809750" y="1943100"/>
            <a:ext cx="3821113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我的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时间线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1" name="椭圆 60"/>
          <p:cNvSpPr/>
          <p:nvPr>
            <p:custDataLst>
              <p:tags r:id="rId25"/>
            </p:custDataLst>
          </p:nvPr>
        </p:nvSpPr>
        <p:spPr>
          <a:xfrm>
            <a:off x="967740" y="3877310"/>
            <a:ext cx="593725" cy="59372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03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2" name="矩形 61"/>
          <p:cNvSpPr/>
          <p:nvPr>
            <p:custDataLst>
              <p:tags r:id="rId26"/>
            </p:custDataLst>
          </p:nvPr>
        </p:nvSpPr>
        <p:spPr>
          <a:xfrm>
            <a:off x="1809750" y="4033520"/>
            <a:ext cx="3821112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只做真题就足够了，可以二刷或者写一些英二的。顺序推荐先做近几年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3" name="矩形 62"/>
          <p:cNvSpPr/>
          <p:nvPr>
            <p:custDataLst>
              <p:tags r:id="rId27"/>
            </p:custDataLst>
          </p:nvPr>
        </p:nvSpPr>
        <p:spPr>
          <a:xfrm>
            <a:off x="1809750" y="3559175"/>
            <a:ext cx="3821113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做什么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题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4" name="椭圆 63"/>
          <p:cNvSpPr/>
          <p:nvPr>
            <p:custDataLst>
              <p:tags r:id="rId28"/>
            </p:custDataLst>
          </p:nvPr>
        </p:nvSpPr>
        <p:spPr>
          <a:xfrm>
            <a:off x="967740" y="5502275"/>
            <a:ext cx="593725" cy="59372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05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5" name="矩形 64"/>
          <p:cNvSpPr/>
          <p:nvPr>
            <p:custDataLst>
              <p:tags r:id="rId29"/>
            </p:custDataLst>
          </p:nvPr>
        </p:nvSpPr>
        <p:spPr>
          <a:xfrm>
            <a:off x="1809750" y="5667375"/>
            <a:ext cx="3821113" cy="737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硬套模板分底的原因是内容太空了，作文内容一定得充实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丰满。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6" name="矩形 65"/>
          <p:cNvSpPr/>
          <p:nvPr>
            <p:custDataLst>
              <p:tags r:id="rId30"/>
            </p:custDataLst>
          </p:nvPr>
        </p:nvSpPr>
        <p:spPr>
          <a:xfrm>
            <a:off x="1809750" y="5193030"/>
            <a:ext cx="3821114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还是关于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作文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90770" y="213995"/>
            <a:ext cx="24117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数学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sp>
        <p:nvSpPr>
          <p:cNvPr id="38" name="任意多边形: 形状 37"/>
          <p:cNvSpPr/>
          <p:nvPr>
            <p:custDataLst>
              <p:tags r:id="rId1"/>
            </p:custDataLst>
          </p:nvPr>
        </p:nvSpPr>
        <p:spPr>
          <a:xfrm>
            <a:off x="968375" y="1987550"/>
            <a:ext cx="3172579" cy="4176000"/>
          </a:xfrm>
          <a:custGeom>
            <a:avLst/>
            <a:gdLst>
              <a:gd name="connsiteX0" fmla="*/ 1084579 w 3172579"/>
              <a:gd name="connsiteY0" fmla="*/ 0 h 4176000"/>
              <a:gd name="connsiteX1" fmla="*/ 3172579 w 3172579"/>
              <a:gd name="connsiteY1" fmla="*/ 2088000 h 4176000"/>
              <a:gd name="connsiteX2" fmla="*/ 1084579 w 3172579"/>
              <a:gd name="connsiteY2" fmla="*/ 4176000 h 4176000"/>
              <a:gd name="connsiteX3" fmla="*/ 89315 w 3172579"/>
              <a:gd name="connsiteY3" fmla="*/ 3923990 h 4176000"/>
              <a:gd name="connsiteX4" fmla="*/ 0 w 3172579"/>
              <a:gd name="connsiteY4" fmla="*/ 3869730 h 4176000"/>
              <a:gd name="connsiteX5" fmla="*/ 0 w 3172579"/>
              <a:gd name="connsiteY5" fmla="*/ 306270 h 4176000"/>
              <a:gd name="connsiteX6" fmla="*/ 89315 w 3172579"/>
              <a:gd name="connsiteY6" fmla="*/ 252010 h 4176000"/>
              <a:gd name="connsiteX7" fmla="*/ 1084579 w 3172579"/>
              <a:gd name="connsiteY7" fmla="*/ 0 h 41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2579" h="4176000">
                <a:moveTo>
                  <a:pt x="1084579" y="0"/>
                </a:moveTo>
                <a:cubicBezTo>
                  <a:pt x="2237750" y="0"/>
                  <a:pt x="3172579" y="934829"/>
                  <a:pt x="3172579" y="2088000"/>
                </a:cubicBezTo>
                <a:cubicBezTo>
                  <a:pt x="3172579" y="3241171"/>
                  <a:pt x="2237750" y="4176000"/>
                  <a:pt x="1084579" y="4176000"/>
                </a:cubicBezTo>
                <a:cubicBezTo>
                  <a:pt x="724213" y="4176000"/>
                  <a:pt x="385170" y="4084708"/>
                  <a:pt x="89315" y="3923990"/>
                </a:cubicBezTo>
                <a:lnTo>
                  <a:pt x="0" y="3869730"/>
                </a:lnTo>
                <a:lnTo>
                  <a:pt x="0" y="306270"/>
                </a:lnTo>
                <a:lnTo>
                  <a:pt x="89315" y="252010"/>
                </a:lnTo>
                <a:cubicBezTo>
                  <a:pt x="385170" y="91292"/>
                  <a:pt x="724213" y="0"/>
                  <a:pt x="1084579" y="0"/>
                </a:cubicBezTo>
                <a:close/>
              </a:path>
            </a:pathLst>
          </a:custGeom>
          <a:noFill/>
          <a:ln>
            <a:gradFill>
              <a:gsLst>
                <a:gs pos="100000">
                  <a:schemeClr val="tx1">
                    <a:lumMod val="50000"/>
                    <a:lumOff val="50000"/>
                    <a:alpha val="30000"/>
                  </a:schemeClr>
                </a:gs>
                <a:gs pos="15000">
                  <a:srgbClr val="FFFFFF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9" name="椭圆 38"/>
          <p:cNvSpPr/>
          <p:nvPr>
            <p:custDataLst>
              <p:tags r:id="rId2"/>
            </p:custDataLst>
          </p:nvPr>
        </p:nvSpPr>
        <p:spPr>
          <a:xfrm>
            <a:off x="968375" y="2985135"/>
            <a:ext cx="2169160" cy="2169160"/>
          </a:xfrm>
          <a:prstGeom prst="ellipse">
            <a:avLst/>
          </a:prstGeom>
          <a:solidFill>
            <a:schemeClr val="accent1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spc="15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数学备考</a:t>
            </a:r>
            <a:r>
              <a:rPr lang="zh-CN" altLang="en-US" sz="2000" b="1" spc="15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经验</a:t>
            </a:r>
            <a:endParaRPr lang="zh-CN" altLang="en-US" sz="2000" b="1" spc="150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5015231" y="5828665"/>
            <a:ext cx="6208394" cy="8111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真题非常重要，可以在一轮过后就体验一下，把握一下出题难度和风格，建议多刷几次近十年的真题。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张四和今年真题风格比较像，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张八比较抽象，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李擂的计算量挺大的，可以拿来练计算，李艳芳和超越质量一直蛮好的，李林套卷中规中矩。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5015231" y="5417820"/>
            <a:ext cx="6208393" cy="410844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2"/>
                </a:solidFill>
                <a:latin typeface="+mn-ea"/>
                <a:cs typeface="+mn-ea"/>
              </a:rPr>
              <a:t>关于模拟卷和</a:t>
            </a:r>
            <a:r>
              <a:rPr lang="zh-CN" altLang="en-US" b="1" dirty="0">
                <a:solidFill>
                  <a:schemeClr val="accent2"/>
                </a:solidFill>
                <a:latin typeface="+mn-ea"/>
                <a:cs typeface="+mn-ea"/>
              </a:rPr>
              <a:t>真题</a:t>
            </a:r>
            <a:endParaRPr lang="zh-CN" altLang="en-US" b="1" dirty="0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5015231" y="4592320"/>
            <a:ext cx="6208394" cy="8111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考研数学的内容实际上并不是非常多，一共也就三十个左右的板块。每个板块要掌握的东西也不算太多，但是每个知识点的题型却不少。刷题也讲究技巧，不是一味地埋头写题。最好是先看一下知识点对应的题型有哪些，清楚这道题想考查什么，然后再动笔计算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5015231" y="4181475"/>
            <a:ext cx="6208393" cy="410844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</a:rPr>
              <a:t>关于</a:t>
            </a: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</a:rPr>
              <a:t>刷题</a:t>
            </a:r>
            <a:endParaRPr lang="zh-CN" altLang="en-US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5015231" y="3355975"/>
            <a:ext cx="6208394" cy="8111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数学这门学科首先需要对知识点有足够的理解，其次需要大量做题来保证手感和计算能力。个人认为考研数学并没有很深奥的知识点，有点类似高考，都是非常基础的题目，所以打好基础非常关键！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5015231" y="2945130"/>
            <a:ext cx="6208393" cy="410844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打好基础很</a:t>
            </a:r>
            <a:r>
              <a:rPr lang="zh-CN" altLang="en-US" b="1" dirty="0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关键</a:t>
            </a:r>
            <a:endParaRPr lang="zh-CN" altLang="en-US" b="1" dirty="0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5015231" y="2119630"/>
            <a:ext cx="6208394" cy="8111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月到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月中旬结束一轮，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月底写完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660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月写完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880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以及部分远古真题。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9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月每两天平均一套模拟卷并完成强化。十月开始大量刷模拟卷，十二月开始回归教材，查漏补缺。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5015231" y="1708785"/>
            <a:ext cx="6208393" cy="410844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</a:rPr>
              <a:t>我的时间</a:t>
            </a: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</a:rPr>
              <a:t>线</a:t>
            </a:r>
            <a:endParaRPr lang="zh-CN" altLang="en-US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0" name="椭圆 29"/>
          <p:cNvSpPr/>
          <p:nvPr>
            <p:custDataLst>
              <p:tags r:id="rId11"/>
            </p:custDataLst>
          </p:nvPr>
        </p:nvSpPr>
        <p:spPr>
          <a:xfrm>
            <a:off x="3787141" y="3216275"/>
            <a:ext cx="607695" cy="607695"/>
          </a:xfrm>
          <a:prstGeom prst="ellipse">
            <a:avLst/>
          </a:prstGeom>
          <a:solidFill>
            <a:schemeClr val="accent2"/>
          </a:solidFill>
          <a:ln>
            <a:gradFill>
              <a:gsLst>
                <a:gs pos="37000">
                  <a:srgbClr val="FFFFFF"/>
                </a:gs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椭圆 30"/>
          <p:cNvSpPr/>
          <p:nvPr>
            <p:custDataLst>
              <p:tags r:id="rId12"/>
            </p:custDataLst>
          </p:nvPr>
        </p:nvSpPr>
        <p:spPr>
          <a:xfrm>
            <a:off x="3115311" y="5415915"/>
            <a:ext cx="607695" cy="607695"/>
          </a:xfrm>
          <a:prstGeom prst="ellipse">
            <a:avLst/>
          </a:prstGeom>
          <a:solidFill>
            <a:schemeClr val="accent2"/>
          </a:solidFill>
          <a:ln>
            <a:gradFill>
              <a:gsLst>
                <a:gs pos="37000">
                  <a:srgbClr val="FFFFFF"/>
                </a:gs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45720" bIns="4572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04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椭圆 31"/>
          <p:cNvSpPr/>
          <p:nvPr>
            <p:custDataLst>
              <p:tags r:id="rId13"/>
            </p:custDataLst>
          </p:nvPr>
        </p:nvSpPr>
        <p:spPr>
          <a:xfrm>
            <a:off x="3115311" y="2116455"/>
            <a:ext cx="607695" cy="607695"/>
          </a:xfrm>
          <a:prstGeom prst="ellipse">
            <a:avLst/>
          </a:prstGeom>
          <a:solidFill>
            <a:schemeClr val="accent1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45720" bIns="4572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6" name="椭圆 35"/>
          <p:cNvSpPr/>
          <p:nvPr>
            <p:custDataLst>
              <p:tags r:id="rId14"/>
            </p:custDataLst>
          </p:nvPr>
        </p:nvSpPr>
        <p:spPr>
          <a:xfrm>
            <a:off x="3787141" y="4316095"/>
            <a:ext cx="607695" cy="607695"/>
          </a:xfrm>
          <a:prstGeom prst="ellipse">
            <a:avLst/>
          </a:prstGeom>
          <a:solidFill>
            <a:schemeClr val="accent1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90770" y="213995"/>
            <a:ext cx="24117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2800" dirty="0">
                <a:solidFill>
                  <a:srgbClr val="1C56A6"/>
                </a:solidFill>
                <a:cs typeface="+mn-ea"/>
                <a:sym typeface="+mn-lt"/>
              </a:rPr>
              <a:t>408</a:t>
            </a:r>
            <a:endParaRPr lang="en-US" altLang="zh-CN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sp>
        <p:nvSpPr>
          <p:cNvPr id="38" name="任意多边形: 形状 37"/>
          <p:cNvSpPr/>
          <p:nvPr>
            <p:custDataLst>
              <p:tags r:id="rId1"/>
            </p:custDataLst>
          </p:nvPr>
        </p:nvSpPr>
        <p:spPr>
          <a:xfrm>
            <a:off x="968375" y="1987550"/>
            <a:ext cx="3172579" cy="4176000"/>
          </a:xfrm>
          <a:custGeom>
            <a:avLst/>
            <a:gdLst>
              <a:gd name="connsiteX0" fmla="*/ 1084579 w 3172579"/>
              <a:gd name="connsiteY0" fmla="*/ 0 h 4176000"/>
              <a:gd name="connsiteX1" fmla="*/ 3172579 w 3172579"/>
              <a:gd name="connsiteY1" fmla="*/ 2088000 h 4176000"/>
              <a:gd name="connsiteX2" fmla="*/ 1084579 w 3172579"/>
              <a:gd name="connsiteY2" fmla="*/ 4176000 h 4176000"/>
              <a:gd name="connsiteX3" fmla="*/ 89315 w 3172579"/>
              <a:gd name="connsiteY3" fmla="*/ 3923990 h 4176000"/>
              <a:gd name="connsiteX4" fmla="*/ 0 w 3172579"/>
              <a:gd name="connsiteY4" fmla="*/ 3869730 h 4176000"/>
              <a:gd name="connsiteX5" fmla="*/ 0 w 3172579"/>
              <a:gd name="connsiteY5" fmla="*/ 306270 h 4176000"/>
              <a:gd name="connsiteX6" fmla="*/ 89315 w 3172579"/>
              <a:gd name="connsiteY6" fmla="*/ 252010 h 4176000"/>
              <a:gd name="connsiteX7" fmla="*/ 1084579 w 3172579"/>
              <a:gd name="connsiteY7" fmla="*/ 0 h 41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2579" h="4176000">
                <a:moveTo>
                  <a:pt x="1084579" y="0"/>
                </a:moveTo>
                <a:cubicBezTo>
                  <a:pt x="2237750" y="0"/>
                  <a:pt x="3172579" y="934829"/>
                  <a:pt x="3172579" y="2088000"/>
                </a:cubicBezTo>
                <a:cubicBezTo>
                  <a:pt x="3172579" y="3241171"/>
                  <a:pt x="2237750" y="4176000"/>
                  <a:pt x="1084579" y="4176000"/>
                </a:cubicBezTo>
                <a:cubicBezTo>
                  <a:pt x="724213" y="4176000"/>
                  <a:pt x="385170" y="4084708"/>
                  <a:pt x="89315" y="3923990"/>
                </a:cubicBezTo>
                <a:lnTo>
                  <a:pt x="0" y="3869730"/>
                </a:lnTo>
                <a:lnTo>
                  <a:pt x="0" y="306270"/>
                </a:lnTo>
                <a:lnTo>
                  <a:pt x="89315" y="252010"/>
                </a:lnTo>
                <a:cubicBezTo>
                  <a:pt x="385170" y="91292"/>
                  <a:pt x="724213" y="0"/>
                  <a:pt x="1084579" y="0"/>
                </a:cubicBezTo>
                <a:close/>
              </a:path>
            </a:pathLst>
          </a:custGeom>
          <a:noFill/>
          <a:ln w="12700" cap="flat" cmpd="sng" algn="ctr">
            <a:gradFill>
              <a:gsLst>
                <a:gs pos="100000">
                  <a:srgbClr val="000000">
                    <a:lumMod val="50000"/>
                    <a:lumOff val="50000"/>
                    <a:alpha val="30000"/>
                  </a:srgbClr>
                </a:gs>
                <a:gs pos="15000">
                  <a:srgbClr val="FFFFFF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>
            <p:custDataLst>
              <p:tags r:id="rId2"/>
            </p:custDataLst>
          </p:nvPr>
        </p:nvSpPr>
        <p:spPr>
          <a:xfrm>
            <a:off x="968375" y="2985135"/>
            <a:ext cx="2169160" cy="2169160"/>
          </a:xfrm>
          <a:prstGeom prst="ellipse">
            <a:avLst/>
          </a:prstGeom>
          <a:solidFill>
            <a:srgbClr val="376FFF"/>
          </a:solidFill>
          <a:ln w="12700" cap="flat" cmpd="sng" algn="ctr">
            <a:gradFill>
              <a:gsLst>
                <a:gs pos="37000">
                  <a:srgbClr val="FFFFFF"/>
                </a:gs>
                <a:gs pos="0">
                  <a:srgbClr val="376FFF">
                    <a:lumMod val="45000"/>
                    <a:lumOff val="55000"/>
                  </a:srgbClr>
                </a:gs>
                <a:gs pos="100000">
                  <a:srgbClr val="FFFFFF"/>
                </a:gs>
                <a:gs pos="71000">
                  <a:srgbClr val="376FFF">
                    <a:lumMod val="30000"/>
                    <a:lumOff val="70000"/>
                  </a:srgbClr>
                </a:gs>
              </a:gsLst>
              <a:lin ang="1620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spc="1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408</a:t>
            </a:r>
            <a:r>
              <a:rPr lang="zh-CN" altLang="en-US" sz="2000" b="1" spc="1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备考</a:t>
            </a:r>
            <a:r>
              <a:rPr lang="zh-CN" altLang="en-US" sz="2000" b="1" spc="1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经验</a:t>
            </a:r>
            <a:endParaRPr lang="zh-CN" altLang="en-US" sz="2000" b="1" spc="1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5015231" y="5828665"/>
            <a:ext cx="6208394" cy="8111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我做了王道课后小题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部分王道大题，很多题比较综合，第一遍做起来很痛苦，但最后总结一下小题还是能学到不少的。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408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的真题非常重要，推荐至少需要刷两遍，做到基本每道题都烂熟于胸。模拟卷推荐王道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竟成。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5015231" y="5417820"/>
            <a:ext cx="6208393" cy="410844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376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刷题</a:t>
            </a:r>
            <a:endParaRPr lang="zh-CN" altLang="en-US" b="1" dirty="0">
              <a:solidFill>
                <a:srgbClr val="376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5015231" y="4592320"/>
            <a:ext cx="6208394" cy="8111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王道书和王道视频就够了，我甚至连王道视频都没有怎么看，差不多看了百分之五十。计网看的是湖科大的。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5015231" y="4181475"/>
            <a:ext cx="6208393" cy="410844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关于学习</a:t>
            </a: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资料</a:t>
            </a:r>
            <a:endParaRPr lang="zh-CN" altLang="en-US" b="1" dirty="0">
              <a:solidFill>
                <a:srgbClr val="FFC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5015231" y="3355975"/>
            <a:ext cx="6208394" cy="8111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由于一开始没有规划好，单纯因为想学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OS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，就开始学。其实数据结构可以最开始学，在其他三科都有应用，而且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408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里的数据结构也比较简单。计组最好在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OS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之前学，在计算机体系结构后再学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OS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效率会更高一点。计网比较简单，但是容易出偏题怪题，可以放最后学。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5015231" y="2945130"/>
            <a:ext cx="6208393" cy="410844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rgbClr val="17D594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关于学习</a:t>
            </a:r>
            <a:r>
              <a:rPr lang="zh-CN" altLang="en-US" b="1" dirty="0">
                <a:solidFill>
                  <a:srgbClr val="17D594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顺序</a:t>
            </a:r>
            <a:endParaRPr lang="zh-CN" altLang="en-US" b="1" dirty="0">
              <a:solidFill>
                <a:srgbClr val="17D594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5015231" y="2119630"/>
            <a:ext cx="6208394" cy="8111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本人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月开始看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OS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，主要是看书和看王道课，在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月结束了一轮，写了王道课后小题。九月大量刷模拟卷，十月和十一月重复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刷王道，并写剩下的大题，总结小题和偏题。十二月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快速看了一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遍教材。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5015231" y="1708785"/>
            <a:ext cx="6208393" cy="410844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376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我的</a:t>
            </a:r>
            <a:r>
              <a:rPr lang="zh-CN" altLang="en-US" b="1" dirty="0">
                <a:solidFill>
                  <a:srgbClr val="376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时间线</a:t>
            </a:r>
            <a:endParaRPr lang="zh-CN" altLang="en-US" b="1" dirty="0">
              <a:solidFill>
                <a:srgbClr val="376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>
            <p:custDataLst>
              <p:tags r:id="rId11"/>
            </p:custDataLst>
          </p:nvPr>
        </p:nvSpPr>
        <p:spPr>
          <a:xfrm>
            <a:off x="3787141" y="3216275"/>
            <a:ext cx="607695" cy="607695"/>
          </a:xfrm>
          <a:prstGeom prst="ellipse">
            <a:avLst/>
          </a:prstGeom>
          <a:solidFill>
            <a:srgbClr val="17D594"/>
          </a:solidFill>
          <a:ln w="12700" cap="flat" cmpd="sng" algn="ctr">
            <a:gradFill>
              <a:gsLst>
                <a:gs pos="37000">
                  <a:srgbClr val="FFFFFF"/>
                </a:gs>
                <a:gs pos="0">
                  <a:srgbClr val="17D594">
                    <a:lumMod val="20000"/>
                    <a:lumOff val="80000"/>
                  </a:srgbClr>
                </a:gs>
                <a:gs pos="100000">
                  <a:srgbClr val="FFFFFF"/>
                </a:gs>
                <a:gs pos="71000">
                  <a:srgbClr val="17D594">
                    <a:lumMod val="20000"/>
                    <a:lumOff val="80000"/>
                  </a:srgbClr>
                </a:gs>
              </a:gsLst>
              <a:lin ang="1578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en-US" altLang="zh-CN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>
            <p:custDataLst>
              <p:tags r:id="rId12"/>
            </p:custDataLst>
          </p:nvPr>
        </p:nvSpPr>
        <p:spPr>
          <a:xfrm>
            <a:off x="3115311" y="5415915"/>
            <a:ext cx="607695" cy="607695"/>
          </a:xfrm>
          <a:prstGeom prst="ellipse">
            <a:avLst/>
          </a:prstGeom>
          <a:solidFill>
            <a:srgbClr val="376FFF"/>
          </a:solidFill>
          <a:ln w="12700" cap="flat" cmpd="sng" algn="ctr">
            <a:gradFill>
              <a:gsLst>
                <a:gs pos="37000">
                  <a:srgbClr val="FFFFFF"/>
                </a:gs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FFFFFF"/>
                </a:gs>
                <a:gs pos="71000">
                  <a:srgbClr val="376FFF">
                    <a:lumMod val="20000"/>
                    <a:lumOff val="80000"/>
                  </a:srgbClr>
                </a:gs>
              </a:gsLst>
              <a:lin ang="1578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none" tIns="45720" bIns="4572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04</a:t>
            </a:r>
            <a:endParaRPr lang="en-US" altLang="zh-CN" sz="1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>
            <p:custDataLst>
              <p:tags r:id="rId13"/>
            </p:custDataLst>
          </p:nvPr>
        </p:nvSpPr>
        <p:spPr>
          <a:xfrm>
            <a:off x="3115311" y="2116455"/>
            <a:ext cx="607695" cy="607695"/>
          </a:xfrm>
          <a:prstGeom prst="ellipse">
            <a:avLst/>
          </a:prstGeom>
          <a:solidFill>
            <a:srgbClr val="376FFF"/>
          </a:solidFill>
          <a:ln w="12700" cap="flat" cmpd="sng" algn="ctr">
            <a:gradFill>
              <a:gsLst>
                <a:gs pos="37000">
                  <a:srgbClr val="FFFFFF"/>
                </a:gs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FFFFFF"/>
                </a:gs>
                <a:gs pos="71000">
                  <a:srgbClr val="376FFF">
                    <a:lumMod val="20000"/>
                    <a:lumOff val="80000"/>
                  </a:srgbClr>
                </a:gs>
              </a:gsLst>
              <a:lin ang="1578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none" tIns="45720" bIns="4572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</a:t>
            </a:r>
            <a:endParaRPr lang="en-US" altLang="zh-CN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>
            <p:custDataLst>
              <p:tags r:id="rId14"/>
            </p:custDataLst>
          </p:nvPr>
        </p:nvSpPr>
        <p:spPr>
          <a:xfrm>
            <a:off x="3787141" y="4316095"/>
            <a:ext cx="607695" cy="607695"/>
          </a:xfrm>
          <a:prstGeom prst="ellipse">
            <a:avLst/>
          </a:prstGeom>
          <a:solidFill>
            <a:srgbClr val="FFC000"/>
          </a:solidFill>
          <a:ln w="12700" cap="flat" cmpd="sng" algn="ctr">
            <a:gradFill>
              <a:gsLst>
                <a:gs pos="37000">
                  <a:srgbClr val="FFFFFF"/>
                </a:gs>
                <a:gs pos="0">
                  <a:srgbClr val="8830FE">
                    <a:lumMod val="20000"/>
                    <a:lumOff val="80000"/>
                  </a:srgbClr>
                </a:gs>
                <a:gs pos="100000">
                  <a:srgbClr val="FFFFFF"/>
                </a:gs>
                <a:gs pos="71000">
                  <a:srgbClr val="FFC000">
                    <a:lumMod val="20000"/>
                    <a:lumOff val="80000"/>
                  </a:srgbClr>
                </a:gs>
              </a:gsLst>
              <a:lin ang="1620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03</a:t>
            </a:r>
            <a:endParaRPr lang="en-US" altLang="zh-CN" sz="1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4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0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47" y="3178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4970145" y="2543810"/>
            <a:ext cx="24117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dirty="0">
                <a:solidFill>
                  <a:schemeClr val="tx1"/>
                </a:solidFill>
                <a:cs typeface="+mn-ea"/>
                <a:sym typeface="+mn-lt"/>
              </a:rPr>
              <a:t>一些</a:t>
            </a:r>
            <a:r>
              <a:rPr lang="en-US" altLang="zh-CN" sz="2800" dirty="0">
                <a:solidFill>
                  <a:schemeClr val="tx1"/>
                </a:solidFill>
                <a:cs typeface="+mn-ea"/>
                <a:sym typeface="+mn-lt"/>
              </a:rPr>
              <a:t>tips</a:t>
            </a:r>
            <a:endParaRPr lang="en-US" altLang="zh-CN" sz="2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806440" y="3197225"/>
            <a:ext cx="739140" cy="0"/>
          </a:xfrm>
          <a:prstGeom prst="line">
            <a:avLst/>
          </a:prstGeom>
          <a:ln w="19050">
            <a:solidFill>
              <a:srgbClr val="1C5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9028561" y="2435297"/>
            <a:ext cx="2505868" cy="2972682"/>
            <a:chOff x="9165730" y="2348607"/>
            <a:chExt cx="2505868" cy="2972682"/>
          </a:xfrm>
        </p:grpSpPr>
        <p:grpSp>
          <p:nvGrpSpPr>
            <p:cNvPr id="12" name="组合 11"/>
            <p:cNvGrpSpPr/>
            <p:nvPr/>
          </p:nvGrpSpPr>
          <p:grpSpPr>
            <a:xfrm>
              <a:off x="9165730" y="3351356"/>
              <a:ext cx="2505868" cy="1969933"/>
              <a:chOff x="3447901" y="3332306"/>
              <a:chExt cx="2505868" cy="1969933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3992949" y="3332306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bg1"/>
                    </a:solidFill>
                    <a:cs typeface="+mn-ea"/>
                    <a:sym typeface="+mn-lt"/>
                  </a:rPr>
                  <a:t>标题内容</a:t>
                </a:r>
                <a:endParaRPr lang="zh-CN" altLang="en-US" sz="2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447901" y="3776052"/>
                <a:ext cx="2505868" cy="1526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您的内容打在这里，或者在此框中选择粘贴，并选择只保留文字。并选择只保留文字。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3" name="太阳形 44"/>
            <p:cNvSpPr>
              <a:spLocks noChangeArrowheads="1"/>
            </p:cNvSpPr>
            <p:nvPr/>
          </p:nvSpPr>
          <p:spPr bwMode="auto">
            <a:xfrm>
              <a:off x="10076664" y="2348607"/>
              <a:ext cx="684000" cy="673200"/>
            </a:xfrm>
            <a:custGeom>
              <a:avLst/>
              <a:gdLst>
                <a:gd name="T0" fmla="*/ 12933 w 12933"/>
                <a:gd name="T1" fmla="*/ 5028 h 12198"/>
                <a:gd name="T2" fmla="*/ 7549 w 12933"/>
                <a:gd name="T3" fmla="*/ 1531 h 12198"/>
                <a:gd name="T4" fmla="*/ 6467 w 12933"/>
                <a:gd name="T5" fmla="*/ 0 h 12198"/>
                <a:gd name="T6" fmla="*/ 5384 w 12933"/>
                <a:gd name="T7" fmla="*/ 1531 h 12198"/>
                <a:gd name="T8" fmla="*/ 0 w 12933"/>
                <a:gd name="T9" fmla="*/ 5028 h 12198"/>
                <a:gd name="T10" fmla="*/ 452 w 12933"/>
                <a:gd name="T11" fmla="*/ 7610 h 12198"/>
                <a:gd name="T12" fmla="*/ 10910 w 12933"/>
                <a:gd name="T13" fmla="*/ 12198 h 12198"/>
                <a:gd name="T14" fmla="*/ 12933 w 12933"/>
                <a:gd name="T15" fmla="*/ 7610 h 12198"/>
                <a:gd name="T16" fmla="*/ 6920 w 12933"/>
                <a:gd name="T17" fmla="*/ 8984 h 12198"/>
                <a:gd name="T18" fmla="*/ 8704 w 12933"/>
                <a:gd name="T19" fmla="*/ 7623 h 12198"/>
                <a:gd name="T20" fmla="*/ 6013 w 12933"/>
                <a:gd name="T21" fmla="*/ 11291 h 12198"/>
                <a:gd name="T22" fmla="*/ 4453 w 12933"/>
                <a:gd name="T23" fmla="*/ 9890 h 12198"/>
                <a:gd name="T24" fmla="*/ 6013 w 12933"/>
                <a:gd name="T25" fmla="*/ 11291 h 12198"/>
                <a:gd name="T26" fmla="*/ 4229 w 12933"/>
                <a:gd name="T27" fmla="*/ 7623 h 12198"/>
                <a:gd name="T28" fmla="*/ 6013 w 12933"/>
                <a:gd name="T29" fmla="*/ 8984 h 12198"/>
                <a:gd name="T30" fmla="*/ 4363 w 12933"/>
                <a:gd name="T31" fmla="*/ 8984 h 12198"/>
                <a:gd name="T32" fmla="*/ 6630 w 12933"/>
                <a:gd name="T33" fmla="*/ 1325 h 12198"/>
                <a:gd name="T34" fmla="*/ 6303 w 12933"/>
                <a:gd name="T35" fmla="*/ 1325 h 12198"/>
                <a:gd name="T36" fmla="*/ 6303 w 12933"/>
                <a:gd name="T37" fmla="*/ 971 h 12198"/>
                <a:gd name="T38" fmla="*/ 6630 w 12933"/>
                <a:gd name="T39" fmla="*/ 971 h 12198"/>
                <a:gd name="T40" fmla="*/ 6000 w 12933"/>
                <a:gd name="T41" fmla="*/ 2196 h 12198"/>
                <a:gd name="T42" fmla="*/ 6934 w 12933"/>
                <a:gd name="T43" fmla="*/ 2196 h 12198"/>
                <a:gd name="T44" fmla="*/ 2935 w 12933"/>
                <a:gd name="T45" fmla="*/ 5028 h 12198"/>
                <a:gd name="T46" fmla="*/ 907 w 12933"/>
                <a:gd name="T47" fmla="*/ 5935 h 12198"/>
                <a:gd name="T48" fmla="*/ 12027 w 12933"/>
                <a:gd name="T49" fmla="*/ 6704 h 12198"/>
                <a:gd name="T50" fmla="*/ 907 w 12933"/>
                <a:gd name="T51" fmla="*/ 5935 h 12198"/>
                <a:gd name="T52" fmla="*/ 3452 w 12933"/>
                <a:gd name="T53" fmla="*/ 8984 h 12198"/>
                <a:gd name="T54" fmla="*/ 1415 w 12933"/>
                <a:gd name="T55" fmla="*/ 7623 h 12198"/>
                <a:gd name="T56" fmla="*/ 2671 w 12933"/>
                <a:gd name="T57" fmla="*/ 11291 h 12198"/>
                <a:gd name="T58" fmla="*/ 3542 w 12933"/>
                <a:gd name="T59" fmla="*/ 9890 h 12198"/>
                <a:gd name="T60" fmla="*/ 2671 w 12933"/>
                <a:gd name="T61" fmla="*/ 11291 h 12198"/>
                <a:gd name="T62" fmla="*/ 8480 w 12933"/>
                <a:gd name="T63" fmla="*/ 9890 h 12198"/>
                <a:gd name="T64" fmla="*/ 6920 w 12933"/>
                <a:gd name="T65" fmla="*/ 11291 h 12198"/>
                <a:gd name="T66" fmla="*/ 10263 w 12933"/>
                <a:gd name="T67" fmla="*/ 11291 h 12198"/>
                <a:gd name="T68" fmla="*/ 9391 w 12933"/>
                <a:gd name="T69" fmla="*/ 9890 h 12198"/>
                <a:gd name="T70" fmla="*/ 10263 w 12933"/>
                <a:gd name="T71" fmla="*/ 11291 h 12198"/>
                <a:gd name="T72" fmla="*/ 9481 w 12933"/>
                <a:gd name="T73" fmla="*/ 8984 h 12198"/>
                <a:gd name="T74" fmla="*/ 11519 w 12933"/>
                <a:gd name="T75" fmla="*/ 7623 h 12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933" h="12198">
                  <a:moveTo>
                    <a:pt x="12933" y="7610"/>
                  </a:moveTo>
                  <a:lnTo>
                    <a:pt x="12933" y="5028"/>
                  </a:lnTo>
                  <a:lnTo>
                    <a:pt x="11334" y="5028"/>
                  </a:lnTo>
                  <a:lnTo>
                    <a:pt x="7549" y="1531"/>
                  </a:lnTo>
                  <a:cubicBezTo>
                    <a:pt x="7592" y="1411"/>
                    <a:pt x="7615" y="1282"/>
                    <a:pt x="7615" y="1148"/>
                  </a:cubicBezTo>
                  <a:cubicBezTo>
                    <a:pt x="7615" y="515"/>
                    <a:pt x="7100" y="0"/>
                    <a:pt x="6467" y="0"/>
                  </a:cubicBezTo>
                  <a:cubicBezTo>
                    <a:pt x="5834" y="0"/>
                    <a:pt x="5318" y="515"/>
                    <a:pt x="5318" y="1148"/>
                  </a:cubicBezTo>
                  <a:cubicBezTo>
                    <a:pt x="5318" y="1282"/>
                    <a:pt x="5342" y="1411"/>
                    <a:pt x="5384" y="1531"/>
                  </a:cubicBezTo>
                  <a:lnTo>
                    <a:pt x="1599" y="5028"/>
                  </a:lnTo>
                  <a:lnTo>
                    <a:pt x="0" y="5028"/>
                  </a:lnTo>
                  <a:lnTo>
                    <a:pt x="0" y="7610"/>
                  </a:lnTo>
                  <a:lnTo>
                    <a:pt x="452" y="7610"/>
                  </a:lnTo>
                  <a:lnTo>
                    <a:pt x="2023" y="12198"/>
                  </a:lnTo>
                  <a:lnTo>
                    <a:pt x="10910" y="12198"/>
                  </a:lnTo>
                  <a:lnTo>
                    <a:pt x="12481" y="7610"/>
                  </a:lnTo>
                  <a:lnTo>
                    <a:pt x="12933" y="7610"/>
                  </a:lnTo>
                  <a:close/>
                  <a:moveTo>
                    <a:pt x="8570" y="8984"/>
                  </a:moveTo>
                  <a:lnTo>
                    <a:pt x="6920" y="8984"/>
                  </a:lnTo>
                  <a:lnTo>
                    <a:pt x="6920" y="7623"/>
                  </a:lnTo>
                  <a:lnTo>
                    <a:pt x="8704" y="7623"/>
                  </a:lnTo>
                  <a:lnTo>
                    <a:pt x="8570" y="8984"/>
                  </a:lnTo>
                  <a:close/>
                  <a:moveTo>
                    <a:pt x="6013" y="11291"/>
                  </a:moveTo>
                  <a:lnTo>
                    <a:pt x="4591" y="11291"/>
                  </a:lnTo>
                  <a:lnTo>
                    <a:pt x="4453" y="9890"/>
                  </a:lnTo>
                  <a:lnTo>
                    <a:pt x="6013" y="9890"/>
                  </a:lnTo>
                  <a:lnTo>
                    <a:pt x="6013" y="11291"/>
                  </a:lnTo>
                  <a:close/>
                  <a:moveTo>
                    <a:pt x="4363" y="8984"/>
                  </a:moveTo>
                  <a:lnTo>
                    <a:pt x="4229" y="7623"/>
                  </a:lnTo>
                  <a:lnTo>
                    <a:pt x="6013" y="7623"/>
                  </a:lnTo>
                  <a:lnTo>
                    <a:pt x="6013" y="8984"/>
                  </a:lnTo>
                  <a:lnTo>
                    <a:pt x="4363" y="8984"/>
                  </a:lnTo>
                  <a:lnTo>
                    <a:pt x="4363" y="8984"/>
                  </a:lnTo>
                  <a:close/>
                  <a:moveTo>
                    <a:pt x="6708" y="1148"/>
                  </a:moveTo>
                  <a:cubicBezTo>
                    <a:pt x="6708" y="1218"/>
                    <a:pt x="6678" y="1281"/>
                    <a:pt x="6630" y="1325"/>
                  </a:cubicBezTo>
                  <a:cubicBezTo>
                    <a:pt x="6587" y="1365"/>
                    <a:pt x="6530" y="1389"/>
                    <a:pt x="6467" y="1389"/>
                  </a:cubicBezTo>
                  <a:cubicBezTo>
                    <a:pt x="6403" y="1389"/>
                    <a:pt x="6346" y="1365"/>
                    <a:pt x="6303" y="1325"/>
                  </a:cubicBezTo>
                  <a:cubicBezTo>
                    <a:pt x="6255" y="1281"/>
                    <a:pt x="6225" y="1218"/>
                    <a:pt x="6225" y="1148"/>
                  </a:cubicBezTo>
                  <a:cubicBezTo>
                    <a:pt x="6225" y="1078"/>
                    <a:pt x="6255" y="1015"/>
                    <a:pt x="6303" y="971"/>
                  </a:cubicBezTo>
                  <a:cubicBezTo>
                    <a:pt x="6346" y="931"/>
                    <a:pt x="6403" y="906"/>
                    <a:pt x="6467" y="906"/>
                  </a:cubicBezTo>
                  <a:cubicBezTo>
                    <a:pt x="6530" y="906"/>
                    <a:pt x="6587" y="931"/>
                    <a:pt x="6630" y="971"/>
                  </a:cubicBezTo>
                  <a:cubicBezTo>
                    <a:pt x="6678" y="1015"/>
                    <a:pt x="6708" y="1078"/>
                    <a:pt x="6708" y="1148"/>
                  </a:cubicBezTo>
                  <a:close/>
                  <a:moveTo>
                    <a:pt x="6000" y="2196"/>
                  </a:moveTo>
                  <a:cubicBezTo>
                    <a:pt x="6143" y="2260"/>
                    <a:pt x="6300" y="2296"/>
                    <a:pt x="6467" y="2296"/>
                  </a:cubicBezTo>
                  <a:cubicBezTo>
                    <a:pt x="6633" y="2296"/>
                    <a:pt x="6791" y="2260"/>
                    <a:pt x="6934" y="2196"/>
                  </a:cubicBezTo>
                  <a:lnTo>
                    <a:pt x="9998" y="5028"/>
                  </a:lnTo>
                  <a:lnTo>
                    <a:pt x="2935" y="5028"/>
                  </a:lnTo>
                  <a:lnTo>
                    <a:pt x="6000" y="2196"/>
                  </a:lnTo>
                  <a:close/>
                  <a:moveTo>
                    <a:pt x="907" y="5935"/>
                  </a:moveTo>
                  <a:lnTo>
                    <a:pt x="12027" y="5935"/>
                  </a:lnTo>
                  <a:lnTo>
                    <a:pt x="12027" y="6704"/>
                  </a:lnTo>
                  <a:lnTo>
                    <a:pt x="907" y="6704"/>
                  </a:lnTo>
                  <a:lnTo>
                    <a:pt x="907" y="5935"/>
                  </a:lnTo>
                  <a:close/>
                  <a:moveTo>
                    <a:pt x="3318" y="7623"/>
                  </a:moveTo>
                  <a:lnTo>
                    <a:pt x="3452" y="8984"/>
                  </a:lnTo>
                  <a:lnTo>
                    <a:pt x="1881" y="8984"/>
                  </a:lnTo>
                  <a:lnTo>
                    <a:pt x="1415" y="7623"/>
                  </a:lnTo>
                  <a:lnTo>
                    <a:pt x="3318" y="7623"/>
                  </a:lnTo>
                  <a:close/>
                  <a:moveTo>
                    <a:pt x="2671" y="11291"/>
                  </a:moveTo>
                  <a:lnTo>
                    <a:pt x="2191" y="9890"/>
                  </a:lnTo>
                  <a:lnTo>
                    <a:pt x="3542" y="9890"/>
                  </a:lnTo>
                  <a:lnTo>
                    <a:pt x="3680" y="11291"/>
                  </a:lnTo>
                  <a:lnTo>
                    <a:pt x="2671" y="11291"/>
                  </a:lnTo>
                  <a:close/>
                  <a:moveTo>
                    <a:pt x="6920" y="9890"/>
                  </a:moveTo>
                  <a:lnTo>
                    <a:pt x="8480" y="9890"/>
                  </a:lnTo>
                  <a:lnTo>
                    <a:pt x="8342" y="11291"/>
                  </a:lnTo>
                  <a:lnTo>
                    <a:pt x="6920" y="11291"/>
                  </a:lnTo>
                  <a:lnTo>
                    <a:pt x="6920" y="9890"/>
                  </a:lnTo>
                  <a:close/>
                  <a:moveTo>
                    <a:pt x="10263" y="11291"/>
                  </a:moveTo>
                  <a:lnTo>
                    <a:pt x="9253" y="11291"/>
                  </a:lnTo>
                  <a:lnTo>
                    <a:pt x="9391" y="9890"/>
                  </a:lnTo>
                  <a:lnTo>
                    <a:pt x="10742" y="9890"/>
                  </a:lnTo>
                  <a:lnTo>
                    <a:pt x="10263" y="11291"/>
                  </a:lnTo>
                  <a:close/>
                  <a:moveTo>
                    <a:pt x="11053" y="8984"/>
                  </a:moveTo>
                  <a:lnTo>
                    <a:pt x="9481" y="8984"/>
                  </a:lnTo>
                  <a:lnTo>
                    <a:pt x="9615" y="7623"/>
                  </a:lnTo>
                  <a:lnTo>
                    <a:pt x="11519" y="7623"/>
                  </a:lnTo>
                  <a:lnTo>
                    <a:pt x="11053" y="8984"/>
                  </a:lnTo>
                  <a:close/>
                </a:path>
              </a:pathLst>
            </a:custGeom>
            <a:solidFill>
              <a:schemeClr val="bg1"/>
            </a:solidFill>
            <a:ln w="25400">
              <a:noFill/>
              <a:beve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endParaRPr lang="zh-CN" altLang="zh-CN" dirty="0">
                <a:solidFill>
                  <a:srgbClr val="0082C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4657090" y="213995"/>
            <a:ext cx="2945765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多和研友</a:t>
            </a:r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沟通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>
            <p:custDataLst>
              <p:tags r:id="rId1"/>
            </p:custDataLst>
          </p:nvPr>
        </p:nvSpPr>
        <p:spPr>
          <a:xfrm>
            <a:off x="1304608" y="4128770"/>
            <a:ext cx="4174759" cy="19137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我认识非常多研友，而且很多成为了考研战神，比如十月开始的模拟小团体，里面就有今年的北大信科状元（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407</a:t>
            </a:r>
            <a:r>
              <a:rPr lang="zh-CN" alt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分），清华求真状元（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392</a:t>
            </a:r>
            <a:r>
              <a:rPr lang="zh-CN" alt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分），中科院计算所状元（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410</a:t>
            </a:r>
            <a:r>
              <a:rPr lang="zh-CN" alt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分高分战神），上交高分选手等。每年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buaa</a:t>
            </a:r>
            <a:r>
              <a:rPr lang="zh-CN" alt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都有很多高分战神，大家可以利用好这个资源。</a:t>
            </a:r>
            <a:endParaRPr lang="zh-CN" altLang="en-US" sz="14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14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6696393" y="4128770"/>
            <a:ext cx="4191453" cy="19137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偶尔与研友的交流，不仅可以缓解孤独，放松心情，也可以查漏补缺，相互促进，拓展消息渠道等。</a:t>
            </a:r>
            <a:endParaRPr kumimoji="1"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8" name="Oval 11"/>
          <p:cNvSpPr/>
          <p:nvPr>
            <p:custDataLst>
              <p:tags r:id="rId3"/>
            </p:custDataLst>
          </p:nvPr>
        </p:nvSpPr>
        <p:spPr>
          <a:xfrm>
            <a:off x="2996883" y="2305050"/>
            <a:ext cx="789553" cy="789553"/>
          </a:xfrm>
          <a:prstGeom prst="rect">
            <a:avLst/>
          </a:pr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</a:t>
            </a:r>
            <a:endParaRPr lang="en-US" sz="2000" b="1"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4"/>
            </p:custDataLst>
          </p:nvPr>
        </p:nvCxnSpPr>
        <p:spPr>
          <a:xfrm>
            <a:off x="6091873" y="3576320"/>
            <a:ext cx="0" cy="2412000"/>
          </a:xfrm>
          <a:prstGeom prst="line">
            <a:avLst/>
          </a:prstGeom>
          <a:noFill/>
          <a:ln w="9525" cap="flat" cmpd="sng" algn="ctr">
            <a:solidFill>
              <a:srgbClr val="376FFF"/>
            </a:solidFill>
            <a:prstDash val="solid"/>
            <a:miter lim="800000"/>
          </a:ln>
          <a:effectLst/>
        </p:spPr>
      </p:cxnSp>
      <p:sp>
        <p:nvSpPr>
          <p:cNvPr id="40" name="Oval 11"/>
          <p:cNvSpPr/>
          <p:nvPr>
            <p:custDataLst>
              <p:tags r:id="rId5"/>
            </p:custDataLst>
          </p:nvPr>
        </p:nvSpPr>
        <p:spPr>
          <a:xfrm>
            <a:off x="8396923" y="2305050"/>
            <a:ext cx="789553" cy="789553"/>
          </a:xfrm>
          <a:prstGeom prst="rect">
            <a:avLst/>
          </a:prstGeom>
          <a:solidFill>
            <a:srgbClr val="17D5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en-US" sz="2000" b="1" dirty="0"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>
            <p:custDataLst>
              <p:tags r:id="rId6"/>
            </p:custDataLst>
          </p:nvPr>
        </p:nvSpPr>
        <p:spPr>
          <a:xfrm>
            <a:off x="1304608" y="3465195"/>
            <a:ext cx="4174759" cy="3987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376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研友</a:t>
            </a:r>
            <a:r>
              <a:rPr lang="zh-CN" altLang="en-US" sz="2400" b="1">
                <a:solidFill>
                  <a:srgbClr val="376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战绩</a:t>
            </a:r>
            <a:endParaRPr lang="zh-CN" altLang="en-US" sz="2400" b="1">
              <a:solidFill>
                <a:srgbClr val="376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7"/>
            </p:custDataLst>
          </p:nvPr>
        </p:nvSpPr>
        <p:spPr>
          <a:xfrm>
            <a:off x="6704648" y="3444875"/>
            <a:ext cx="4174759" cy="3987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17D594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好处</a:t>
            </a:r>
            <a:endParaRPr lang="zh-CN" altLang="en-US" sz="2400" b="1">
              <a:solidFill>
                <a:srgbClr val="17D594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4890770" y="213995"/>
            <a:ext cx="24117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脚踏实地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pic>
        <p:nvPicPr>
          <p:cNvPr id="12" name="图片 1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73970" y="1184275"/>
            <a:ext cx="1330960" cy="12134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464800" y="2242185"/>
            <a:ext cx="9728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避雷贴</a:t>
            </a:r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2042478" y="2321878"/>
            <a:ext cx="9000000" cy="64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不要太低估自己，该冲就冲；也不要太小瞧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11408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的难度，否则下一个二战的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就是你。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4"/>
            </p:custDataLst>
          </p:nvPr>
        </p:nvSpPr>
        <p:spPr>
          <a:xfrm>
            <a:off x="2041843" y="1858328"/>
            <a:ext cx="9000000" cy="4617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正视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自己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矩形 30"/>
          <p:cNvSpPr/>
          <p:nvPr>
            <p:custDataLst>
              <p:tags r:id="rId5"/>
            </p:custDataLst>
          </p:nvPr>
        </p:nvSpPr>
        <p:spPr>
          <a:xfrm>
            <a:off x="1142683" y="1924368"/>
            <a:ext cx="579600" cy="579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400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>
            <p:custDataLst>
              <p:tags r:id="rId6"/>
            </p:custDataLst>
          </p:nvPr>
        </p:nvSpPr>
        <p:spPr>
          <a:xfrm>
            <a:off x="2051050" y="3503930"/>
            <a:ext cx="8999855" cy="7626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11408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相对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11826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来说算简单，但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408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考到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130+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的人并不多，不要被高分经验贴迷惑；考场和平常模拟也不一样，强度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一高，你平常的薄弱点会无限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放大。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7"/>
            </p:custDataLst>
          </p:nvPr>
        </p:nvSpPr>
        <p:spPr>
          <a:xfrm>
            <a:off x="2050098" y="3039428"/>
            <a:ext cx="9000000" cy="4617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正视考研</a:t>
            </a:r>
            <a:r>
              <a:rPr lang="zh-CN" altLang="en-US" sz="20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难度</a:t>
            </a:r>
            <a:endParaRPr lang="zh-CN" altLang="en-US" sz="20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4" name="矩形 33"/>
          <p:cNvSpPr/>
          <p:nvPr>
            <p:custDataLst>
              <p:tags r:id="rId8"/>
            </p:custDataLst>
          </p:nvPr>
        </p:nvSpPr>
        <p:spPr>
          <a:xfrm>
            <a:off x="1150938" y="3106103"/>
            <a:ext cx="579600" cy="579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5" name="矩形 34"/>
          <p:cNvSpPr/>
          <p:nvPr>
            <p:custDataLst>
              <p:tags r:id="rId9"/>
            </p:custDataLst>
          </p:nvPr>
        </p:nvSpPr>
        <p:spPr>
          <a:xfrm>
            <a:off x="2041843" y="4694238"/>
            <a:ext cx="9000000" cy="64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不要想考研考公毕设一手抓。一旦确定好了考研，从现在到初试考研差不多就是你唯一的大事。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6" name="矩形 35"/>
          <p:cNvSpPr/>
          <p:nvPr>
            <p:custDataLst>
              <p:tags r:id="rId10"/>
            </p:custDataLst>
          </p:nvPr>
        </p:nvSpPr>
        <p:spPr>
          <a:xfrm>
            <a:off x="2041208" y="4230688"/>
            <a:ext cx="9000000" cy="4617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确定了考研就认真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准备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7" name="矩形 36"/>
          <p:cNvSpPr/>
          <p:nvPr>
            <p:custDataLst>
              <p:tags r:id="rId11"/>
            </p:custDataLst>
          </p:nvPr>
        </p:nvSpPr>
        <p:spPr>
          <a:xfrm>
            <a:off x="1142048" y="4296728"/>
            <a:ext cx="579600" cy="579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8" name="矩形 37"/>
          <p:cNvSpPr/>
          <p:nvPr>
            <p:custDataLst>
              <p:tags r:id="rId12"/>
            </p:custDataLst>
          </p:nvPr>
        </p:nvSpPr>
        <p:spPr>
          <a:xfrm>
            <a:off x="2050733" y="5846763"/>
            <a:ext cx="9000000" cy="64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如果数学基础不好，那么一半甚至三分之二的时间可以花在数学上；数学和专业课是最容易拉分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9" name="矩形 38"/>
          <p:cNvSpPr/>
          <p:nvPr>
            <p:custDataLst>
              <p:tags r:id="rId13"/>
            </p:custDataLst>
          </p:nvPr>
        </p:nvSpPr>
        <p:spPr>
          <a:xfrm>
            <a:off x="2050098" y="5382578"/>
            <a:ext cx="9000000" cy="4617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认清自己的</a:t>
            </a:r>
            <a:r>
              <a:rPr lang="zh-CN" altLang="en-US" sz="20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薄弱点</a:t>
            </a:r>
            <a:endParaRPr lang="zh-CN" altLang="en-US" sz="20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14"/>
            </p:custDataLst>
          </p:nvPr>
        </p:nvSpPr>
        <p:spPr>
          <a:xfrm>
            <a:off x="1150938" y="5449253"/>
            <a:ext cx="579600" cy="579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04</a:t>
            </a:r>
            <a:endParaRPr lang="en-US" altLang="zh-CN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4890770" y="213995"/>
            <a:ext cx="24117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心态</a:t>
            </a:r>
            <a:r>
              <a:rPr lang="zh-CN" altLang="en-US" sz="2800" dirty="0">
                <a:solidFill>
                  <a:srgbClr val="1C56A6"/>
                </a:solidFill>
                <a:cs typeface="+mn-ea"/>
                <a:sym typeface="+mn-lt"/>
              </a:rPr>
              <a:t>调整</a:t>
            </a:r>
            <a:endParaRPr lang="zh-CN" altLang="en-US" sz="2800" dirty="0">
              <a:solidFill>
                <a:srgbClr val="1C56A6"/>
              </a:solidFill>
              <a:cs typeface="+mn-ea"/>
              <a:sym typeface="+mn-lt"/>
            </a:endParaRPr>
          </a:p>
        </p:txBody>
      </p:sp>
      <p:sp useBgFill="1">
        <p:nvSpPr>
          <p:cNvPr id="91" name="单圆角矩形 5"/>
          <p:cNvSpPr/>
          <p:nvPr>
            <p:custDataLst>
              <p:tags r:id="rId1"/>
            </p:custDataLst>
          </p:nvPr>
        </p:nvSpPr>
        <p:spPr>
          <a:xfrm>
            <a:off x="690563" y="5214938"/>
            <a:ext cx="10810875" cy="1417955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12" name="单圆角矩形 5"/>
          <p:cNvSpPr/>
          <p:nvPr>
            <p:custDataLst>
              <p:tags r:id="rId2"/>
            </p:custDataLst>
          </p:nvPr>
        </p:nvSpPr>
        <p:spPr>
          <a:xfrm>
            <a:off x="690563" y="5216208"/>
            <a:ext cx="10810875" cy="1415415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80" name="单圆角矩形 5"/>
          <p:cNvSpPr/>
          <p:nvPr>
            <p:custDataLst>
              <p:tags r:id="rId3"/>
            </p:custDataLst>
          </p:nvPr>
        </p:nvSpPr>
        <p:spPr>
          <a:xfrm>
            <a:off x="690563" y="3437573"/>
            <a:ext cx="10810875" cy="1452245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13" name="单圆角矩形 5"/>
          <p:cNvSpPr/>
          <p:nvPr>
            <p:custDataLst>
              <p:tags r:id="rId4"/>
            </p:custDataLst>
          </p:nvPr>
        </p:nvSpPr>
        <p:spPr>
          <a:xfrm>
            <a:off x="690563" y="3447733"/>
            <a:ext cx="10810875" cy="1443990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2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45" name="单圆角矩形 5"/>
          <p:cNvSpPr/>
          <p:nvPr>
            <p:custDataLst>
              <p:tags r:id="rId5"/>
            </p:custDataLst>
          </p:nvPr>
        </p:nvSpPr>
        <p:spPr>
          <a:xfrm>
            <a:off x="690563" y="1714818"/>
            <a:ext cx="10810875" cy="1415415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22" name="单圆角矩形 5"/>
          <p:cNvSpPr/>
          <p:nvPr>
            <p:custDataLst>
              <p:tags r:id="rId6"/>
            </p:custDataLst>
          </p:nvPr>
        </p:nvSpPr>
        <p:spPr>
          <a:xfrm>
            <a:off x="690563" y="1714818"/>
            <a:ext cx="10810875" cy="1415415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7"/>
            </p:custDataLst>
          </p:nvPr>
        </p:nvSpPr>
        <p:spPr>
          <a:xfrm>
            <a:off x="1375728" y="1868488"/>
            <a:ext cx="9838690" cy="435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关于</a:t>
            </a: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作息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8"/>
            </p:custDataLst>
          </p:nvPr>
        </p:nvSpPr>
        <p:spPr>
          <a:xfrm>
            <a:off x="1376045" y="2364105"/>
            <a:ext cx="9838690" cy="8528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如果是夜猫子的话不用太刻意追求早起，保持一个能让自己精力充沛的作息就好。到了十二月得适应一下考试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作息。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1375728" y="3580448"/>
            <a:ext cx="9838690" cy="435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2"/>
                </a:solidFill>
                <a:latin typeface="+mn-ea"/>
                <a:cs typeface="+mn-ea"/>
              </a:rPr>
              <a:t>关于</a:t>
            </a:r>
            <a:r>
              <a:rPr lang="zh-CN" altLang="en-US" sz="2400" b="1">
                <a:solidFill>
                  <a:schemeClr val="accent2"/>
                </a:solidFill>
                <a:latin typeface="+mn-ea"/>
                <a:cs typeface="+mn-ea"/>
              </a:rPr>
              <a:t>进度</a:t>
            </a:r>
            <a:endParaRPr lang="zh-CN" altLang="en-US" sz="24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1377315" y="4052570"/>
            <a:ext cx="9837420" cy="7651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没必要太在意别人的进度，有些人进度快是因为别人学的不深，只要在十月报名前对自己的水平能有个清晰的认识就行。这个时候最好数学和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408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都达到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能做真题的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水平。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>
            <p:custDataLst>
              <p:tags r:id="rId11"/>
            </p:custDataLst>
          </p:nvPr>
        </p:nvSpPr>
        <p:spPr>
          <a:xfrm>
            <a:off x="1375728" y="5292408"/>
            <a:ext cx="9838690" cy="435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如何调整</a:t>
            </a: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心态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2"/>
            </p:custDataLst>
          </p:nvPr>
        </p:nvSpPr>
        <p:spPr>
          <a:xfrm>
            <a:off x="1377315" y="5739765"/>
            <a:ext cx="9838690" cy="7162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考研期间心态容易出现波动，这是正常的。当感到特别烦躁的时候，可以给自己放个假，适当摆烂一会儿，或者和同学出去散散心。也可以找点简单的卷子刷刷激励一下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自己。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8" name="圆角矩形 19"/>
          <p:cNvSpPr/>
          <p:nvPr>
            <p:custDataLst>
              <p:tags r:id="rId13"/>
            </p:custDataLst>
          </p:nvPr>
        </p:nvSpPr>
        <p:spPr>
          <a:xfrm rot="5400000">
            <a:off x="693103" y="1878648"/>
            <a:ext cx="434340" cy="4387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9" name="燕尾形 20"/>
          <p:cNvSpPr/>
          <p:nvPr>
            <p:custDataLst>
              <p:tags r:id="rId14"/>
            </p:custDataLst>
          </p:nvPr>
        </p:nvSpPr>
        <p:spPr>
          <a:xfrm>
            <a:off x="853123" y="2013268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3" name="圆角矩形 19"/>
          <p:cNvSpPr/>
          <p:nvPr>
            <p:custDataLst>
              <p:tags r:id="rId15"/>
            </p:custDataLst>
          </p:nvPr>
        </p:nvSpPr>
        <p:spPr>
          <a:xfrm rot="5400000">
            <a:off x="693103" y="3578543"/>
            <a:ext cx="434340" cy="4387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4" name="燕尾形 20"/>
          <p:cNvSpPr/>
          <p:nvPr>
            <p:custDataLst>
              <p:tags r:id="rId16"/>
            </p:custDataLst>
          </p:nvPr>
        </p:nvSpPr>
        <p:spPr>
          <a:xfrm>
            <a:off x="853123" y="3713163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4" name="圆角矩形 19"/>
          <p:cNvSpPr/>
          <p:nvPr>
            <p:custDataLst>
              <p:tags r:id="rId17"/>
            </p:custDataLst>
          </p:nvPr>
        </p:nvSpPr>
        <p:spPr>
          <a:xfrm rot="5400000">
            <a:off x="693103" y="5278438"/>
            <a:ext cx="434340" cy="4387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5" name="燕尾形 20"/>
          <p:cNvSpPr/>
          <p:nvPr>
            <p:custDataLst>
              <p:tags r:id="rId18"/>
            </p:custDataLst>
          </p:nvPr>
        </p:nvSpPr>
        <p:spPr>
          <a:xfrm>
            <a:off x="853123" y="5449888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677409" y="3200552"/>
            <a:ext cx="2730500" cy="457200"/>
            <a:chOff x="5016500" y="4318000"/>
            <a:chExt cx="2730500" cy="457200"/>
          </a:xfrm>
        </p:grpSpPr>
        <p:sp>
          <p:nvSpPr>
            <p:cNvPr id="3" name="矩形: 圆角 2"/>
            <p:cNvSpPr/>
            <p:nvPr/>
          </p:nvSpPr>
          <p:spPr>
            <a:xfrm>
              <a:off x="5016500" y="4318000"/>
              <a:ext cx="2730500" cy="457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C56A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C56A6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194937" y="4377323"/>
              <a:ext cx="237363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spc="200" dirty="0">
                  <a:solidFill>
                    <a:srgbClr val="1C5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吴志文</a:t>
              </a:r>
              <a:r>
                <a:rPr lang="en-US" altLang="zh-CN" sz="1600" spc="200" dirty="0">
                  <a:solidFill>
                    <a:srgbClr val="1C5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/ 2025.04.09</a:t>
              </a:r>
              <a:endParaRPr lang="en-US" altLang="zh-CN" sz="1600" spc="200" dirty="0">
                <a:solidFill>
                  <a:srgbClr val="1C5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646045" y="2118360"/>
            <a:ext cx="6969760" cy="10147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dist"/>
            <a:r>
              <a:rPr lang="en-US" altLang="zh-CN" sz="6000" dirty="0">
                <a:solidFill>
                  <a:srgbClr val="1C56A6"/>
                </a:solidFill>
                <a:effectLst/>
                <a:latin typeface="+mn-lt"/>
                <a:ea typeface="+mn-ea"/>
                <a:cs typeface="+mn-ea"/>
                <a:sym typeface="+mn-lt"/>
              </a:rPr>
              <a:t>26</a:t>
            </a:r>
            <a:r>
              <a:rPr lang="zh-CN" altLang="en-US" sz="6000" dirty="0">
                <a:solidFill>
                  <a:srgbClr val="1C56A6"/>
                </a:solidFill>
                <a:effectLst/>
                <a:latin typeface="+mn-lt"/>
                <a:ea typeface="+mn-ea"/>
                <a:cs typeface="+mn-ea"/>
                <a:sym typeface="+mn-lt"/>
              </a:rPr>
              <a:t>软微欢迎</a:t>
            </a:r>
            <a:r>
              <a:rPr lang="zh-CN" altLang="en-US" sz="6000" dirty="0">
                <a:solidFill>
                  <a:srgbClr val="1C56A6"/>
                </a:solidFill>
                <a:effectLst/>
                <a:latin typeface="+mn-lt"/>
                <a:ea typeface="+mn-ea"/>
                <a:cs typeface="+mn-ea"/>
                <a:sym typeface="+mn-lt"/>
              </a:rPr>
              <a:t>你们</a:t>
            </a:r>
            <a:endParaRPr lang="zh-CN" altLang="en-US" sz="6000" dirty="0">
              <a:solidFill>
                <a:srgbClr val="1C56A6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28059" y="3427013"/>
            <a:ext cx="6135880" cy="0"/>
            <a:chOff x="3034426" y="3470555"/>
            <a:chExt cx="6135880" cy="0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8672885" y="3470555"/>
              <a:ext cx="497421" cy="0"/>
            </a:xfrm>
            <a:prstGeom prst="line">
              <a:avLst/>
            </a:prstGeom>
            <a:ln w="19050">
              <a:solidFill>
                <a:srgbClr val="334B7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3034426" y="3470555"/>
              <a:ext cx="497421" cy="0"/>
            </a:xfrm>
            <a:prstGeom prst="line">
              <a:avLst/>
            </a:prstGeom>
            <a:ln w="19050">
              <a:solidFill>
                <a:srgbClr val="334B7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4677410" y="398589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v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18770086997</a:t>
            </a:r>
            <a:endParaRPr lang="en-US" altLang="zh-CN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2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3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4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5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6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7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8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9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0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1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2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3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4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5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6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7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8.xml><?xml version="1.0" encoding="utf-8"?>
<p:tagLst xmlns:p="http://schemas.openxmlformats.org/presentationml/2006/main">
  <p:tag name="TABLE_ENDDRAG_ORIGIN_RECT" val="746*414"/>
  <p:tag name="TABLE_ENDDRAG_RECT" val="116*77*746*414"/>
</p:tagLst>
</file>

<file path=ppt/tags/tag19.xml><?xml version="1.0" encoding="utf-8"?>
<p:tagLst xmlns:p="http://schemas.openxmlformats.org/presentationml/2006/main">
  <p:tag name="TABLE_ENDDRAG_ORIGIN_RECT" val="763*410"/>
  <p:tag name="TABLE_ENDDRAG_RECT" val="116*82*763*410"/>
</p:tagLst>
</file>

<file path=ppt/tags/tag20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1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UNIT_VALUE" val="14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05_2*l_h_a*1_1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56.725006103515625,&quot;top&quot;:140.37500610351563,&quot;width&quot;:846.5499877929688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2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05_2*l_h_a*1_2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56.725006103515625,&quot;top&quot;:140.37500610351563,&quot;width&quot;:846.5499877929688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3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205_2*l_h_a*1_3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56.725006103515625,&quot;top&quot;:140.37500610351563,&quot;width&quot;:846.5499877929688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1_1"/>
  <p:tag name="KSO_WM_TEMPLATE_CATEGORY" val="diagram"/>
  <p:tag name="KSO_WM_TEMPLATE_INDEX" val="20233205"/>
  <p:tag name="KSO_WM_UNIT_LAYERLEVEL" val="1_1_1"/>
  <p:tag name="KSO_WM_TAG_VERSION" val="3.0"/>
  <p:tag name="KSO_WM_UNIT_VALUE" val="59*71"/>
  <p:tag name="KSO_WM_DIAGRAM_GROUP_CODE" val="l1-1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05_2*l_h_x*1_2_1"/>
  <p:tag name="KSO_WM_TEMPLATE_CATEGORY" val="diagram"/>
  <p:tag name="KSO_WM_TEMPLATE_INDEX" val="2023320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DIAGRAM_VIRTUALLY_FRAME" val="{&quot;height&quot;:376.54998779296875,&quot;left&quot;:56.725006103515625,&quot;top&quot;:140.37500610351563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3_1"/>
  <p:tag name="KSO_WM_TEMPLATE_CATEGORY" val="diagram"/>
  <p:tag name="KSO_WM_TEMPLATE_INDEX" val="20233205"/>
  <p:tag name="KSO_WM_UNIT_LAYERLEVEL" val="1_1_1"/>
  <p:tag name="KSO_WM_TAG_VERSION" val="3.0"/>
  <p:tag name="KSO_WM_UNIT_VALUE" val="22*22"/>
  <p:tag name="KSO_WM_DIAGRAM_GROUP_CODE" val="l1-1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i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1_1"/>
  <p:tag name="KSO_WM_DIAGRAM_VERSION" val="3"/>
  <p:tag name="KSO_WM_DIAGRAM_COLOR_TRICK" val="2"/>
  <p:tag name="KSO_WM_DIAGRAM_COLOR_TEXT_CAN_REMOVE" val="n"/>
  <p:tag name="KSO_WM_DIAGRAM_GROUP_CODE" val="m1-1"/>
  <p:tag name="KSO_WM_UNIT_FILL_TYPE" val="3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i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2_1"/>
  <p:tag name="KSO_WM_DIAGRAM_VERSION" val="3"/>
  <p:tag name="KSO_WM_DIAGRAM_COLOR_TRICK" val="2"/>
  <p:tag name="KSO_WM_DIAGRAM_COLOR_TEXT_CAN_REMOVE" val="n"/>
  <p:tag name="KSO_WM_DIAGRAM_GROUP_CODE" val="m1-1"/>
  <p:tag name="KSO_WM_UNIT_FILL_TYPE" val="3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i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3_1"/>
  <p:tag name="KSO_WM_DIAGRAM_VERSION" val="3"/>
  <p:tag name="KSO_WM_DIAGRAM_COLOR_TRICK" val="2"/>
  <p:tag name="KSO_WM_DIAGRAM_COLOR_TEXT_CAN_REMOVE" val="n"/>
  <p:tag name="KSO_WM_DIAGRAM_GROUP_CODE" val="m1-1"/>
  <p:tag name="KSO_WM_UNIT_FILL_TYPE" val="3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i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4_1"/>
  <p:tag name="KSO_WM_DIAGRAM_VERSION" val="3"/>
  <p:tag name="KSO_WM_DIAGRAM_COLOR_TRICK" val="2"/>
  <p:tag name="KSO_WM_DIAGRAM_COLOR_TEXT_CAN_REMOVE" val="n"/>
  <p:tag name="KSO_WM_DIAGRAM_GROUP_CODE" val="m1-1"/>
  <p:tag name="KSO_WM_UNIT_FILL_TYPE" val="3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x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94*94"/>
  <p:tag name="KSO_WM_UNIT_TYPE" val="m_h_x"/>
  <p:tag name="KSO_WM_UNIT_INDEX" val="1_1_1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x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94*94"/>
  <p:tag name="KSO_WM_UNIT_TYPE" val="m_h_x"/>
  <p:tag name="KSO_WM_UNIT_INDEX" val="1_2_1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gradient&quot;:[{&quot;brightness&quot;:0,&quot;colorType&quot;:1,&quot;foreColorIndex&quot;:8,&quot;pos&quot;:0.2800000011920929,&quot;transparency&quot;:0},{&quot;brightness&quot;:0.4000000059604645,&quot;colorType&quot;:1,&quot;foreColorIndex&quot;:8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x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94*94"/>
  <p:tag name="KSO_WM_UNIT_TYPE" val="m_h_x"/>
  <p:tag name="KSO_WM_UNIT_INDEX" val="1_3_1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x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94*94"/>
  <p:tag name="KSO_WM_UNIT_TYPE" val="m_h_x"/>
  <p:tag name="KSO_WM_UNIT_INDEX" val="1_4_1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gradient&quot;:[{&quot;brightness&quot;:0,&quot;colorType&quot;:1,&quot;foreColorIndex&quot;:8,&quot;pos&quot;:0.2800000011920929,&quot;transparency&quot;:0},{&quot;brightness&quot;:0.4000000059604645,&quot;colorType&quot;:1,&quot;foreColorIndex&quot;:8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i*1_1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UNIT_TYPE" val="m_i"/>
  <p:tag name="KSO_WM_UNIT_INDEX" val="1_1"/>
  <p:tag name="KSO_WM_UNIT_LINE_FORE_SCHEMECOLOR_INDEX" val="13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i*1_2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UNIT_TYPE" val="m_i"/>
  <p:tag name="KSO_WM_UNIT_INDEX" val="1_2"/>
  <p:tag name="KSO_WM_UNIT_LINE_FORE_SCHEMECOLOR_INDEX" val="13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i*1_3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UNIT_TYPE" val="m_i"/>
  <p:tag name="KSO_WM_UNIT_INDEX" val="1_3"/>
  <p:tag name="KSO_WM_UNIT_LINE_FORE_SCHEMECOLOR_INDEX" val="13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3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5395_3*m_h_a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5395_3*m_h_f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5395_3*m_h_a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5395_3*m_h_f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5395_3*m_h_a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5395_3*m_h_f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5395_3*m_h_a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x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94*94"/>
  <p:tag name="KSO_WM_UNIT_TYPE" val="m_h_x"/>
  <p:tag name="KSO_WM_UNIT_INDEX" val="1_5_1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i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5_1"/>
  <p:tag name="KSO_WM_DIAGRAM_VERSION" val="3"/>
  <p:tag name="KSO_WM_DIAGRAM_COLOR_TRICK" val="2"/>
  <p:tag name="KSO_WM_DIAGRAM_COLOR_TEXT_CAN_REMOVE" val="n"/>
  <p:tag name="KSO_WM_DIAGRAM_GROUP_CODE" val="m1-1"/>
  <p:tag name="KSO_WM_UNIT_FILL_TYPE" val="3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i*1_4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UNIT_TYPE" val="m_i"/>
  <p:tag name="KSO_WM_UNIT_INDEX" val="1_4"/>
  <p:tag name="KSO_WM_UNIT_LINE_FORE_SCHEMECOLOR_INDEX" val="13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6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5395_3*m_h_f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5395_3*m_h_a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30.0250393700788,&quot;left&quot;:66.85000610351562,&quot;top&quot;:163.6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6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6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6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6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4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4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2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2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5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5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3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3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2462_5*l_h_i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2462_5*l_h_f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内容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2462_5*l_h_a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2462_5*l_h_i*1_4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2462_5*l_h_f*1_4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2462_5*l_h_a*1_4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6_1"/>
  <p:tag name="KSO_WM_UNIT_ID" val="diagram20232462_5*l_h_i*1_6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6_1"/>
  <p:tag name="KSO_WM_UNIT_ID" val="diagram20232462_5*l_h_f*1_6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内容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6_1"/>
  <p:tag name="KSO_WM_UNIT_ID" val="diagram20232462_5*l_h_a*1_6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62_5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2462_5*l_h_f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2462_5*l_h_a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2462_5*l_h_i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2462_5*l_h_f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2462_5*l_h_a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diagram20232462_5*l_h_i*1_5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2462_5*l_h_f*1_5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2462_5*l_h_a*1_5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6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6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6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6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4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4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2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2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5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5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3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3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2462_5*l_h_i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2462_5*l_h_f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内容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2462_5*l_h_a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2462_5*l_h_i*1_4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2462_5*l_h_f*1_4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2462_5*l_h_a*1_4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6_1"/>
  <p:tag name="KSO_WM_UNIT_ID" val="diagram20232462_5*l_h_i*1_6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6_1"/>
  <p:tag name="KSO_WM_UNIT_ID" val="diagram20232462_5*l_h_f*1_6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内容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6_1"/>
  <p:tag name="KSO_WM_UNIT_ID" val="diagram20232462_5*l_h_a*1_6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62_5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2462_5*l_h_f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2462_5*l_h_a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2462_5*l_h_i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2462_5*l_h_f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2462_5*l_h_a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diagram20232462_5*l_h_i*1_5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2462_5*l_h_f*1_5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2462_5*l_h_a*1_5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5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TYPE" val="1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64"/>
  <p:tag name="KSO_WM_UNIT_LINE_FORE_SCHEMECOLOR_INDEX_2_TRANS" val="0"/>
  <p:tag name="KSO_WM_UNIT_LINE_FORE_SCHEMECOLOR_INDEX_3_BRIGHTNESS" val="0.8"/>
  <p:tag name="KSO_WM_UNIT_LINE_FORE_SCHEMECOLOR_INDEX_3" val="15"/>
  <p:tag name="KSO_WM_UNIT_LINE_FORE_SCHEMECOLOR_INDEX_3_POS" val="0.9"/>
  <p:tag name="KSO_WM_UNIT_LINE_FORE_SCHEMECOLOR_INDEX_3_TRANS" val="0.53"/>
  <p:tag name="KSO_WM_UNIT_LINE_FORE_SCHEMECOLOR_INDEX_4_BRIGHTNESS" val="0.8"/>
  <p:tag name="KSO_WM_UNIT_LINE_FORE_SCHEMECOLOR_INDEX_4" val="15"/>
  <p:tag name="KSO_WM_UNIT_LINE_FORE_SCHEMECOLOR_INDEX_4_POS" val="0.95"/>
  <p:tag name="KSO_WM_UNIT_LINE_FORE_SCHEMECOLOR_INDEX_4_TRANS" val="0"/>
  <p:tag name="KSO_WM_UNIT_LINE_FORE_SCHEMECOLOR_INDEX_5_BRIGHTNESS" val="0.8"/>
  <p:tag name="KSO_WM_UNIT_LINE_FORE_SCHEMECOLOR_INDEX_5" val="15"/>
  <p:tag name="KSO_WM_UNIT_LINE_FORE_SCHEMECOLOR_INDEX_5_POS" val="1"/>
  <p:tag name="KSO_WM_UNIT_LINE_FORE_SCHEMECOLOR_INDEX_5_TRANS" val="0.9"/>
  <p:tag name="KSO_WM_UNIT_LINE_GRADIENT_TYPE" val="0"/>
  <p:tag name="KSO_WM_UNIT_LINE_GRADIENT_ANGLE" val="0"/>
  <p:tag name="KSO_WM_UNIT_LINE_GRADIENT_DIRECTION" val="3"/>
  <p:tag name="KSO_WM_UNIT_LINE_FILL_TYPE" val="5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i*1_2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2_1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type&quot;:0},&quot;glow&quot;:{&quot;colorType&quot;:0},&quot;line&quot;:{&quot;gradient&quot;:[{&quot;brightness&quot;:0.5,&quot;colorType&quot;:1,&quot;foreColorIndex&quot;:13,&quot;pos&quot;:1,&quot;transparency&quot;:0.699999988079071},{&quot;brightness&quot;:0.800000011920929,&quot;colorType&quot;:2,&quot;pos&quot;:0.15000000596046448,&quot;rgb&quot;:&quot;#ffffff&quot;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a*1_1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单击添加&#10;项标题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0945_3*n_h_h_f*1_2_4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0945_3*n_h_h_a*1_2_4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45_3*n_h_h_f*1_2_3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45_3*n_h_h_a*1_2_3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45_3*n_h_h_f*1_2_2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45_3*n_h_h_a*1_2_2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45_3*n_h_h_f*1_2_1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45_3*n_h_h_a*1_2_1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5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h_i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2_1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6,&quot;pos&quot;:0,&quot;transparency&quot;:0},{&quot;brightness&quot;:0,&quot;colorType&quot;:2,&quot;pos&quot;:1,&quot;rgb&quot;:&quot;#ffffff&quot;,&quot;transparency&quot;:0},{&quot;brightness&quot;:0.800000011920929,&quot;colorType&quot;:1,&quot;foreColorIndex&quot;:6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3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h_i*1_2_4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4_1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37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h_i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1_1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3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h_i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3_1"/>
  <p:tag name="KSO_WM_DIAGRAM_MAX_ITEMCNT" val="4"/>
  <p:tag name="KSO_WM_DIAGRAM_MIN_ITEMCNT" val="2"/>
  <p:tag name="KSO_WM_DIAGRAM_VIRTUALLY_FRAME" val="{&quot;height&quot;:408.19646606445315,&quot;left&quot;:76.25,&quot;top&quot;:114.62676696777343,&quot;width&quot;:807.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10,&quot;pos&quot;:0,&quot;transparency&quot;:0},{&quot;brightness&quot;:0,&quot;colorType&quot;:2,&quot;pos&quot;:1,&quot;rgb&quot;:&quot;#ffffff&quot;,&quot;transparency&quot;:0},{&quot;brightness&quot;:0.800000011920929,&quot;colorType&quot;:1,&quot;foreColorIndex&quot;:7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39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TYPE" val="1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64"/>
  <p:tag name="KSO_WM_UNIT_LINE_FORE_SCHEMECOLOR_INDEX_2_TRANS" val="0"/>
  <p:tag name="KSO_WM_UNIT_LINE_FORE_SCHEMECOLOR_INDEX_3_BRIGHTNESS" val="0.8"/>
  <p:tag name="KSO_WM_UNIT_LINE_FORE_SCHEMECOLOR_INDEX_3" val="15"/>
  <p:tag name="KSO_WM_UNIT_LINE_FORE_SCHEMECOLOR_INDEX_3_POS" val="0.9"/>
  <p:tag name="KSO_WM_UNIT_LINE_FORE_SCHEMECOLOR_INDEX_3_TRANS" val="0.53"/>
  <p:tag name="KSO_WM_UNIT_LINE_FORE_SCHEMECOLOR_INDEX_4_BRIGHTNESS" val="0.8"/>
  <p:tag name="KSO_WM_UNIT_LINE_FORE_SCHEMECOLOR_INDEX_4" val="15"/>
  <p:tag name="KSO_WM_UNIT_LINE_FORE_SCHEMECOLOR_INDEX_4_POS" val="0.95"/>
  <p:tag name="KSO_WM_UNIT_LINE_FORE_SCHEMECOLOR_INDEX_4_TRANS" val="0"/>
  <p:tag name="KSO_WM_UNIT_LINE_FORE_SCHEMECOLOR_INDEX_5_BRIGHTNESS" val="0.8"/>
  <p:tag name="KSO_WM_UNIT_LINE_FORE_SCHEMECOLOR_INDEX_5" val="15"/>
  <p:tag name="KSO_WM_UNIT_LINE_FORE_SCHEMECOLOR_INDEX_5_POS" val="1"/>
  <p:tag name="KSO_WM_UNIT_LINE_FORE_SCHEMECOLOR_INDEX_5_TRANS" val="0.9"/>
  <p:tag name="KSO_WM_UNIT_LINE_GRADIENT_TYPE" val="0"/>
  <p:tag name="KSO_WM_UNIT_LINE_GRADIENT_ANGLE" val="0"/>
  <p:tag name="KSO_WM_UNIT_LINE_GRADIENT_DIRECTION" val="3"/>
  <p:tag name="KSO_WM_UNIT_LINE_FILL_TYPE" val="5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i*1_2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2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type&quot;:0},&quot;glow&quot;:{&quot;colorType&quot;:0},&quot;line&quot;:{&quot;gradient&quot;:[{&quot;brightness&quot;:0.5,&quot;colorType&quot;:1,&quot;foreColorIndex&quot;:13,&quot;pos&quot;:1,&quot;transparency&quot;:0.699999988079071},{&quot;brightness&quot;:0.800000011920929,&quot;colorType&quot;:2,&quot;pos&quot;:0.15000000596046448,&quot;rgb&quot;:&quot;#ffffff&quot;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a*1_1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单击添加&#10;项标题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0945_3*n_h_h_f*1_2_4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0945_3*n_h_h_a*1_2_4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45_3*n_h_h_f*1_2_3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45_3*n_h_h_a*1_2_3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45_3*n_h_h_f*1_2_2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45_3*n_h_h_a*1_2_2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45_3*n_h_h_f*1_2_1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45_3*n_h_h_a*1_2_1_1"/>
  <p:tag name="KSO_WM_TEMPLATE_CATEGORY" val="diagram"/>
  <p:tag name="KSO_WM_TEMPLATE_INDEX" val="20230945"/>
  <p:tag name="KSO_WM_UNIT_LAYERLEVEL" val="1_1_1_1"/>
  <p:tag name="KSO_WM_TAG_VERSION" val="3.0"/>
  <p:tag name="KSO_WM_DIAGRAM_GROUP_CODE" val="n1-1"/>
  <p:tag name="KSO_WM_DIAGRAM_VERSION" val="3"/>
  <p:tag name="KSO_WM_DIAGRAM_COLOR_TRICK" val="3"/>
  <p:tag name="KSO_WM_DIAGRAM_COLOR_TEXT_CAN_REMOVE" val="n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9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h_i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2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6,&quot;pos&quot;:0,&quot;transparency&quot;:0},{&quot;brightness&quot;:0,&quot;colorType&quot;:2,&quot;pos&quot;:1,&quot;rgb&quot;:&quot;#ffffff&quot;,&quot;transparency&quot;:0},{&quot;brightness&quot;:0.800000011920929,&quot;colorType&quot;:1,&quot;foreColorIndex&quot;:6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15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h_i*1_2_4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4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1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h_i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1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2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3*n_h_h_i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3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10,&quot;pos&quot;:0,&quot;transparency&quot;:0},{&quot;brightness&quot;:0,&quot;colorType&quot;:2,&quot;pos&quot;:1,&quot;rgb&quot;:&quot;#ffffff&quot;,&quot;transparency&quot;:0},{&quot;brightness&quot;:0.800000011920929,&quot;colorType&quot;:1,&quot;foreColorIndex&quot;:7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15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4_1*l_h_f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73828125,&quot;top&quot;:166.38579406738282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4"/>
  <p:tag name="KSO_WM_UNIT_TEXT_TYPE" val="1"/>
  <p:tag name="KSO_WM_UNIT_TEXT_LAYER_COUNT" val="1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4_1*l_h_f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73828125,&quot;top&quot;:166.38579406738282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4"/>
  <p:tag name="KSO_WM_UNIT_TEXT_TYPE" val="1"/>
  <p:tag name="KSO_WM_UNIT_TEXT_LAYER_COUNT" val="1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4_1*l_h_i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73828125,&quot;top&quot;:166.38579406738282,&quot;width&quot;:818.24365234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4_1*l_h_i*1_2_2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73828125,&quot;top&quot;:166.38579406738282,&quot;width&quot;:818.24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4_1*l_h_i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73828125,&quot;top&quot;:166.38579406738282,&quot;width&quot;:818.24365234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4_1*l_h_a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73828125,&quot;top&quot;:166.38579406738282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4_1*l_h_a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73828125,&quot;top&quot;:166.38579406738282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TYPE" val="1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3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5,6,5,6,5,6]}"/>
</p:tagLst>
</file>

<file path=ppt/tags/tag1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3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5,6,5,6,5,6]}"/>
</p:tagLst>
</file>

<file path=ppt/tags/tag1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3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5,6,5,6,5,6]}"/>
</p:tagLst>
</file>

<file path=ppt/tags/tag1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3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5,6,5,6,5,6]}"/>
</p:tagLst>
</file>

<file path=ppt/tags/tag1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3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67_3*l_h_f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5,6,5,6,5,6]}"/>
</p:tagLst>
</file>

<file path=ppt/tags/tag1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67_3*l_h_a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5,6,5,6,5,6]}"/>
</p:tagLst>
</file>

<file path=ppt/tags/tag16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7_3*l_h_i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967_3*l_h_f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5,6,5,6,5,6]}"/>
</p:tagLst>
</file>

<file path=ppt/tags/tag17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967_3*l_h_a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5,6,5,6,5,6]}"/>
</p:tagLst>
</file>

<file path=ppt/tags/tag17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1967_3*l_h_i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left&quot;:89.894287109375,&quot;top&quot;:142.584326171875,&quot;width&quot;:780.25571289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3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color_type&quot;:1,&quot;theme_color_indexes&quot;:[5,6,5,6,5,6]}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4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3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color_type&quot;:1,&quot;theme_color_indexes&quot;:[5,6,5,6,5,6]}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4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3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color_type&quot;:1,&quot;theme_color_indexes&quot;:[5,6,5,6,5,6]}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4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76_2*l_h_a*1_1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76_2*l_h_f*1_1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输入(你的)智能图形项正文，文字是您思想的提炼，请尽量言简意赅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76_2*l_h_a*1_2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76_2*l_h_f*1_2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输入(你的)正文，文字是您思想的提炼，请尽量言简意赅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76_2*l_h_a*1_3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76_2*l_h_f*1_3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输入(你的)智能图形项正文，文字是您思想的提炼，请尽量言简意赅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2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color_type&quot;:1,&quot;theme_color_indexes&quot;:[5,6,5,6,5,6]}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2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color_type&quot;:1,&quot;theme_color_indexes&quot;:[5,6,5,6,5,6]}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2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MAX_ITEMCNT" val="6"/>
  <p:tag name="KSO_WM_DIAGRAM_MIN_ITEMCNT" val="2"/>
  <p:tag name="KSO_WM_DIAGRAM_VIRTUALLY_FRAME" val="{&quot;height&quot;:387.25003937007875,&quot;left&quot;:54.375,&quot;top&quot;:135.025,&quot;width&quot;:851.250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color_type&quot;:1,&quot;theme_color_indexes&quot;:[5,6,5,6,5,6]}"/>
</p:tagLst>
</file>

<file path=ppt/tags/tag190.xml><?xml version="1.0" encoding="utf-8"?>
<p:tagLst xmlns:p="http://schemas.openxmlformats.org/presentationml/2006/main">
  <p:tag name="resource_record_key" val="{&quot;29&quot;:[50000031],&quot;70&quot;:[3403268,3322235,3321778,3312419,3322227,3321420,3321442,332150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1eyvzsk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3483</Words>
  <Application>WPS 演示</Application>
  <PresentationFormat>宽屏</PresentationFormat>
  <Paragraphs>459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DIN-BlackItalic</vt:lpstr>
      <vt:lpstr>Segoe Print</vt:lpstr>
      <vt:lpstr>Calibri Light</vt:lpstr>
      <vt:lpstr>微软雅黑 Light</vt:lpstr>
      <vt:lpstr>汉仪中宋S</vt:lpstr>
      <vt:lpstr>Wingdings</vt:lpstr>
      <vt:lpstr>华文细黑</vt:lpstr>
      <vt:lpstr>Calibri</vt:lpstr>
      <vt:lpstr>OPPOSans R</vt:lpstr>
      <vt:lpstr>OPPOSans M</vt:lpstr>
      <vt:lpstr>Segoe UI</vt:lpstr>
      <vt:lpstr>Arial Unicode MS</vt:lpstr>
      <vt:lpstr>华文楷体</vt:lpstr>
      <vt:lpstr>楷体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Sheng xia</dc:creator>
  <cp:lastModifiedBy>21371480 吴志文</cp:lastModifiedBy>
  <cp:revision>36</cp:revision>
  <dcterms:created xsi:type="dcterms:W3CDTF">2020-11-18T12:01:00Z</dcterms:created>
  <dcterms:modified xsi:type="dcterms:W3CDTF">2025-04-07T12:58:37Z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TemplateUUID">
    <vt:lpwstr>v1.0_mb_nExWx4yflLJo75D2YYg1Fg==</vt:lpwstr>
  </property>
  <property fmtid="{D5CDD505-2E9C-101B-9397-08002B2CF9AE}" pid="4" name="ICV">
    <vt:lpwstr>E0AE3E41F57946F69065FF8527F1ACF3_11</vt:lpwstr>
  </property>
</Properties>
</file>